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265" r:id="rId2"/>
    <p:sldId id="261" r:id="rId3"/>
    <p:sldId id="258" r:id="rId4"/>
    <p:sldId id="267" r:id="rId5"/>
    <p:sldId id="286" r:id="rId6"/>
    <p:sldId id="284" r:id="rId7"/>
    <p:sldId id="287" r:id="rId8"/>
    <p:sldId id="285" r:id="rId9"/>
    <p:sldId id="272" r:id="rId10"/>
    <p:sldId id="268" r:id="rId11"/>
    <p:sldId id="288" r:id="rId12"/>
    <p:sldId id="271" r:id="rId13"/>
    <p:sldId id="289" r:id="rId14"/>
    <p:sldId id="294" r:id="rId15"/>
    <p:sldId id="274" r:id="rId16"/>
    <p:sldId id="290" r:id="rId17"/>
    <p:sldId id="291" r:id="rId18"/>
    <p:sldId id="273" r:id="rId19"/>
    <p:sldId id="292" r:id="rId20"/>
    <p:sldId id="279" r:id="rId21"/>
    <p:sldId id="278" r:id="rId22"/>
    <p:sldId id="277" r:id="rId23"/>
    <p:sldId id="280" r:id="rId24"/>
    <p:sldId id="281" r:id="rId25"/>
    <p:sldId id="282" r:id="rId26"/>
    <p:sldId id="283" r:id="rId27"/>
    <p:sldId id="275" r:id="rId28"/>
    <p:sldId id="276" r:id="rId29"/>
  </p:sldIdLst>
  <p:sldSz cx="18288000" cy="10287000"/>
  <p:notesSz cx="6858000" cy="9144000"/>
  <p:embeddedFontLst>
    <p:embeddedFont>
      <p:font typeface="Cambria Math" panose="02040503050406030204" pitchFamily="18" charset="0"/>
      <p:regular r:id="rId31"/>
    </p:embeddedFont>
    <p:embeddedFont>
      <p:font typeface="Open Sauce" panose="02020500000000000000" charset="0"/>
      <p:regular r:id="rId32"/>
    </p:embeddedFont>
    <p:embeddedFont>
      <p:font typeface="標楷體" panose="03000509000000000000" pitchFamily="65" charset="-12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1F1"/>
    <a:srgbClr val="A89F8E"/>
    <a:srgbClr val="F8F7F6"/>
    <a:srgbClr val="695C4A"/>
    <a:srgbClr val="8275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0788" autoAdjust="0"/>
  </p:normalViewPr>
  <p:slideViewPr>
    <p:cSldViewPr>
      <p:cViewPr varScale="1">
        <p:scale>
          <a:sx n="66" d="100"/>
          <a:sy n="66" d="100"/>
        </p:scale>
        <p:origin x="318" y="54"/>
      </p:cViewPr>
      <p:guideLst>
        <p:guide orient="horz" pos="2184"/>
        <p:guide pos="2880"/>
      </p:guideLst>
    </p:cSldViewPr>
  </p:slideViewPr>
  <p:outlineViewPr>
    <p:cViewPr>
      <p:scale>
        <a:sx n="33" d="100"/>
        <a:sy n="33" d="100"/>
      </p:scale>
      <p:origin x="0" y="0"/>
    </p:cViewPr>
  </p:outlin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C25F9C-7B7C-4217-9C01-4D6758907B50}" type="datetimeFigureOut">
              <a:rPr lang="zh-TW" altLang="en-US" smtClean="0"/>
              <a:t>2026/5/13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CE7322-E74C-4C41-BD1B-C39ABB244114}" type="slidenum">
              <a:rPr lang="zh-TW" altLang="en-US" smtClean="0"/>
              <a:t>‹#›</a:t>
            </a:fld>
            <a:endParaRPr lang="zh-TW" altLang="en-US"/>
          </a:p>
        </p:txBody>
      </p:sp>
    </p:spTree>
    <p:extLst>
      <p:ext uri="{BB962C8B-B14F-4D97-AF65-F5344CB8AC3E}">
        <p14:creationId xmlns:p14="http://schemas.microsoft.com/office/powerpoint/2010/main" val="2148586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1</a:t>
            </a:fld>
            <a:endParaRPr lang="zh-TW" altLang="en-US"/>
          </a:p>
        </p:txBody>
      </p:sp>
    </p:spTree>
    <p:extLst>
      <p:ext uri="{BB962C8B-B14F-4D97-AF65-F5344CB8AC3E}">
        <p14:creationId xmlns:p14="http://schemas.microsoft.com/office/powerpoint/2010/main" val="3513621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2</a:t>
            </a:fld>
            <a:endParaRPr lang="zh-TW" altLang="en-US"/>
          </a:p>
        </p:txBody>
      </p:sp>
    </p:spTree>
    <p:extLst>
      <p:ext uri="{BB962C8B-B14F-4D97-AF65-F5344CB8AC3E}">
        <p14:creationId xmlns:p14="http://schemas.microsoft.com/office/powerpoint/2010/main" val="1169380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3</a:t>
            </a:fld>
            <a:endParaRPr lang="zh-TW" altLang="en-US"/>
          </a:p>
        </p:txBody>
      </p:sp>
    </p:spTree>
    <p:extLst>
      <p:ext uri="{BB962C8B-B14F-4D97-AF65-F5344CB8AC3E}">
        <p14:creationId xmlns:p14="http://schemas.microsoft.com/office/powerpoint/2010/main" val="1209187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4</a:t>
            </a:fld>
            <a:endParaRPr lang="zh-TW" altLang="en-US"/>
          </a:p>
        </p:txBody>
      </p:sp>
    </p:spTree>
    <p:extLst>
      <p:ext uri="{BB962C8B-B14F-4D97-AF65-F5344CB8AC3E}">
        <p14:creationId xmlns:p14="http://schemas.microsoft.com/office/powerpoint/2010/main" val="1693315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22FC1-1892-B698-5DCD-4414A683ED3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B1DAA35-0FD4-B4B0-60B8-B4D3DBA4484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2D5B3CE-918F-E806-624A-1BB959BAFBE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A7245760-3D99-F765-5BC9-7ED44711E494}"/>
              </a:ext>
            </a:extLst>
          </p:cNvPr>
          <p:cNvSpPr>
            <a:spLocks noGrp="1"/>
          </p:cNvSpPr>
          <p:nvPr>
            <p:ph type="sldNum" sz="quarter" idx="5"/>
          </p:nvPr>
        </p:nvSpPr>
        <p:spPr/>
        <p:txBody>
          <a:bodyPr/>
          <a:lstStyle/>
          <a:p>
            <a:fld id="{2DCE7322-E74C-4C41-BD1B-C39ABB244114}" type="slidenum">
              <a:rPr lang="zh-TW" altLang="en-US" smtClean="0"/>
              <a:t>5</a:t>
            </a:fld>
            <a:endParaRPr lang="zh-TW" altLang="en-US"/>
          </a:p>
        </p:txBody>
      </p:sp>
    </p:spTree>
    <p:extLst>
      <p:ext uri="{BB962C8B-B14F-4D97-AF65-F5344CB8AC3E}">
        <p14:creationId xmlns:p14="http://schemas.microsoft.com/office/powerpoint/2010/main" val="2179672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6</a:t>
            </a:fld>
            <a:endParaRPr lang="zh-TW" altLang="en-US"/>
          </a:p>
        </p:txBody>
      </p:sp>
    </p:spTree>
    <p:extLst>
      <p:ext uri="{BB962C8B-B14F-4D97-AF65-F5344CB8AC3E}">
        <p14:creationId xmlns:p14="http://schemas.microsoft.com/office/powerpoint/2010/main" val="1310708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7</a:t>
            </a:fld>
            <a:endParaRPr lang="zh-TW" altLang="en-US"/>
          </a:p>
        </p:txBody>
      </p:sp>
    </p:spTree>
    <p:extLst>
      <p:ext uri="{BB962C8B-B14F-4D97-AF65-F5344CB8AC3E}">
        <p14:creationId xmlns:p14="http://schemas.microsoft.com/office/powerpoint/2010/main" val="1700244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8</a:t>
            </a:fld>
            <a:endParaRPr lang="zh-TW" altLang="en-US"/>
          </a:p>
        </p:txBody>
      </p:sp>
    </p:spTree>
    <p:extLst>
      <p:ext uri="{BB962C8B-B14F-4D97-AF65-F5344CB8AC3E}">
        <p14:creationId xmlns:p14="http://schemas.microsoft.com/office/powerpoint/2010/main" val="2065852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9</a:t>
            </a:fld>
            <a:endParaRPr lang="zh-TW" altLang="en-US"/>
          </a:p>
        </p:txBody>
      </p:sp>
    </p:spTree>
    <p:extLst>
      <p:ext uri="{BB962C8B-B14F-4D97-AF65-F5344CB8AC3E}">
        <p14:creationId xmlns:p14="http://schemas.microsoft.com/office/powerpoint/2010/main" val="2980569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228600" indent="-228600">
              <a:buAutoNum type="arabicPeriod"/>
            </a:pPr>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10</a:t>
            </a:fld>
            <a:endParaRPr lang="zh-TW" altLang="en-US"/>
          </a:p>
        </p:txBody>
      </p:sp>
    </p:spTree>
    <p:extLst>
      <p:ext uri="{BB962C8B-B14F-4D97-AF65-F5344CB8AC3E}">
        <p14:creationId xmlns:p14="http://schemas.microsoft.com/office/powerpoint/2010/main" val="2171440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11</a:t>
            </a:fld>
            <a:endParaRPr lang="zh-TW" altLang="en-US"/>
          </a:p>
        </p:txBody>
      </p:sp>
    </p:spTree>
    <p:extLst>
      <p:ext uri="{BB962C8B-B14F-4D97-AF65-F5344CB8AC3E}">
        <p14:creationId xmlns:p14="http://schemas.microsoft.com/office/powerpoint/2010/main" val="22781218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514350" lvl="0" indent="-514350">
              <a:lnSpc>
                <a:spcPct val="150000"/>
              </a:lnSpc>
              <a:buFont typeface="+mj-lt"/>
              <a:buAutoNum type="arabicPeriod"/>
            </a:pPr>
            <a:endParaRPr lang="en-US" altLang="zh-TW" sz="1200" dirty="0">
              <a:solidFill>
                <a:srgbClr val="695C4A"/>
              </a:solidFill>
              <a:latin typeface="Times New Roman" panose="02020603050405020304" pitchFamily="18" charset="0"/>
              <a:ea typeface="Livvic"/>
              <a:cs typeface="Times New Roman" panose="02020603050405020304" pitchFamily="18" charset="0"/>
              <a:sym typeface="Livvic"/>
            </a:endParaRPr>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12</a:t>
            </a:fld>
            <a:endParaRPr lang="zh-TW" altLang="en-US"/>
          </a:p>
        </p:txBody>
      </p:sp>
    </p:spTree>
    <p:extLst>
      <p:ext uri="{BB962C8B-B14F-4D97-AF65-F5344CB8AC3E}">
        <p14:creationId xmlns:p14="http://schemas.microsoft.com/office/powerpoint/2010/main" val="2490252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8620F-FAB7-9259-B81B-A17E296C9BC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E20A24B-60F3-59AA-069B-79E91509A1A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8D71BE1-3317-C9FD-142D-8E188EBE2017}"/>
              </a:ext>
            </a:extLst>
          </p:cNvPr>
          <p:cNvSpPr>
            <a:spLocks noGrp="1"/>
          </p:cNvSpPr>
          <p:nvPr>
            <p:ph type="body" idx="1"/>
          </p:nvPr>
        </p:nvSpPr>
        <p:spPr/>
        <p:txBody>
          <a:bodyPr/>
          <a:lstStyle/>
          <a:p>
            <a:pPr marL="0" lvl="0" indent="0">
              <a:lnSpc>
                <a:spcPct val="150000"/>
              </a:lnSpc>
              <a:buFont typeface="+mj-lt"/>
              <a:buNone/>
            </a:pPr>
            <a:endParaRPr lang="en-US" altLang="zh-TW" sz="1200" dirty="0">
              <a:solidFill>
                <a:srgbClr val="695C4A"/>
              </a:solidFill>
              <a:latin typeface="Times New Roman" panose="02020603050405020304" pitchFamily="18" charset="0"/>
              <a:ea typeface="Livvic"/>
              <a:cs typeface="Times New Roman" panose="02020603050405020304" pitchFamily="18" charset="0"/>
              <a:sym typeface="Livvic"/>
            </a:endParaRPr>
          </a:p>
        </p:txBody>
      </p:sp>
      <p:sp>
        <p:nvSpPr>
          <p:cNvPr id="4" name="投影片編號版面配置區 3">
            <a:extLst>
              <a:ext uri="{FF2B5EF4-FFF2-40B4-BE49-F238E27FC236}">
                <a16:creationId xmlns:a16="http://schemas.microsoft.com/office/drawing/2014/main" id="{CC01A6B0-C928-5446-BB93-5C761BB5CB9F}"/>
              </a:ext>
            </a:extLst>
          </p:cNvPr>
          <p:cNvSpPr>
            <a:spLocks noGrp="1"/>
          </p:cNvSpPr>
          <p:nvPr>
            <p:ph type="sldNum" sz="quarter" idx="5"/>
          </p:nvPr>
        </p:nvSpPr>
        <p:spPr/>
        <p:txBody>
          <a:bodyPr/>
          <a:lstStyle/>
          <a:p>
            <a:fld id="{2DCE7322-E74C-4C41-BD1B-C39ABB244114}" type="slidenum">
              <a:rPr lang="zh-TW" altLang="en-US" smtClean="0"/>
              <a:t>13</a:t>
            </a:fld>
            <a:endParaRPr lang="zh-TW" altLang="en-US"/>
          </a:p>
        </p:txBody>
      </p:sp>
    </p:spTree>
    <p:extLst>
      <p:ext uri="{BB962C8B-B14F-4D97-AF65-F5344CB8AC3E}">
        <p14:creationId xmlns:p14="http://schemas.microsoft.com/office/powerpoint/2010/main" val="3945194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27E6D-C560-EE30-F423-58C28562D07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51B41D9-6EA6-FC76-434C-FC46D0441FB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15F1793-584E-4BD2-BE69-58241CFFBB29}"/>
              </a:ext>
            </a:extLst>
          </p:cNvPr>
          <p:cNvSpPr>
            <a:spLocks noGrp="1"/>
          </p:cNvSpPr>
          <p:nvPr>
            <p:ph type="body" idx="1"/>
          </p:nvPr>
        </p:nvSpPr>
        <p:spPr/>
        <p:txBody>
          <a:bodyPr/>
          <a:lstStyle/>
          <a:p>
            <a:pPr marL="0" lvl="0" indent="0">
              <a:lnSpc>
                <a:spcPct val="150000"/>
              </a:lnSpc>
              <a:buFont typeface="+mj-lt"/>
              <a:buNone/>
            </a:pPr>
            <a:endParaRPr lang="en-US" altLang="zh-TW" sz="1200" dirty="0">
              <a:solidFill>
                <a:srgbClr val="695C4A"/>
              </a:solidFill>
              <a:latin typeface="Times New Roman" panose="02020603050405020304" pitchFamily="18" charset="0"/>
              <a:ea typeface="Livvic"/>
              <a:cs typeface="Times New Roman" panose="02020603050405020304" pitchFamily="18" charset="0"/>
              <a:sym typeface="Livvic"/>
            </a:endParaRPr>
          </a:p>
        </p:txBody>
      </p:sp>
      <p:sp>
        <p:nvSpPr>
          <p:cNvPr id="4" name="投影片編號版面配置區 3">
            <a:extLst>
              <a:ext uri="{FF2B5EF4-FFF2-40B4-BE49-F238E27FC236}">
                <a16:creationId xmlns:a16="http://schemas.microsoft.com/office/drawing/2014/main" id="{0EE7CAF3-3E4F-A35E-3BCB-8D9C220D85E7}"/>
              </a:ext>
            </a:extLst>
          </p:cNvPr>
          <p:cNvSpPr>
            <a:spLocks noGrp="1"/>
          </p:cNvSpPr>
          <p:nvPr>
            <p:ph type="sldNum" sz="quarter" idx="5"/>
          </p:nvPr>
        </p:nvSpPr>
        <p:spPr/>
        <p:txBody>
          <a:bodyPr/>
          <a:lstStyle/>
          <a:p>
            <a:fld id="{2DCE7322-E74C-4C41-BD1B-C39ABB244114}" type="slidenum">
              <a:rPr lang="zh-TW" altLang="en-US" smtClean="0"/>
              <a:t>14</a:t>
            </a:fld>
            <a:endParaRPr lang="zh-TW" altLang="en-US"/>
          </a:p>
        </p:txBody>
      </p:sp>
    </p:spTree>
    <p:extLst>
      <p:ext uri="{BB962C8B-B14F-4D97-AF65-F5344CB8AC3E}">
        <p14:creationId xmlns:p14="http://schemas.microsoft.com/office/powerpoint/2010/main" val="9558867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15</a:t>
            </a:fld>
            <a:endParaRPr lang="zh-TW" altLang="en-US"/>
          </a:p>
        </p:txBody>
      </p:sp>
    </p:spTree>
    <p:extLst>
      <p:ext uri="{BB962C8B-B14F-4D97-AF65-F5344CB8AC3E}">
        <p14:creationId xmlns:p14="http://schemas.microsoft.com/office/powerpoint/2010/main" val="1167795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D5AB2-C35F-478B-C68B-BA22612A26A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226038C-E0E3-EEB0-9A0D-4ED1D596FC4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6D3A504-6AA1-D182-E3BC-9F15E9E581DF}"/>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1D1F9A5C-4AA8-BA77-5305-3644C981FA63}"/>
              </a:ext>
            </a:extLst>
          </p:cNvPr>
          <p:cNvSpPr>
            <a:spLocks noGrp="1"/>
          </p:cNvSpPr>
          <p:nvPr>
            <p:ph type="sldNum" sz="quarter" idx="5"/>
          </p:nvPr>
        </p:nvSpPr>
        <p:spPr/>
        <p:txBody>
          <a:bodyPr/>
          <a:lstStyle/>
          <a:p>
            <a:fld id="{2DCE7322-E74C-4C41-BD1B-C39ABB244114}" type="slidenum">
              <a:rPr lang="zh-TW" altLang="en-US" smtClean="0"/>
              <a:t>16</a:t>
            </a:fld>
            <a:endParaRPr lang="zh-TW" altLang="en-US"/>
          </a:p>
        </p:txBody>
      </p:sp>
    </p:spTree>
    <p:extLst>
      <p:ext uri="{BB962C8B-B14F-4D97-AF65-F5344CB8AC3E}">
        <p14:creationId xmlns:p14="http://schemas.microsoft.com/office/powerpoint/2010/main" val="14631606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15A65-07BA-29D9-437B-370A4F9FC5E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AE3F989-F8EE-356A-3A37-A26F1E72BD8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9AAEDDC-A9B9-949C-AE0E-1911872FFF3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6CC806A0-47B0-222D-83FE-C0413A209AFB}"/>
              </a:ext>
            </a:extLst>
          </p:cNvPr>
          <p:cNvSpPr>
            <a:spLocks noGrp="1"/>
          </p:cNvSpPr>
          <p:nvPr>
            <p:ph type="sldNum" sz="quarter" idx="5"/>
          </p:nvPr>
        </p:nvSpPr>
        <p:spPr/>
        <p:txBody>
          <a:bodyPr/>
          <a:lstStyle/>
          <a:p>
            <a:fld id="{2DCE7322-E74C-4C41-BD1B-C39ABB244114}" type="slidenum">
              <a:rPr lang="zh-TW" altLang="en-US" smtClean="0"/>
              <a:t>17</a:t>
            </a:fld>
            <a:endParaRPr lang="zh-TW" altLang="en-US"/>
          </a:p>
        </p:txBody>
      </p:sp>
    </p:spTree>
    <p:extLst>
      <p:ext uri="{BB962C8B-B14F-4D97-AF65-F5344CB8AC3E}">
        <p14:creationId xmlns:p14="http://schemas.microsoft.com/office/powerpoint/2010/main" val="12056797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18</a:t>
            </a:fld>
            <a:endParaRPr lang="zh-TW" altLang="en-US"/>
          </a:p>
        </p:txBody>
      </p:sp>
    </p:spTree>
    <p:extLst>
      <p:ext uri="{BB962C8B-B14F-4D97-AF65-F5344CB8AC3E}">
        <p14:creationId xmlns:p14="http://schemas.microsoft.com/office/powerpoint/2010/main" val="32472009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E3EC3-53E1-1777-E3E7-5A1CA57FFA7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7D216E0-36F8-250F-AD96-23B3961E3CB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4693A0A-B14D-33F3-9AB0-8DC94E858815}"/>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3483BAC4-EC6C-4817-DC85-1D30827D59D0}"/>
              </a:ext>
            </a:extLst>
          </p:cNvPr>
          <p:cNvSpPr>
            <a:spLocks noGrp="1"/>
          </p:cNvSpPr>
          <p:nvPr>
            <p:ph type="sldNum" sz="quarter" idx="5"/>
          </p:nvPr>
        </p:nvSpPr>
        <p:spPr/>
        <p:txBody>
          <a:bodyPr/>
          <a:lstStyle/>
          <a:p>
            <a:fld id="{2DCE7322-E74C-4C41-BD1B-C39ABB244114}" type="slidenum">
              <a:rPr lang="zh-TW" altLang="en-US" smtClean="0"/>
              <a:t>19</a:t>
            </a:fld>
            <a:endParaRPr lang="zh-TW" altLang="en-US"/>
          </a:p>
        </p:txBody>
      </p:sp>
    </p:spTree>
    <p:extLst>
      <p:ext uri="{BB962C8B-B14F-4D97-AF65-F5344CB8AC3E}">
        <p14:creationId xmlns:p14="http://schemas.microsoft.com/office/powerpoint/2010/main" val="9013923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20</a:t>
            </a:fld>
            <a:endParaRPr lang="zh-TW" altLang="en-US"/>
          </a:p>
        </p:txBody>
      </p:sp>
    </p:spTree>
    <p:extLst>
      <p:ext uri="{BB962C8B-B14F-4D97-AF65-F5344CB8AC3E}">
        <p14:creationId xmlns:p14="http://schemas.microsoft.com/office/powerpoint/2010/main" val="36001792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22</a:t>
            </a:fld>
            <a:endParaRPr lang="zh-TW" altLang="en-US"/>
          </a:p>
        </p:txBody>
      </p:sp>
    </p:spTree>
    <p:extLst>
      <p:ext uri="{BB962C8B-B14F-4D97-AF65-F5344CB8AC3E}">
        <p14:creationId xmlns:p14="http://schemas.microsoft.com/office/powerpoint/2010/main" val="16542907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23</a:t>
            </a:fld>
            <a:endParaRPr lang="zh-TW" altLang="en-US"/>
          </a:p>
        </p:txBody>
      </p:sp>
    </p:spTree>
    <p:extLst>
      <p:ext uri="{BB962C8B-B14F-4D97-AF65-F5344CB8AC3E}">
        <p14:creationId xmlns:p14="http://schemas.microsoft.com/office/powerpoint/2010/main" val="9155646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24</a:t>
            </a:fld>
            <a:endParaRPr lang="zh-TW" altLang="en-US"/>
          </a:p>
        </p:txBody>
      </p:sp>
    </p:spTree>
    <p:extLst>
      <p:ext uri="{BB962C8B-B14F-4D97-AF65-F5344CB8AC3E}">
        <p14:creationId xmlns:p14="http://schemas.microsoft.com/office/powerpoint/2010/main" val="15589603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25</a:t>
            </a:fld>
            <a:endParaRPr lang="zh-TW" altLang="en-US"/>
          </a:p>
        </p:txBody>
      </p:sp>
    </p:spTree>
    <p:extLst>
      <p:ext uri="{BB962C8B-B14F-4D97-AF65-F5344CB8AC3E}">
        <p14:creationId xmlns:p14="http://schemas.microsoft.com/office/powerpoint/2010/main" val="9525002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26</a:t>
            </a:fld>
            <a:endParaRPr lang="zh-TW" altLang="en-US"/>
          </a:p>
        </p:txBody>
      </p:sp>
    </p:spTree>
    <p:extLst>
      <p:ext uri="{BB962C8B-B14F-4D97-AF65-F5344CB8AC3E}">
        <p14:creationId xmlns:p14="http://schemas.microsoft.com/office/powerpoint/2010/main" val="37234237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DCE7322-E74C-4C41-BD1B-C39ABB244114}" type="slidenum">
              <a:rPr lang="zh-TW" altLang="en-US" smtClean="0"/>
              <a:t>27</a:t>
            </a:fld>
            <a:endParaRPr lang="zh-TW" altLang="en-US"/>
          </a:p>
        </p:txBody>
      </p:sp>
    </p:spTree>
    <p:extLst>
      <p:ext uri="{BB962C8B-B14F-4D97-AF65-F5344CB8AC3E}">
        <p14:creationId xmlns:p14="http://schemas.microsoft.com/office/powerpoint/2010/main" val="1795298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4.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2.sv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sv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2.svg"/></Relationships>
</file>

<file path=ppt/slides/_rels/slide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2.svg"/></Relationships>
</file>

<file path=ppt/slides/_rels/slide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2.svg"/></Relationships>
</file>

<file path=ppt/slides/_rels/slide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2.svg"/></Relationships>
</file>

<file path=ppt/slides/_rels/slide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2.svg"/></Relationships>
</file>

<file path=ppt/slides/_rels/slide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svg"/></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H="1">
            <a:off x="0" y="9118283"/>
            <a:ext cx="123344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3" name="AutoShape 3"/>
          <p:cNvSpPr/>
          <p:nvPr/>
        </p:nvSpPr>
        <p:spPr>
          <a:xfrm flipH="1">
            <a:off x="6074299" y="1187768"/>
            <a:ext cx="12213701"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4" name="AutoShape 4"/>
          <p:cNvSpPr/>
          <p:nvPr/>
        </p:nvSpPr>
        <p:spPr>
          <a:xfrm>
            <a:off x="1260422" y="5588875"/>
            <a:ext cx="0" cy="4698125"/>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5" name="AutoShape 5"/>
          <p:cNvSpPr/>
          <p:nvPr/>
        </p:nvSpPr>
        <p:spPr>
          <a:xfrm>
            <a:off x="17027578" y="0"/>
            <a:ext cx="0" cy="4698125"/>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9" name="Freeform 9"/>
          <p:cNvSpPr/>
          <p:nvPr/>
        </p:nvSpPr>
        <p:spPr>
          <a:xfrm rot="-8100000">
            <a:off x="13331211" y="6211875"/>
            <a:ext cx="14359719" cy="12767096"/>
          </a:xfrm>
          <a:custGeom>
            <a:avLst/>
            <a:gdLst/>
            <a:ahLst/>
            <a:cxnLst/>
            <a:rect l="l" t="t" r="r" b="b"/>
            <a:pathLst>
              <a:path w="14359719" h="12767096">
                <a:moveTo>
                  <a:pt x="0" y="0"/>
                </a:moveTo>
                <a:lnTo>
                  <a:pt x="14359719" y="0"/>
                </a:lnTo>
                <a:lnTo>
                  <a:pt x="14359719" y="12767096"/>
                </a:lnTo>
                <a:lnTo>
                  <a:pt x="0" y="12767096"/>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0" name="Freeform 10"/>
          <p:cNvSpPr/>
          <p:nvPr/>
        </p:nvSpPr>
        <p:spPr>
          <a:xfrm rot="-8100000" flipH="1" flipV="1">
            <a:off x="-9402930" y="-8691971"/>
            <a:ext cx="14359719" cy="12767096"/>
          </a:xfrm>
          <a:custGeom>
            <a:avLst/>
            <a:gdLst/>
            <a:ahLst/>
            <a:cxnLst/>
            <a:rect l="l" t="t" r="r" b="b"/>
            <a:pathLst>
              <a:path w="14359719" h="12767096">
                <a:moveTo>
                  <a:pt x="14359719" y="12767096"/>
                </a:moveTo>
                <a:lnTo>
                  <a:pt x="0" y="12767096"/>
                </a:lnTo>
                <a:lnTo>
                  <a:pt x="0" y="0"/>
                </a:lnTo>
                <a:lnTo>
                  <a:pt x="14359719" y="0"/>
                </a:lnTo>
                <a:lnTo>
                  <a:pt x="14359719" y="12767096"/>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1" name="Freeform 11"/>
          <p:cNvSpPr/>
          <p:nvPr/>
        </p:nvSpPr>
        <p:spPr>
          <a:xfrm>
            <a:off x="989462" y="8847323"/>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2" name="Freeform 12"/>
          <p:cNvSpPr/>
          <p:nvPr/>
        </p:nvSpPr>
        <p:spPr>
          <a:xfrm>
            <a:off x="16756618" y="916808"/>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pSp>
        <p:nvGrpSpPr>
          <p:cNvPr id="13" name="Group 4">
            <a:extLst>
              <a:ext uri="{FF2B5EF4-FFF2-40B4-BE49-F238E27FC236}">
                <a16:creationId xmlns:a16="http://schemas.microsoft.com/office/drawing/2014/main" id="{2EC59F22-C657-F52D-F7BD-F487EEAC414F}"/>
              </a:ext>
            </a:extLst>
          </p:cNvPr>
          <p:cNvGrpSpPr/>
          <p:nvPr/>
        </p:nvGrpSpPr>
        <p:grpSpPr>
          <a:xfrm>
            <a:off x="5717942" y="6571272"/>
            <a:ext cx="6852115" cy="823383"/>
            <a:chOff x="0" y="0"/>
            <a:chExt cx="1804672" cy="216858"/>
          </a:xfrm>
        </p:grpSpPr>
        <p:sp>
          <p:nvSpPr>
            <p:cNvPr id="14" name="Freeform 5">
              <a:extLst>
                <a:ext uri="{FF2B5EF4-FFF2-40B4-BE49-F238E27FC236}">
                  <a16:creationId xmlns:a16="http://schemas.microsoft.com/office/drawing/2014/main" id="{09AF8DC8-F9B3-9604-311A-0B84C0D0BAC3}"/>
                </a:ext>
              </a:extLst>
            </p:cNvPr>
            <p:cNvSpPr/>
            <p:nvPr/>
          </p:nvSpPr>
          <p:spPr>
            <a:xfrm>
              <a:off x="0" y="0"/>
              <a:ext cx="1804672" cy="216858"/>
            </a:xfrm>
            <a:custGeom>
              <a:avLst/>
              <a:gdLst/>
              <a:ahLst/>
              <a:cxnLst/>
              <a:rect l="l" t="t" r="r" b="b"/>
              <a:pathLst>
                <a:path w="1804672" h="216858">
                  <a:moveTo>
                    <a:pt x="108429" y="0"/>
                  </a:moveTo>
                  <a:lnTo>
                    <a:pt x="1696243" y="0"/>
                  </a:lnTo>
                  <a:cubicBezTo>
                    <a:pt x="1756127" y="0"/>
                    <a:pt x="1804672" y="48545"/>
                    <a:pt x="1804672" y="108429"/>
                  </a:cubicBezTo>
                  <a:lnTo>
                    <a:pt x="1804672" y="108429"/>
                  </a:lnTo>
                  <a:cubicBezTo>
                    <a:pt x="1804672" y="137186"/>
                    <a:pt x="1793248" y="164766"/>
                    <a:pt x="1772914" y="185100"/>
                  </a:cubicBezTo>
                  <a:cubicBezTo>
                    <a:pt x="1752580" y="205434"/>
                    <a:pt x="1725000" y="216858"/>
                    <a:pt x="1696243" y="216858"/>
                  </a:cubicBezTo>
                  <a:lnTo>
                    <a:pt x="108429" y="216858"/>
                  </a:lnTo>
                  <a:cubicBezTo>
                    <a:pt x="48545" y="216858"/>
                    <a:pt x="0" y="168313"/>
                    <a:pt x="0" y="108429"/>
                  </a:cubicBezTo>
                  <a:lnTo>
                    <a:pt x="0" y="108429"/>
                  </a:lnTo>
                  <a:cubicBezTo>
                    <a:pt x="0" y="48545"/>
                    <a:pt x="48545" y="0"/>
                    <a:pt x="108429" y="0"/>
                  </a:cubicBezTo>
                  <a:close/>
                </a:path>
              </a:pathLst>
            </a:custGeom>
            <a:solidFill>
              <a:srgbClr val="000000">
                <a:alpha val="0"/>
              </a:srgbClr>
            </a:solidFill>
            <a:ln w="19050" cap="rnd">
              <a:solidFill>
                <a:srgbClr val="695C4A"/>
              </a:solidFill>
              <a:prstDash val="solid"/>
              <a:round/>
            </a:ln>
          </p:spPr>
          <p:txBody>
            <a:bodyPr/>
            <a:lstStyle/>
            <a:p>
              <a:endParaRPr lang="zh-TW" altLang="en-US"/>
            </a:p>
          </p:txBody>
        </p:sp>
        <p:sp>
          <p:nvSpPr>
            <p:cNvPr id="15" name="TextBox 6">
              <a:extLst>
                <a:ext uri="{FF2B5EF4-FFF2-40B4-BE49-F238E27FC236}">
                  <a16:creationId xmlns:a16="http://schemas.microsoft.com/office/drawing/2014/main" id="{B71C3DFA-6962-553D-D19C-192FCD16EDA1}"/>
                </a:ext>
              </a:extLst>
            </p:cNvPr>
            <p:cNvSpPr txBox="1"/>
            <p:nvPr/>
          </p:nvSpPr>
          <p:spPr>
            <a:xfrm>
              <a:off x="0" y="-47625"/>
              <a:ext cx="1804672" cy="264483"/>
            </a:xfrm>
            <a:prstGeom prst="rect">
              <a:avLst/>
            </a:prstGeom>
          </p:spPr>
          <p:txBody>
            <a:bodyPr lIns="50800" tIns="50800" rIns="50800" bIns="50800" rtlCol="0" anchor="ctr"/>
            <a:lstStyle/>
            <a:p>
              <a:pPr algn="ctr">
                <a:lnSpc>
                  <a:spcPts val="2940"/>
                </a:lnSpc>
              </a:pPr>
              <a:endParaRPr/>
            </a:p>
          </p:txBody>
        </p:sp>
      </p:grpSp>
      <p:sp>
        <p:nvSpPr>
          <p:cNvPr id="16" name="TextBox 11">
            <a:extLst>
              <a:ext uri="{FF2B5EF4-FFF2-40B4-BE49-F238E27FC236}">
                <a16:creationId xmlns:a16="http://schemas.microsoft.com/office/drawing/2014/main" id="{D746E71F-B352-BCBE-0011-CEFB8366A719}"/>
              </a:ext>
            </a:extLst>
          </p:cNvPr>
          <p:cNvSpPr txBox="1"/>
          <p:nvPr/>
        </p:nvSpPr>
        <p:spPr>
          <a:xfrm>
            <a:off x="2393796" y="3510218"/>
            <a:ext cx="13473834" cy="2083263"/>
          </a:xfrm>
          <a:prstGeom prst="rect">
            <a:avLst/>
          </a:prstGeom>
        </p:spPr>
        <p:txBody>
          <a:bodyPr lIns="0" tIns="0" rIns="0" bIns="0" rtlCol="0" anchor="t">
            <a:spAutoFit/>
          </a:bodyPr>
          <a:lstStyle/>
          <a:p>
            <a:pPr algn="ctr">
              <a:lnSpc>
                <a:spcPct val="150000"/>
              </a:lnSpc>
            </a:pPr>
            <a:r>
              <a:rPr lang="en-US" altLang="zh-TW" sz="4800" dirty="0">
                <a:solidFill>
                  <a:srgbClr val="695C4A"/>
                </a:solidFill>
                <a:latin typeface="Times New Roman" panose="02020603050405020304" pitchFamily="18" charset="0"/>
                <a:ea typeface="Brasika"/>
                <a:cs typeface="Times New Roman" panose="02020603050405020304" pitchFamily="18" charset="0"/>
                <a:sym typeface="Brasika"/>
              </a:rPr>
              <a:t>Integer Programming and Network Analysis</a:t>
            </a:r>
          </a:p>
          <a:p>
            <a:pPr algn="ctr">
              <a:lnSpc>
                <a:spcPct val="150000"/>
              </a:lnSpc>
            </a:pPr>
            <a:r>
              <a:rPr lang="en-US" sz="4800" dirty="0">
                <a:solidFill>
                  <a:srgbClr val="695C4A"/>
                </a:solidFill>
                <a:latin typeface="Times New Roman" panose="02020603050405020304" pitchFamily="18" charset="0"/>
                <a:ea typeface="Brasika"/>
                <a:cs typeface="Times New Roman" panose="02020603050405020304" pitchFamily="18" charset="0"/>
                <a:sym typeface="Brasika"/>
              </a:rPr>
              <a:t>Term Project Introduction</a:t>
            </a:r>
          </a:p>
        </p:txBody>
      </p:sp>
      <p:sp>
        <p:nvSpPr>
          <p:cNvPr id="17" name="TextBox 14">
            <a:extLst>
              <a:ext uri="{FF2B5EF4-FFF2-40B4-BE49-F238E27FC236}">
                <a16:creationId xmlns:a16="http://schemas.microsoft.com/office/drawing/2014/main" id="{DF8F531D-3919-F4E6-FD80-AE3F1072BDFF}"/>
              </a:ext>
            </a:extLst>
          </p:cNvPr>
          <p:cNvSpPr txBox="1"/>
          <p:nvPr/>
        </p:nvSpPr>
        <p:spPr>
          <a:xfrm>
            <a:off x="6316624" y="6795830"/>
            <a:ext cx="5570576" cy="405070"/>
          </a:xfrm>
          <a:prstGeom prst="rect">
            <a:avLst/>
          </a:prstGeom>
        </p:spPr>
        <p:txBody>
          <a:bodyPr lIns="0" tIns="0" rIns="0" bIns="0" rtlCol="0" anchor="t">
            <a:spAutoFit/>
          </a:bodyPr>
          <a:lstStyle/>
          <a:p>
            <a:pPr algn="ctr">
              <a:lnSpc>
                <a:spcPts val="3398"/>
              </a:lnSpc>
              <a:spcBef>
                <a:spcPct val="0"/>
              </a:spcBef>
            </a:pPr>
            <a:r>
              <a:rPr lang="en-US" sz="2427" spc="1019" dirty="0">
                <a:solidFill>
                  <a:srgbClr val="827564"/>
                </a:solidFill>
                <a:latin typeface="Open Sauce"/>
                <a:ea typeface="Open Sauce"/>
                <a:cs typeface="Open Sauce"/>
                <a:sym typeface="Open Sauce"/>
              </a:rPr>
              <a:t>202</a:t>
            </a:r>
            <a:r>
              <a:rPr lang="en-US" altLang="zh-TW" sz="2427" spc="1019" dirty="0">
                <a:solidFill>
                  <a:srgbClr val="827564"/>
                </a:solidFill>
                <a:latin typeface="Open Sauce"/>
                <a:ea typeface="Open Sauce"/>
                <a:cs typeface="Open Sauce"/>
                <a:sym typeface="Open Sauce"/>
              </a:rPr>
              <a:t>6</a:t>
            </a:r>
            <a:r>
              <a:rPr lang="en-US" sz="2427" spc="1019" dirty="0">
                <a:solidFill>
                  <a:srgbClr val="827564"/>
                </a:solidFill>
                <a:latin typeface="Open Sauce"/>
                <a:ea typeface="Open Sauce"/>
                <a:cs typeface="Open Sauce"/>
                <a:sym typeface="Open Sauce"/>
              </a:rPr>
              <a:t>/</a:t>
            </a:r>
            <a:r>
              <a:rPr lang="en-US" altLang="zh-TW" sz="2427" spc="1019" dirty="0">
                <a:solidFill>
                  <a:srgbClr val="827564"/>
                </a:solidFill>
                <a:latin typeface="Open Sauce"/>
                <a:ea typeface="Open Sauce"/>
                <a:cs typeface="Open Sauce"/>
                <a:sym typeface="Open Sauce"/>
              </a:rPr>
              <a:t>5</a:t>
            </a:r>
            <a:r>
              <a:rPr lang="en-US" sz="2427" spc="1019" dirty="0">
                <a:solidFill>
                  <a:srgbClr val="827564"/>
                </a:solidFill>
                <a:latin typeface="Open Sauce"/>
                <a:ea typeface="Open Sauce"/>
                <a:cs typeface="Open Sauce"/>
                <a:sym typeface="Open Sauce"/>
              </a:rPr>
              <a:t>/</a:t>
            </a:r>
            <a:r>
              <a:rPr lang="en-US" altLang="zh-TW" sz="2427" spc="1019" dirty="0">
                <a:solidFill>
                  <a:srgbClr val="827564"/>
                </a:solidFill>
                <a:latin typeface="Open Sauce"/>
                <a:ea typeface="Open Sauce"/>
                <a:cs typeface="Open Sauce"/>
                <a:sym typeface="Open Sauce"/>
              </a:rPr>
              <a:t>7</a:t>
            </a:r>
            <a:endParaRPr lang="en-US" sz="2427" spc="1019" dirty="0">
              <a:solidFill>
                <a:srgbClr val="827564"/>
              </a:solidFill>
              <a:latin typeface="Open Sauce"/>
              <a:ea typeface="Open Sauce"/>
              <a:cs typeface="Open Sauce"/>
              <a:sym typeface="Open Sauc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100000">
            <a:off x="10079440" y="3207230"/>
            <a:ext cx="14359719" cy="12767096"/>
          </a:xfrm>
          <a:custGeom>
            <a:avLst/>
            <a:gdLst/>
            <a:ahLst/>
            <a:cxnLst/>
            <a:rect l="l" t="t" r="r" b="b"/>
            <a:pathLst>
              <a:path w="14359719" h="12767096">
                <a:moveTo>
                  <a:pt x="0" y="0"/>
                </a:moveTo>
                <a:lnTo>
                  <a:pt x="14359720" y="0"/>
                </a:lnTo>
                <a:lnTo>
                  <a:pt x="14359720" y="12767096"/>
                </a:lnTo>
                <a:lnTo>
                  <a:pt x="0" y="12767096"/>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4" name="AutoShape 4"/>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7" name="TextBox 7"/>
          <p:cNvSpPr txBox="1"/>
          <p:nvPr/>
        </p:nvSpPr>
        <p:spPr>
          <a:xfrm>
            <a:off x="986877" y="104761"/>
            <a:ext cx="4905015" cy="1184940"/>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Term Project</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8" name="TextBox 8"/>
          <p:cNvSpPr txBox="1"/>
          <p:nvPr/>
        </p:nvSpPr>
        <p:spPr>
          <a:xfrm>
            <a:off x="1676400" y="2171700"/>
            <a:ext cx="15240000" cy="6744154"/>
          </a:xfrm>
          <a:prstGeom prst="rect">
            <a:avLst/>
          </a:prstGeom>
        </p:spPr>
        <p:txBody>
          <a:bodyPr wrap="square" lIns="0" tIns="0" rIns="0" bIns="0" rtlCol="0" anchor="t">
            <a:spAutoFit/>
          </a:bodyPr>
          <a:lstStyle/>
          <a:p>
            <a:pPr marL="342900" lvl="0" indent="-342900">
              <a:lnSpc>
                <a:spcPct val="200000"/>
              </a:lnSpc>
              <a:buFont typeface="Arial" panose="020B0604020202020204" pitchFamily="34" charset="0"/>
              <a:buChar char="•"/>
            </a:pPr>
            <a:r>
              <a:rPr lang="en-US" sz="3200" u="none" strike="noStrike" dirty="0">
                <a:solidFill>
                  <a:srgbClr val="695C4A"/>
                </a:solidFill>
                <a:latin typeface="Times New Roman" panose="02020603050405020304" pitchFamily="18" charset="0"/>
                <a:ea typeface="Livvic"/>
                <a:cs typeface="Times New Roman" panose="02020603050405020304" pitchFamily="18" charset="0"/>
                <a:sym typeface="Livvic"/>
              </a:rPr>
              <a:t>Presentation date: </a:t>
            </a:r>
            <a:r>
              <a:rPr lang="en-US" altLang="zh-TW" sz="3200" dirty="0">
                <a:solidFill>
                  <a:srgbClr val="695C4A"/>
                </a:solidFill>
                <a:latin typeface="Times New Roman" panose="02020603050405020304" pitchFamily="18" charset="0"/>
                <a:ea typeface="Livvic"/>
                <a:cs typeface="Times New Roman" panose="02020603050405020304" pitchFamily="18" charset="0"/>
                <a:sym typeface="Livvic"/>
              </a:rPr>
              <a:t>6</a:t>
            </a:r>
            <a:r>
              <a:rPr lang="en-US" sz="3200" u="none" strike="noStrike" dirty="0">
                <a:solidFill>
                  <a:srgbClr val="695C4A"/>
                </a:solidFill>
                <a:latin typeface="Times New Roman" panose="02020603050405020304" pitchFamily="18" charset="0"/>
                <a:ea typeface="Livvic"/>
                <a:cs typeface="Times New Roman" panose="02020603050405020304" pitchFamily="18" charset="0"/>
                <a:sym typeface="Livvic"/>
              </a:rPr>
              <a:t>/</a:t>
            </a:r>
            <a:r>
              <a:rPr lang="en-US" altLang="zh-TW" sz="3200" u="none" strike="noStrike" dirty="0">
                <a:solidFill>
                  <a:srgbClr val="695C4A"/>
                </a:solidFill>
                <a:latin typeface="Times New Roman" panose="02020603050405020304" pitchFamily="18" charset="0"/>
                <a:ea typeface="Livvic"/>
                <a:cs typeface="Times New Roman" panose="02020603050405020304" pitchFamily="18" charset="0"/>
                <a:sym typeface="Livvic"/>
              </a:rPr>
              <a:t>4</a:t>
            </a:r>
            <a:endParaRPr lang="en-US" sz="3200" u="none" strike="noStrike" dirty="0">
              <a:solidFill>
                <a:srgbClr val="695C4A"/>
              </a:solidFill>
              <a:latin typeface="Times New Roman" panose="02020603050405020304" pitchFamily="18" charset="0"/>
              <a:ea typeface="Livvic"/>
              <a:cs typeface="Times New Roman" panose="02020603050405020304" pitchFamily="18" charset="0"/>
              <a:sym typeface="Livvic"/>
            </a:endParaRPr>
          </a:p>
          <a:p>
            <a:pPr marL="342900" lvl="0" indent="-342900">
              <a:lnSpc>
                <a:spcPct val="200000"/>
              </a:lnSpc>
              <a:buFont typeface="Arial" panose="020B0604020202020204" pitchFamily="34" charset="0"/>
              <a:buChar char="•"/>
            </a:pPr>
            <a:r>
              <a:rPr lang="en-US" sz="3200" dirty="0">
                <a:solidFill>
                  <a:srgbClr val="695C4A"/>
                </a:solidFill>
                <a:latin typeface="Times New Roman" panose="02020603050405020304" pitchFamily="18" charset="0"/>
                <a:ea typeface="Livvic"/>
                <a:cs typeface="Times New Roman" panose="02020603050405020304" pitchFamily="18" charset="0"/>
                <a:sym typeface="Livvic"/>
              </a:rPr>
              <a:t>Weight: </a:t>
            </a:r>
            <a:r>
              <a:rPr lang="en-US" altLang="zh-TW" sz="3200" dirty="0">
                <a:solidFill>
                  <a:srgbClr val="695C4A"/>
                </a:solidFill>
                <a:latin typeface="Times New Roman" panose="02020603050405020304" pitchFamily="18" charset="0"/>
                <a:ea typeface="Livvic"/>
                <a:cs typeface="Times New Roman" panose="02020603050405020304" pitchFamily="18" charset="0"/>
                <a:sym typeface="Livvic"/>
              </a:rPr>
              <a:t>20</a:t>
            </a:r>
            <a:r>
              <a:rPr lang="en-US" sz="3200" dirty="0">
                <a:solidFill>
                  <a:srgbClr val="695C4A"/>
                </a:solidFill>
                <a:latin typeface="Times New Roman" panose="02020603050405020304" pitchFamily="18" charset="0"/>
                <a:ea typeface="Livvic"/>
                <a:cs typeface="Times New Roman" panose="02020603050405020304" pitchFamily="18" charset="0"/>
                <a:sym typeface="Livvic"/>
              </a:rPr>
              <a:t>% of the final grade</a:t>
            </a:r>
          </a:p>
          <a:p>
            <a:pPr marL="342900" lvl="0" indent="-342900">
              <a:lnSpc>
                <a:spcPct val="200000"/>
              </a:lnSpc>
              <a:buFont typeface="Arial" panose="020B0604020202020204" pitchFamily="34" charset="0"/>
              <a:buChar char="•"/>
            </a:pPr>
            <a:r>
              <a:rPr lang="en-US" sz="3200" u="none" strike="noStrike" dirty="0">
                <a:solidFill>
                  <a:srgbClr val="695C4A"/>
                </a:solidFill>
                <a:latin typeface="Times New Roman" panose="02020603050405020304" pitchFamily="18" charset="0"/>
                <a:ea typeface="Livvic"/>
                <a:cs typeface="Times New Roman" panose="02020603050405020304" pitchFamily="18" charset="0"/>
                <a:sym typeface="Livvic"/>
              </a:rPr>
              <a:t>Please upload your:</a:t>
            </a:r>
          </a:p>
          <a:p>
            <a:pPr marL="914400" lvl="1" indent="-457200">
              <a:lnSpc>
                <a:spcPct val="200000"/>
              </a:lnSpc>
              <a:buFont typeface="+mj-lt"/>
              <a:buAutoNum type="arabicPeriod"/>
            </a:pPr>
            <a:r>
              <a:rPr lang="en-US" sz="3200" dirty="0">
                <a:solidFill>
                  <a:srgbClr val="695C4A"/>
                </a:solidFill>
                <a:latin typeface="Times New Roman" panose="02020603050405020304" pitchFamily="18" charset="0"/>
                <a:ea typeface="Livvic"/>
                <a:cs typeface="Times New Roman" panose="02020603050405020304" pitchFamily="18" charset="0"/>
                <a:sym typeface="Livvic"/>
              </a:rPr>
              <a:t>Output files </a:t>
            </a:r>
            <a:r>
              <a:rPr lang="en-US" sz="3200" dirty="0">
                <a:solidFill>
                  <a:srgbClr val="FF0000"/>
                </a:solidFill>
                <a:latin typeface="Times New Roman" panose="02020603050405020304" pitchFamily="18" charset="0"/>
                <a:ea typeface="Livvic"/>
                <a:cs typeface="Times New Roman" panose="02020603050405020304" pitchFamily="18" charset="0"/>
                <a:sym typeface="Livvic"/>
              </a:rPr>
              <a:t>(3</a:t>
            </a:r>
            <a:r>
              <a:rPr lang="zh-TW" altLang="en-US" sz="3200" dirty="0">
                <a:solidFill>
                  <a:srgbClr val="FF0000"/>
                </a:solidFill>
                <a:latin typeface="Times New Roman" panose="02020603050405020304" pitchFamily="18" charset="0"/>
                <a:ea typeface="Livvic"/>
                <a:cs typeface="Times New Roman" panose="02020603050405020304" pitchFamily="18" charset="0"/>
                <a:sym typeface="Livvic"/>
              </a:rPr>
              <a:t> </a:t>
            </a:r>
            <a:r>
              <a:rPr lang="en-US" altLang="zh-TW" sz="3200" dirty="0">
                <a:solidFill>
                  <a:srgbClr val="FF0000"/>
                </a:solidFill>
                <a:latin typeface="Times New Roman" panose="02020603050405020304" pitchFamily="18" charset="0"/>
                <a:ea typeface="Livvic"/>
                <a:cs typeface="Times New Roman" panose="02020603050405020304" pitchFamily="18" charset="0"/>
                <a:sym typeface="Livvic"/>
              </a:rPr>
              <a:t>in total</a:t>
            </a:r>
            <a:r>
              <a:rPr lang="en-US" sz="3200" dirty="0">
                <a:solidFill>
                  <a:srgbClr val="FF0000"/>
                </a:solidFill>
                <a:latin typeface="Times New Roman" panose="02020603050405020304" pitchFamily="18" charset="0"/>
                <a:ea typeface="Livvic"/>
                <a:cs typeface="Times New Roman" panose="02020603050405020304" pitchFamily="18" charset="0"/>
                <a:sym typeface="Livvic"/>
              </a:rPr>
              <a:t>) </a:t>
            </a:r>
            <a:r>
              <a:rPr lang="en-US" sz="3200" dirty="0">
                <a:solidFill>
                  <a:srgbClr val="695C4A"/>
                </a:solidFill>
                <a:latin typeface="Times New Roman" panose="02020603050405020304" pitchFamily="18" charset="0"/>
                <a:ea typeface="Livvic"/>
                <a:cs typeface="Times New Roman" panose="02020603050405020304" pitchFamily="18" charset="0"/>
                <a:sym typeface="Livvic"/>
              </a:rPr>
              <a:t>and code (deadline: </a:t>
            </a:r>
            <a:r>
              <a:rPr lang="en-US" altLang="zh-TW" sz="3200" dirty="0">
                <a:solidFill>
                  <a:srgbClr val="695C4A"/>
                </a:solidFill>
                <a:latin typeface="Times New Roman" panose="02020603050405020304" pitchFamily="18" charset="0"/>
                <a:ea typeface="Livvic"/>
                <a:cs typeface="Times New Roman" panose="02020603050405020304" pitchFamily="18" charset="0"/>
                <a:sym typeface="Livvic"/>
              </a:rPr>
              <a:t>6</a:t>
            </a:r>
            <a:r>
              <a:rPr lang="en-US" sz="3200" dirty="0">
                <a:solidFill>
                  <a:srgbClr val="695C4A"/>
                </a:solidFill>
                <a:latin typeface="Times New Roman" panose="02020603050405020304" pitchFamily="18" charset="0"/>
                <a:ea typeface="Livvic"/>
                <a:cs typeface="Times New Roman" panose="02020603050405020304" pitchFamily="18" charset="0"/>
                <a:sym typeface="Livvic"/>
              </a:rPr>
              <a:t>/</a:t>
            </a:r>
            <a:r>
              <a:rPr lang="en-US" altLang="zh-TW" sz="3200" dirty="0">
                <a:solidFill>
                  <a:srgbClr val="695C4A"/>
                </a:solidFill>
                <a:latin typeface="Times New Roman" panose="02020603050405020304" pitchFamily="18" charset="0"/>
                <a:ea typeface="Livvic"/>
                <a:cs typeface="Times New Roman" panose="02020603050405020304" pitchFamily="18" charset="0"/>
                <a:sym typeface="Livvic"/>
              </a:rPr>
              <a:t>1</a:t>
            </a:r>
            <a:r>
              <a:rPr lang="en-US" sz="3200" dirty="0">
                <a:solidFill>
                  <a:srgbClr val="695C4A"/>
                </a:solidFill>
                <a:latin typeface="Times New Roman" panose="02020603050405020304" pitchFamily="18" charset="0"/>
                <a:ea typeface="Livvic"/>
                <a:cs typeface="Times New Roman" panose="02020603050405020304" pitchFamily="18" charset="0"/>
                <a:sym typeface="Livvic"/>
              </a:rPr>
              <a:t> 9:00)</a:t>
            </a:r>
          </a:p>
          <a:p>
            <a:pPr marL="914400" lvl="1" indent="-457200">
              <a:lnSpc>
                <a:spcPct val="200000"/>
              </a:lnSpc>
              <a:buFont typeface="+mj-lt"/>
              <a:buAutoNum type="arabicPeriod"/>
            </a:pPr>
            <a:r>
              <a:rPr lang="en-US" sz="3200" u="none" strike="noStrike" dirty="0">
                <a:solidFill>
                  <a:srgbClr val="695C4A"/>
                </a:solidFill>
                <a:latin typeface="Times New Roman" panose="02020603050405020304" pitchFamily="18" charset="0"/>
                <a:ea typeface="Livvic"/>
                <a:cs typeface="Times New Roman" panose="02020603050405020304" pitchFamily="18" charset="0"/>
                <a:sym typeface="Livvic"/>
              </a:rPr>
              <a:t>Presentation slides (deadline: </a:t>
            </a:r>
            <a:r>
              <a:rPr lang="en-US" altLang="zh-TW" sz="3200" u="none" strike="noStrike" dirty="0">
                <a:solidFill>
                  <a:srgbClr val="695C4A"/>
                </a:solidFill>
                <a:latin typeface="Times New Roman" panose="02020603050405020304" pitchFamily="18" charset="0"/>
                <a:ea typeface="Livvic"/>
                <a:cs typeface="Times New Roman" panose="02020603050405020304" pitchFamily="18" charset="0"/>
                <a:sym typeface="Livvic"/>
              </a:rPr>
              <a:t>6</a:t>
            </a:r>
            <a:r>
              <a:rPr lang="en-US" sz="3200" u="none" strike="noStrike" dirty="0">
                <a:solidFill>
                  <a:srgbClr val="695C4A"/>
                </a:solidFill>
                <a:latin typeface="Times New Roman" panose="02020603050405020304" pitchFamily="18" charset="0"/>
                <a:ea typeface="Livvic"/>
                <a:cs typeface="Times New Roman" panose="02020603050405020304" pitchFamily="18" charset="0"/>
                <a:sym typeface="Livvic"/>
              </a:rPr>
              <a:t>/</a:t>
            </a:r>
            <a:r>
              <a:rPr lang="en-US" altLang="zh-TW" sz="3200" u="none" strike="noStrike" dirty="0">
                <a:solidFill>
                  <a:srgbClr val="695C4A"/>
                </a:solidFill>
                <a:latin typeface="Times New Roman" panose="02020603050405020304" pitchFamily="18" charset="0"/>
                <a:ea typeface="Livvic"/>
                <a:cs typeface="Times New Roman" panose="02020603050405020304" pitchFamily="18" charset="0"/>
                <a:sym typeface="Livvic"/>
              </a:rPr>
              <a:t>3</a:t>
            </a:r>
            <a:r>
              <a:rPr lang="en-US" sz="3200" u="none" strike="noStrike" dirty="0">
                <a:solidFill>
                  <a:srgbClr val="695C4A"/>
                </a:solidFill>
                <a:latin typeface="Times New Roman" panose="02020603050405020304" pitchFamily="18" charset="0"/>
                <a:ea typeface="Livvic"/>
                <a:cs typeface="Times New Roman" panose="02020603050405020304" pitchFamily="18" charset="0"/>
                <a:sym typeface="Livvic"/>
              </a:rPr>
              <a:t> 23:59)</a:t>
            </a:r>
            <a:endParaRPr lang="en-US" sz="3200" dirty="0">
              <a:solidFill>
                <a:srgbClr val="695C4A"/>
              </a:solidFill>
              <a:latin typeface="Times New Roman" panose="02020603050405020304" pitchFamily="18" charset="0"/>
              <a:ea typeface="Livvic"/>
              <a:cs typeface="Times New Roman" panose="02020603050405020304" pitchFamily="18" charset="0"/>
              <a:sym typeface="Livvic"/>
            </a:endParaRPr>
          </a:p>
          <a:p>
            <a:pPr marL="457200" indent="-457200">
              <a:lnSpc>
                <a:spcPct val="200000"/>
              </a:lnSpc>
              <a:buFont typeface="Arial" panose="020B0604020202020204" pitchFamily="34" charset="0"/>
              <a:buChar char="•"/>
            </a:pPr>
            <a:r>
              <a:rPr lang="en-US" sz="3200" dirty="0">
                <a:solidFill>
                  <a:srgbClr val="695C4A"/>
                </a:solidFill>
                <a:latin typeface="Times New Roman" panose="02020603050405020304" pitchFamily="18" charset="0"/>
                <a:ea typeface="Livvic"/>
                <a:cs typeface="Times New Roman" panose="02020603050405020304" pitchFamily="18" charset="0"/>
                <a:sym typeface="Livvic"/>
              </a:rPr>
              <a:t>Please use </a:t>
            </a:r>
            <a:r>
              <a:rPr lang="en-US" sz="3200" dirty="0">
                <a:solidFill>
                  <a:srgbClr val="FF0000"/>
                </a:solidFill>
                <a:latin typeface="Times New Roman" panose="02020603050405020304" pitchFamily="18" charset="0"/>
                <a:ea typeface="Livvic"/>
                <a:cs typeface="Times New Roman" panose="02020603050405020304" pitchFamily="18" charset="0"/>
                <a:sym typeface="Livvic"/>
              </a:rPr>
              <a:t>CPLEX</a:t>
            </a:r>
            <a:r>
              <a:rPr lang="en-US" sz="3200" dirty="0">
                <a:solidFill>
                  <a:srgbClr val="695C4A"/>
                </a:solidFill>
                <a:latin typeface="Times New Roman" panose="02020603050405020304" pitchFamily="18" charset="0"/>
                <a:ea typeface="Livvic"/>
                <a:cs typeface="Times New Roman" panose="02020603050405020304" pitchFamily="18" charset="0"/>
                <a:sym typeface="Livvic"/>
              </a:rPr>
              <a:t> or </a:t>
            </a:r>
            <a:r>
              <a:rPr lang="en-US" sz="3200" dirty="0" err="1">
                <a:solidFill>
                  <a:srgbClr val="FF0000"/>
                </a:solidFill>
                <a:latin typeface="Times New Roman" panose="02020603050405020304" pitchFamily="18" charset="0"/>
                <a:ea typeface="Livvic"/>
                <a:cs typeface="Times New Roman" panose="02020603050405020304" pitchFamily="18" charset="0"/>
                <a:sym typeface="Livvic"/>
              </a:rPr>
              <a:t>Gurobi</a:t>
            </a:r>
            <a:r>
              <a:rPr lang="en-US" sz="3200" dirty="0">
                <a:solidFill>
                  <a:srgbClr val="695C4A"/>
                </a:solidFill>
                <a:latin typeface="Times New Roman" panose="02020603050405020304" pitchFamily="18" charset="0"/>
                <a:ea typeface="Livvic"/>
                <a:cs typeface="Times New Roman" panose="02020603050405020304" pitchFamily="18" charset="0"/>
                <a:sym typeface="Livvic"/>
              </a:rPr>
              <a:t> as solver. However, you can employ any techniques that may enhance the quality of the solution.</a:t>
            </a:r>
          </a:p>
        </p:txBody>
      </p:sp>
      <p:sp>
        <p:nvSpPr>
          <p:cNvPr id="11" name="AutoShape 11"/>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Freeform 12"/>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noGrp="1" noRot="1" noMove="1" noResize="1" noEditPoints="1" noAdjustHandles="1" noChangeArrowheads="1" noChangeShapeType="1"/>
          </p:cNvSpPr>
          <p:nvPr/>
        </p:nvSpPr>
        <p:spPr>
          <a:xfrm rot="2852131">
            <a:off x="-9228058" y="477126"/>
            <a:ext cx="18930865" cy="18758766"/>
          </a:xfrm>
          <a:custGeom>
            <a:avLst/>
            <a:gdLst/>
            <a:ahLst/>
            <a:cxnLst/>
            <a:rect l="l" t="t" r="r" b="b"/>
            <a:pathLst>
              <a:path w="18930865" h="18758766">
                <a:moveTo>
                  <a:pt x="0" y="0"/>
                </a:moveTo>
                <a:lnTo>
                  <a:pt x="18930865" y="0"/>
                </a:lnTo>
                <a:lnTo>
                  <a:pt x="18930865" y="18758767"/>
                </a:lnTo>
                <a:lnTo>
                  <a:pt x="0" y="18758767"/>
                </a:lnTo>
                <a:lnTo>
                  <a:pt x="0" y="0"/>
                </a:lnTo>
                <a:close/>
              </a:path>
            </a:pathLst>
          </a:custGeom>
          <a:blipFill>
            <a:blip>
              <a:alphaModFix amt="7999"/>
              <a:extLst>
                <a:ext uri="{96DAC541-7B7A-43D3-8B79-37D633B846F1}">
                  <asvg:svgBlip xmlns:asvg="http://schemas.microsoft.com/office/drawing/2016/SVG/main" r:embed="rId3"/>
                </a:ext>
              </a:extLst>
            </a:blip>
            <a:stretch>
              <a:fillRect/>
            </a:stretch>
          </a:blipFill>
        </p:spPr>
        <p:txBody>
          <a:bodyPr/>
          <a:lstStyle/>
          <a:p>
            <a:endParaRPr lang="zh-TW" altLang="en-US" dirty="0"/>
          </a:p>
        </p:txBody>
      </p:sp>
      <p:sp>
        <p:nvSpPr>
          <p:cNvPr id="8" name="TextBox 7">
            <a:extLst>
              <a:ext uri="{FF2B5EF4-FFF2-40B4-BE49-F238E27FC236}">
                <a16:creationId xmlns:a16="http://schemas.microsoft.com/office/drawing/2014/main" id="{EA0FBDF6-BA51-C1E3-BE0B-D50B8340A3F8}"/>
              </a:ext>
            </a:extLst>
          </p:cNvPr>
          <p:cNvSpPr txBox="1"/>
          <p:nvPr/>
        </p:nvSpPr>
        <p:spPr>
          <a:xfrm>
            <a:off x="986877" y="104761"/>
            <a:ext cx="4905015" cy="1184940"/>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Background</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9" name="AutoShape 4">
            <a:extLst>
              <a:ext uri="{FF2B5EF4-FFF2-40B4-BE49-F238E27FC236}">
                <a16:creationId xmlns:a16="http://schemas.microsoft.com/office/drawing/2014/main" id="{7F898C3E-2F19-66AC-D9C5-CEBE2A88482F}"/>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0" name="AutoShape 11">
            <a:extLst>
              <a:ext uri="{FF2B5EF4-FFF2-40B4-BE49-F238E27FC236}">
                <a16:creationId xmlns:a16="http://schemas.microsoft.com/office/drawing/2014/main" id="{40B1DC51-D2A5-A06B-05D6-CAB59536E3CB}"/>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1" name="Freeform 12">
            <a:extLst>
              <a:ext uri="{FF2B5EF4-FFF2-40B4-BE49-F238E27FC236}">
                <a16:creationId xmlns:a16="http://schemas.microsoft.com/office/drawing/2014/main" id="{1A4EC29C-273E-E730-5D1A-B2E3E4D6FEEA}"/>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文字方塊 12">
            <a:extLst>
              <a:ext uri="{FF2B5EF4-FFF2-40B4-BE49-F238E27FC236}">
                <a16:creationId xmlns:a16="http://schemas.microsoft.com/office/drawing/2014/main" id="{57928681-69EF-BB06-4C4F-8FEB6A617D65}"/>
              </a:ext>
            </a:extLst>
          </p:cNvPr>
          <p:cNvSpPr txBox="1"/>
          <p:nvPr/>
        </p:nvSpPr>
        <p:spPr>
          <a:xfrm>
            <a:off x="1828800" y="2781300"/>
            <a:ext cx="15681158" cy="3892861"/>
          </a:xfrm>
          <a:prstGeom prst="rect">
            <a:avLst/>
          </a:prstGeom>
          <a:noFill/>
        </p:spPr>
        <p:txBody>
          <a:bodyPr wrap="square">
            <a:spAutoFit/>
          </a:bodyPr>
          <a:lstStyle/>
          <a:p>
            <a:pPr>
              <a:lnSpc>
                <a:spcPct val="150000"/>
              </a:lnSpc>
            </a:pPr>
            <a:r>
              <a:rPr lang="en-US" altLang="zh-TW" sz="2800" dirty="0">
                <a:solidFill>
                  <a:srgbClr val="695C4A"/>
                </a:solidFill>
                <a:latin typeface="Times New Roman" panose="02020603050405020304" pitchFamily="18" charset="0"/>
                <a:cs typeface="Times New Roman" panose="02020603050405020304" pitchFamily="18" charset="0"/>
              </a:rPr>
              <a:t>In manufacturing systems, production scheduling plays an important role in improving machine utilization and reducing delivery delays. In this project, multiple orders may be assigned to limited machines and molds. We need to consider the scheduling restrictions, such as machine capacity, molds limit, sequence-dependent setup times and so on.</a:t>
            </a:r>
            <a:r>
              <a:rPr lang="zh-TW" altLang="en-US" sz="2800" dirty="0">
                <a:solidFill>
                  <a:srgbClr val="695C4A"/>
                </a:solidFill>
                <a:latin typeface="Times New Roman" panose="02020603050405020304" pitchFamily="18" charset="0"/>
                <a:cs typeface="Times New Roman" panose="02020603050405020304" pitchFamily="18" charset="0"/>
              </a:rPr>
              <a:t> </a:t>
            </a:r>
            <a:r>
              <a:rPr lang="en-US" altLang="zh-TW" sz="2800" dirty="0">
                <a:solidFill>
                  <a:srgbClr val="695C4A"/>
                </a:solidFill>
                <a:latin typeface="Times New Roman" panose="02020603050405020304" pitchFamily="18" charset="0"/>
                <a:cs typeface="Times New Roman" panose="02020603050405020304" pitchFamily="18" charset="0"/>
              </a:rPr>
              <a:t>In addition,  some orders may share the cavities of the same machine by using a special production strategy called </a:t>
            </a:r>
            <a:r>
              <a:rPr lang="en-US" altLang="zh-TW" sz="2800" b="1" dirty="0">
                <a:solidFill>
                  <a:srgbClr val="695C4A"/>
                </a:solidFill>
                <a:latin typeface="Times New Roman" panose="02020603050405020304" pitchFamily="18" charset="0"/>
                <a:cs typeface="Times New Roman" panose="02020603050405020304" pitchFamily="18" charset="0"/>
              </a:rPr>
              <a:t>partial cavity production</a:t>
            </a:r>
            <a:r>
              <a:rPr lang="en-US" altLang="zh-TW" sz="2800" dirty="0">
                <a:solidFill>
                  <a:srgbClr val="695C4A"/>
                </a:solidFill>
                <a:latin typeface="Times New Roman" panose="02020603050405020304" pitchFamily="18" charset="0"/>
                <a:cs typeface="Times New Roman" panose="02020603050405020304" pitchFamily="18" charset="0"/>
              </a:rPr>
              <a:t>. The goal of this project is to generate a feasible production schedule that </a:t>
            </a:r>
            <a:r>
              <a:rPr lang="en-US" altLang="zh-TW" sz="2800" dirty="0">
                <a:solidFill>
                  <a:srgbClr val="FF0000"/>
                </a:solidFill>
                <a:latin typeface="Times New Roman" panose="02020603050405020304" pitchFamily="18" charset="0"/>
                <a:cs typeface="Times New Roman" panose="02020603050405020304" pitchFamily="18" charset="0"/>
              </a:rPr>
              <a:t>maximizes the total number of scheduled orders</a:t>
            </a:r>
            <a:r>
              <a:rPr lang="en-US" altLang="zh-TW" sz="2800" dirty="0">
                <a:solidFill>
                  <a:srgbClr val="695C4A"/>
                </a:solidFill>
                <a:latin typeface="Times New Roman" panose="02020603050405020304" pitchFamily="18" charset="0"/>
                <a:cs typeface="Times New Roman" panose="02020603050405020304" pitchFamily="18" charset="0"/>
              </a:rPr>
              <a:t>.</a:t>
            </a:r>
            <a:endParaRPr lang="zh-TW" altLang="en-US" sz="2800" dirty="0">
              <a:solidFill>
                <a:srgbClr val="695C4A"/>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7BC0D44-E970-D95F-B9B5-AAE9CFA4F8B4}"/>
                  </a:ext>
                </a:extLst>
              </p:cNvPr>
              <p:cNvSpPr txBox="1"/>
              <p:nvPr/>
            </p:nvSpPr>
            <p:spPr>
              <a:xfrm>
                <a:off x="7134186" y="7400899"/>
                <a:ext cx="5133200" cy="22297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altLang="zh-TW" sz="2800" b="0" i="1" smtClean="0">
                              <a:latin typeface="Cambria Math" panose="02040503050406030204" pitchFamily="18" charset="0"/>
                            </a:rPr>
                          </m:ctrlPr>
                        </m:funcPr>
                        <m:fName>
                          <m:r>
                            <m:rPr>
                              <m:sty m:val="p"/>
                            </m:rPr>
                            <a:rPr lang="en-US" altLang="zh-TW" sz="2800" b="0" i="0" smtClean="0">
                              <a:latin typeface="Cambria Math" panose="02040503050406030204" pitchFamily="18" charset="0"/>
                            </a:rPr>
                            <m:t>max</m:t>
                          </m:r>
                        </m:fName>
                        <m:e>
                          <m:nary>
                            <m:naryPr>
                              <m:chr m:val="∑"/>
                              <m:ctrlPr>
                                <a:rPr lang="en-US" altLang="zh-TW" sz="2800" b="0" i="1" smtClean="0">
                                  <a:latin typeface="Cambria Math" panose="02040503050406030204" pitchFamily="18" charset="0"/>
                                </a:rPr>
                              </m:ctrlPr>
                            </m:naryPr>
                            <m:sub>
                              <m:r>
                                <m:rPr>
                                  <m:brk m:alnAt="23"/>
                                </m:rP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m:t>
                              </m:r>
                              <m:r>
                                <m:rPr>
                                  <m:brk m:alnAt="23"/>
                                </m:rP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𝑛</m:t>
                              </m:r>
                            </m:sup>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𝑧</m:t>
                                  </m:r>
                                </m:e>
                                <m:sub>
                                  <m:r>
                                    <a:rPr lang="en-US" altLang="zh-TW" sz="2800" b="0" i="1" smtClean="0">
                                      <a:latin typeface="Cambria Math" panose="02040503050406030204" pitchFamily="18" charset="0"/>
                                    </a:rPr>
                                    <m:t>𝑖</m:t>
                                  </m:r>
                                </m:sub>
                              </m:sSub>
                            </m:e>
                          </m:nary>
                        </m:e>
                      </m:func>
                    </m:oMath>
                  </m:oMathPara>
                </a14:m>
                <a:endParaRPr lang="en-US" altLang="zh-TW" sz="2800" dirty="0"/>
              </a:p>
              <a:p>
                <a:pPr/>
                <a14:m>
                  <m:oMathPara xmlns:m="http://schemas.openxmlformats.org/officeDocument/2006/math">
                    <m:oMathParaPr>
                      <m:jc m:val="centerGroup"/>
                    </m:oMathParaPr>
                    <m:oMath xmlns:m="http://schemas.openxmlformats.org/officeDocument/2006/math">
                      <m:sSub>
                        <m:sSubPr>
                          <m:ctrlPr>
                            <a:rPr lang="en-US" altLang="zh-TW" sz="2800" i="1">
                              <a:latin typeface="Cambria Math" panose="02040503050406030204" pitchFamily="18" charset="0"/>
                            </a:rPr>
                          </m:ctrlPr>
                        </m:sSubPr>
                        <m:e>
                          <m:r>
                            <a:rPr lang="en-US" altLang="zh-TW" sz="2800" b="0" i="1" smtClean="0">
                              <a:latin typeface="Cambria Math" panose="02040503050406030204" pitchFamily="18" charset="0"/>
                            </a:rPr>
                            <m:t>𝑧</m:t>
                          </m:r>
                        </m:e>
                        <m:sub>
                          <m:r>
                            <a:rPr lang="en-US" altLang="zh-TW" sz="2800" i="1">
                              <a:latin typeface="Cambria Math" panose="02040503050406030204" pitchFamily="18" charset="0"/>
                            </a:rPr>
                            <m:t>𝑖</m:t>
                          </m:r>
                        </m:sub>
                      </m:sSub>
                      <m:r>
                        <a:rPr lang="en-US" altLang="zh-TW" sz="2800" b="0" i="1" smtClean="0">
                          <a:latin typeface="Cambria Math" panose="02040503050406030204" pitchFamily="18" charset="0"/>
                        </a:rPr>
                        <m:t>=</m:t>
                      </m:r>
                      <m:d>
                        <m:dPr>
                          <m:begChr m:val="{"/>
                          <m:endChr m:val=""/>
                          <m:ctrlPr>
                            <a:rPr lang="en-US" altLang="zh-TW" sz="2800" b="0" i="1" smtClean="0">
                              <a:latin typeface="Cambria Math" panose="02040503050406030204" pitchFamily="18" charset="0"/>
                            </a:rPr>
                          </m:ctrlPr>
                        </m:dPr>
                        <m:e>
                          <m:eqArr>
                            <m:eqArrPr>
                              <m:ctrlPr>
                                <a:rPr lang="en-US" altLang="zh-TW" sz="2800" b="0" i="1" smtClean="0">
                                  <a:latin typeface="Cambria Math" panose="02040503050406030204" pitchFamily="18" charset="0"/>
                                </a:rPr>
                              </m:ctrlPr>
                            </m:eqArrPr>
                            <m:e>
                              <m:r>
                                <a:rPr lang="en-US" altLang="zh-TW" sz="2800" b="0" i="1" smtClean="0">
                                  <a:latin typeface="Cambria Math" panose="02040503050406030204" pitchFamily="18" charset="0"/>
                                </a:rPr>
                                <m:t>1, </m:t>
                              </m:r>
                              <m:r>
                                <a:rPr lang="en-US" altLang="zh-TW" sz="2800" b="0" i="1" smtClean="0">
                                  <a:latin typeface="Cambria Math" panose="02040503050406030204" pitchFamily="18" charset="0"/>
                                </a:rPr>
                                <m:t>𝑖𝑓</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𝑜𝑟𝑑𝑒𝑟</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𝑖𝑠</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𝑠𝑐h𝑒𝑑𝑢𝑙𝑒𝑑</m:t>
                              </m:r>
                            </m:e>
                            <m:e>
                              <m:r>
                                <a:rPr lang="en-US" altLang="zh-TW" sz="2800" b="0" i="1" smtClean="0">
                                  <a:latin typeface="Cambria Math" panose="02040503050406030204" pitchFamily="18" charset="0"/>
                                </a:rPr>
                                <m:t>0, </m:t>
                              </m:r>
                              <m:r>
                                <a:rPr lang="en-US" altLang="zh-TW" sz="2800" b="0" i="1" smtClean="0">
                                  <a:latin typeface="Cambria Math" panose="02040503050406030204" pitchFamily="18" charset="0"/>
                                </a:rPr>
                                <m:t>𝑜𝑡h𝑒𝑟𝑤𝑖𝑠𝑒</m:t>
                              </m:r>
                              <m:r>
                                <a:rPr lang="en-US" altLang="zh-TW" sz="2800" b="0" i="1" smtClean="0">
                                  <a:latin typeface="Cambria Math" panose="02040503050406030204" pitchFamily="18" charset="0"/>
                                </a:rPr>
                                <m:t>                         </m:t>
                              </m:r>
                            </m:e>
                          </m:eqArr>
                        </m:e>
                      </m:d>
                    </m:oMath>
                  </m:oMathPara>
                </a14:m>
                <a:endParaRPr lang="zh-TW" altLang="en-US" sz="2800" dirty="0"/>
              </a:p>
            </p:txBody>
          </p:sp>
        </mc:Choice>
        <mc:Fallback xmlns="">
          <p:sp>
            <p:nvSpPr>
              <p:cNvPr id="4" name="文字方塊 3">
                <a:extLst>
                  <a:ext uri="{FF2B5EF4-FFF2-40B4-BE49-F238E27FC236}">
                    <a16:creationId xmlns:a16="http://schemas.microsoft.com/office/drawing/2014/main" id="{57BC0D44-E970-D95F-B9B5-AAE9CFA4F8B4}"/>
                  </a:ext>
                </a:extLst>
              </p:cNvPr>
              <p:cNvSpPr txBox="1">
                <a:spLocks noRot="1" noChangeAspect="1" noMove="1" noResize="1" noEditPoints="1" noAdjustHandles="1" noChangeArrowheads="1" noChangeShapeType="1" noTextEdit="1"/>
              </p:cNvSpPr>
              <p:nvPr/>
            </p:nvSpPr>
            <p:spPr>
              <a:xfrm>
                <a:off x="7134186" y="7400899"/>
                <a:ext cx="5133200" cy="2229713"/>
              </a:xfrm>
              <a:prstGeom prst="rect">
                <a:avLst/>
              </a:prstGeom>
              <a:blipFill>
                <a:blip r:embed="rId5"/>
                <a:stretch>
                  <a:fillRect/>
                </a:stretch>
              </a:blipFill>
            </p:spPr>
            <p:txBody>
              <a:bodyPr/>
              <a:lstStyle/>
              <a:p>
                <a:r>
                  <a:rPr lang="zh-TW" altLang="en-US">
                    <a:noFill/>
                  </a:rPr>
                  <a:t> </a:t>
                </a:r>
              </a:p>
            </p:txBody>
          </p:sp>
        </mc:Fallback>
      </mc:AlternateContent>
      <p:pic>
        <p:nvPicPr>
          <p:cNvPr id="3" name="圖形 2" descr="機器人手部 外框">
            <a:extLst>
              <a:ext uri="{FF2B5EF4-FFF2-40B4-BE49-F238E27FC236}">
                <a16:creationId xmlns:a16="http://schemas.microsoft.com/office/drawing/2014/main" id="{BCAF58AD-AB02-F74A-3B4B-5AEC72265CF7}"/>
              </a:ext>
            </a:extLst>
          </p:cNvPr>
          <p:cNvPicPr>
            <a:picLocks noChangeAspect="1"/>
          </p:cNvPicPr>
          <p:nvPr/>
        </p:nvPicPr>
        <p:blipFill>
          <a:blip>
            <a:duotone>
              <a:schemeClr val="bg2">
                <a:shade val="45000"/>
                <a:satMod val="135000"/>
              </a:schemeClr>
              <a:prstClr val="white"/>
            </a:duotone>
            <a:extLst>
              <a:ext uri="{96DAC541-7B7A-43D3-8B79-37D633B846F1}">
                <asvg:svgBlip xmlns:asvg="http://schemas.microsoft.com/office/drawing/2016/SVG/main" r:embed="rId6"/>
              </a:ext>
            </a:extLst>
          </a:blip>
          <a:stretch>
            <a:fillRect/>
          </a:stretch>
        </p:blipFill>
        <p:spPr>
          <a:xfrm>
            <a:off x="15775495" y="62307"/>
            <a:ext cx="2172682" cy="217268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p:cNvSpPr>
          <p:nvPr/>
        </p:nvSpPr>
        <p:spPr>
          <a:xfrm rot="634158">
            <a:off x="-2604617" y="-1000841"/>
            <a:ext cx="23926799" cy="12863671"/>
          </a:xfrm>
          <a:custGeom>
            <a:avLst/>
            <a:gdLst/>
            <a:ahLst/>
            <a:cxnLst/>
            <a:rect l="l" t="t" r="r" b="b"/>
            <a:pathLst>
              <a:path w="18930865" h="18758766">
                <a:moveTo>
                  <a:pt x="0" y="0"/>
                </a:moveTo>
                <a:lnTo>
                  <a:pt x="18930865" y="0"/>
                </a:lnTo>
                <a:lnTo>
                  <a:pt x="18930865" y="18758767"/>
                </a:lnTo>
                <a:lnTo>
                  <a:pt x="0" y="18758767"/>
                </a:lnTo>
                <a:lnTo>
                  <a:pt x="0" y="0"/>
                </a:lnTo>
                <a:close/>
              </a:path>
            </a:pathLst>
          </a:custGeom>
          <a:blipFill>
            <a:blip>
              <a:alphaModFix amt="7999"/>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8" name="TextBox 7">
            <a:extLst>
              <a:ext uri="{FF2B5EF4-FFF2-40B4-BE49-F238E27FC236}">
                <a16:creationId xmlns:a16="http://schemas.microsoft.com/office/drawing/2014/main" id="{EA0FBDF6-BA51-C1E3-BE0B-D50B8340A3F8}"/>
              </a:ext>
            </a:extLst>
          </p:cNvPr>
          <p:cNvSpPr txBox="1"/>
          <p:nvPr/>
        </p:nvSpPr>
        <p:spPr>
          <a:xfrm>
            <a:off x="986877" y="104761"/>
            <a:ext cx="6099723" cy="1144544"/>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Problem Description</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9" name="AutoShape 4">
            <a:extLst>
              <a:ext uri="{FF2B5EF4-FFF2-40B4-BE49-F238E27FC236}">
                <a16:creationId xmlns:a16="http://schemas.microsoft.com/office/drawing/2014/main" id="{7F898C3E-2F19-66AC-D9C5-CEBE2A88482F}"/>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0" name="AutoShape 11">
            <a:extLst>
              <a:ext uri="{FF2B5EF4-FFF2-40B4-BE49-F238E27FC236}">
                <a16:creationId xmlns:a16="http://schemas.microsoft.com/office/drawing/2014/main" id="{40B1DC51-D2A5-A06B-05D6-CAB59536E3CB}"/>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1" name="Freeform 12">
            <a:extLst>
              <a:ext uri="{FF2B5EF4-FFF2-40B4-BE49-F238E27FC236}">
                <a16:creationId xmlns:a16="http://schemas.microsoft.com/office/drawing/2014/main" id="{1A4EC29C-273E-E730-5D1A-B2E3E4D6FEEA}"/>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aphicFrame>
        <p:nvGraphicFramePr>
          <p:cNvPr id="3" name="表格 2">
            <a:extLst>
              <a:ext uri="{FF2B5EF4-FFF2-40B4-BE49-F238E27FC236}">
                <a16:creationId xmlns:a16="http://schemas.microsoft.com/office/drawing/2014/main" id="{C99AD309-E7A8-D0A1-EE37-A3E91A8933E0}"/>
              </a:ext>
            </a:extLst>
          </p:cNvPr>
          <p:cNvGraphicFramePr>
            <a:graphicFrameLocks noGrp="1"/>
          </p:cNvGraphicFramePr>
          <p:nvPr>
            <p:extLst>
              <p:ext uri="{D42A27DB-BD31-4B8C-83A1-F6EECF244321}">
                <p14:modId xmlns:p14="http://schemas.microsoft.com/office/powerpoint/2010/main" val="1144843913"/>
              </p:ext>
            </p:extLst>
          </p:nvPr>
        </p:nvGraphicFramePr>
        <p:xfrm>
          <a:off x="2362200" y="2400300"/>
          <a:ext cx="13134274" cy="6558024"/>
        </p:xfrm>
        <a:graphic>
          <a:graphicData uri="http://schemas.openxmlformats.org/drawingml/2006/table">
            <a:tbl>
              <a:tblPr firstRow="1" bandRow="1">
                <a:tableStyleId>{2D5ABB26-0587-4C30-8999-92F81FD0307C}</a:tableStyleId>
              </a:tblPr>
              <a:tblGrid>
                <a:gridCol w="3037301">
                  <a:extLst>
                    <a:ext uri="{9D8B030D-6E8A-4147-A177-3AD203B41FA5}">
                      <a16:colId xmlns:a16="http://schemas.microsoft.com/office/drawing/2014/main" val="2474531545"/>
                    </a:ext>
                  </a:extLst>
                </a:gridCol>
                <a:gridCol w="10096973">
                  <a:extLst>
                    <a:ext uri="{9D8B030D-6E8A-4147-A177-3AD203B41FA5}">
                      <a16:colId xmlns:a16="http://schemas.microsoft.com/office/drawing/2014/main" val="2164255191"/>
                    </a:ext>
                  </a:extLst>
                </a:gridCol>
              </a:tblGrid>
              <a:tr h="914400">
                <a:tc>
                  <a:txBody>
                    <a:bodyPr/>
                    <a:lstStyle/>
                    <a:p>
                      <a:pPr>
                        <a:buNone/>
                      </a:pPr>
                      <a:r>
                        <a:rPr lang="en-US" sz="2800" dirty="0">
                          <a:latin typeface="Times New Roman" panose="02020603050405020304" pitchFamily="18" charset="0"/>
                          <a:cs typeface="Times New Roman" panose="02020603050405020304" pitchFamily="18" charset="0"/>
                        </a:rPr>
                        <a:t>Elements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a:txBody>
                    <a:bodyPr/>
                    <a:lstStyle/>
                    <a:p>
                      <a:pPr>
                        <a:buNone/>
                      </a:pPr>
                      <a:r>
                        <a:rPr lang="en-US" sz="2800">
                          <a:latin typeface="Times New Roman" panose="02020603050405020304" pitchFamily="18" charset="0"/>
                          <a:cs typeface="Times New Roman" panose="02020603050405020304" pitchFamily="18"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extLst>
                  <a:ext uri="{0D108BD9-81ED-4DB2-BD59-A6C34878D82A}">
                    <a16:rowId xmlns:a16="http://schemas.microsoft.com/office/drawing/2014/main" val="2957526936"/>
                  </a:ext>
                </a:extLst>
              </a:tr>
              <a:tr h="1410906">
                <a:tc>
                  <a:txBody>
                    <a:bodyPr/>
                    <a:lstStyle/>
                    <a:p>
                      <a:pPr>
                        <a:buNone/>
                      </a:pPr>
                      <a:r>
                        <a:rPr lang="en-US" sz="2800" kern="1200" dirty="0">
                          <a:solidFill>
                            <a:schemeClr val="tx1"/>
                          </a:solidFill>
                          <a:latin typeface="Times New Roman" panose="02020603050405020304" pitchFamily="18" charset="0"/>
                          <a:ea typeface="+mn-ea"/>
                          <a:cs typeface="Times New Roman" panose="02020603050405020304" pitchFamily="18" charset="0"/>
                        </a:rPr>
                        <a:t>Orders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TW" sz="2800" kern="1200" dirty="0">
                          <a:solidFill>
                            <a:schemeClr val="tx1"/>
                          </a:solidFill>
                          <a:latin typeface="Times New Roman" panose="02020603050405020304" pitchFamily="18" charset="0"/>
                          <a:ea typeface="+mn-ea"/>
                          <a:cs typeface="Times New Roman" panose="02020603050405020304" pitchFamily="18" charset="0"/>
                        </a:rPr>
                        <a:t>Each order includes its material, type, due date, processing time, and batch size.</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487628"/>
                  </a:ext>
                </a:extLst>
              </a:tr>
              <a:tr h="1410906">
                <a:tc>
                  <a:txBody>
                    <a:bodyPr/>
                    <a:lstStyle/>
                    <a:p>
                      <a:pPr>
                        <a:buNone/>
                      </a:pPr>
                      <a:r>
                        <a:rPr lang="en-US" sz="2800" dirty="0">
                          <a:latin typeface="Times New Roman" panose="02020603050405020304" pitchFamily="18" charset="0"/>
                          <a:cs typeface="Times New Roman" panose="02020603050405020304" pitchFamily="18" charset="0"/>
                        </a:rPr>
                        <a:t>Machines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800" dirty="0">
                          <a:latin typeface="Times New Roman" panose="02020603050405020304" pitchFamily="18" charset="0"/>
                          <a:cs typeface="Times New Roman" panose="02020603050405020304" pitchFamily="18" charset="0"/>
                        </a:rPr>
                        <a:t>Each scheduled order must be assigned to a feasible machine through a production group.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57458"/>
                  </a:ext>
                </a:extLst>
              </a:tr>
              <a:tr h="1410906">
                <a:tc>
                  <a:txBody>
                    <a:bodyPr/>
                    <a:lstStyle/>
                    <a:p>
                      <a:pPr>
                        <a:buNone/>
                      </a:pPr>
                      <a:r>
                        <a:rPr lang="en-US" sz="2800">
                          <a:latin typeface="Times New Roman" panose="02020603050405020304" pitchFamily="18" charset="0"/>
                          <a:cs typeface="Times New Roman" panose="02020603050405020304" pitchFamily="18" charset="0"/>
                        </a:rPr>
                        <a:t>Molds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800" dirty="0">
                          <a:latin typeface="Times New Roman" panose="02020603050405020304" pitchFamily="18" charset="0"/>
                          <a:cs typeface="Times New Roman" panose="02020603050405020304" pitchFamily="18" charset="0"/>
                        </a:rPr>
                        <a:t>Each scheduled order requires a fixed mold type and a fixed number of molds.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979340"/>
                  </a:ext>
                </a:extLst>
              </a:tr>
              <a:tr h="1410906">
                <a:tc>
                  <a:txBody>
                    <a:bodyPr/>
                    <a:lstStyle/>
                    <a:p>
                      <a:pPr>
                        <a:buNone/>
                      </a:pPr>
                      <a:r>
                        <a:rPr lang="en-US" sz="2800" dirty="0">
                          <a:latin typeface="Times New Roman" panose="02020603050405020304" pitchFamily="18" charset="0"/>
                          <a:cs typeface="Times New Roman" panose="02020603050405020304" pitchFamily="18" charset="0"/>
                        </a:rPr>
                        <a:t>Machine Capacity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800" dirty="0">
                          <a:latin typeface="Times New Roman" panose="02020603050405020304" pitchFamily="18" charset="0"/>
                          <a:cs typeface="Times New Roman" panose="02020603050405020304" pitchFamily="18" charset="0"/>
                        </a:rPr>
                        <a:t>An order can be assigned to a machine only if its batch size does not exceed the machine capacity.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876416"/>
                  </a:ext>
                </a:extLst>
              </a:tr>
            </a:tbl>
          </a:graphicData>
        </a:graphic>
      </p:graphicFrame>
      <p:pic>
        <p:nvPicPr>
          <p:cNvPr id="5" name="圖形 4" descr="機器人手部 外框">
            <a:extLst>
              <a:ext uri="{FF2B5EF4-FFF2-40B4-BE49-F238E27FC236}">
                <a16:creationId xmlns:a16="http://schemas.microsoft.com/office/drawing/2014/main" id="{96053B59-564C-6D14-4F33-DD1B57175D7B}"/>
              </a:ext>
            </a:extLst>
          </p:cNvPr>
          <p:cNvPicPr>
            <a:picLocks noChangeAspect="1"/>
          </p:cNvPicPr>
          <p:nvPr/>
        </p:nvPicPr>
        <p:blipFill>
          <a:blip>
            <a:duotone>
              <a:schemeClr val="bg2">
                <a:shade val="45000"/>
                <a:satMod val="135000"/>
              </a:schemeClr>
              <a:prstClr val="white"/>
            </a:duotone>
            <a:extLst>
              <a:ext uri="{96DAC541-7B7A-43D3-8B79-37D633B846F1}">
                <asvg:svgBlip xmlns:asvg="http://schemas.microsoft.com/office/drawing/2016/SVG/main" r:embed="rId5"/>
              </a:ext>
            </a:extLst>
          </a:blip>
          <a:stretch>
            <a:fillRect/>
          </a:stretch>
        </p:blipFill>
        <p:spPr>
          <a:xfrm>
            <a:off x="15775495" y="62307"/>
            <a:ext cx="2172682" cy="2172682"/>
          </a:xfrm>
          <a:prstGeom prst="rect">
            <a:avLst/>
          </a:prstGeom>
        </p:spPr>
      </p:pic>
    </p:spTree>
    <p:extLst>
      <p:ext uri="{BB962C8B-B14F-4D97-AF65-F5344CB8AC3E}">
        <p14:creationId xmlns:p14="http://schemas.microsoft.com/office/powerpoint/2010/main" val="1710854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9998F-7599-4E1E-A054-3F6977B4815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37886BF-9DB3-60A3-DC54-3F8C674B01AE}"/>
              </a:ext>
            </a:extLst>
          </p:cNvPr>
          <p:cNvSpPr>
            <a:spLocks/>
          </p:cNvSpPr>
          <p:nvPr/>
        </p:nvSpPr>
        <p:spPr>
          <a:xfrm rot="634158">
            <a:off x="-2604617" y="-1000841"/>
            <a:ext cx="23926799" cy="12863671"/>
          </a:xfrm>
          <a:custGeom>
            <a:avLst/>
            <a:gdLst/>
            <a:ahLst/>
            <a:cxnLst/>
            <a:rect l="l" t="t" r="r" b="b"/>
            <a:pathLst>
              <a:path w="18930865" h="18758766">
                <a:moveTo>
                  <a:pt x="0" y="0"/>
                </a:moveTo>
                <a:lnTo>
                  <a:pt x="18930865" y="0"/>
                </a:lnTo>
                <a:lnTo>
                  <a:pt x="18930865" y="18758767"/>
                </a:lnTo>
                <a:lnTo>
                  <a:pt x="0" y="18758767"/>
                </a:lnTo>
                <a:lnTo>
                  <a:pt x="0" y="0"/>
                </a:lnTo>
                <a:close/>
              </a:path>
            </a:pathLst>
          </a:custGeom>
          <a:blipFill>
            <a:blip>
              <a:alphaModFix amt="7999"/>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8" name="TextBox 7">
            <a:extLst>
              <a:ext uri="{FF2B5EF4-FFF2-40B4-BE49-F238E27FC236}">
                <a16:creationId xmlns:a16="http://schemas.microsoft.com/office/drawing/2014/main" id="{11FD8F78-80F4-3CF1-4B0F-7034A45EA5A8}"/>
              </a:ext>
            </a:extLst>
          </p:cNvPr>
          <p:cNvSpPr txBox="1"/>
          <p:nvPr/>
        </p:nvSpPr>
        <p:spPr>
          <a:xfrm>
            <a:off x="986877" y="104761"/>
            <a:ext cx="6099723" cy="1144544"/>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Problem Description</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9" name="AutoShape 4">
            <a:extLst>
              <a:ext uri="{FF2B5EF4-FFF2-40B4-BE49-F238E27FC236}">
                <a16:creationId xmlns:a16="http://schemas.microsoft.com/office/drawing/2014/main" id="{717677BF-C2BE-8D37-3436-88583E62E7FF}"/>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0" name="AutoShape 11">
            <a:extLst>
              <a:ext uri="{FF2B5EF4-FFF2-40B4-BE49-F238E27FC236}">
                <a16:creationId xmlns:a16="http://schemas.microsoft.com/office/drawing/2014/main" id="{B9B242C5-B0DE-C180-438F-5353A4D19E22}"/>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1" name="Freeform 12">
            <a:extLst>
              <a:ext uri="{FF2B5EF4-FFF2-40B4-BE49-F238E27FC236}">
                <a16:creationId xmlns:a16="http://schemas.microsoft.com/office/drawing/2014/main" id="{C0F86D9B-1717-63A9-2EC1-C0CA5EDCCE94}"/>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aphicFrame>
        <p:nvGraphicFramePr>
          <p:cNvPr id="3" name="表格 2">
            <a:extLst>
              <a:ext uri="{FF2B5EF4-FFF2-40B4-BE49-F238E27FC236}">
                <a16:creationId xmlns:a16="http://schemas.microsoft.com/office/drawing/2014/main" id="{F34D38FF-932D-1EFB-BF37-47AE3AA4BEEA}"/>
              </a:ext>
            </a:extLst>
          </p:cNvPr>
          <p:cNvGraphicFramePr>
            <a:graphicFrameLocks noGrp="1"/>
          </p:cNvGraphicFramePr>
          <p:nvPr>
            <p:extLst>
              <p:ext uri="{D42A27DB-BD31-4B8C-83A1-F6EECF244321}">
                <p14:modId xmlns:p14="http://schemas.microsoft.com/office/powerpoint/2010/main" val="2044449187"/>
              </p:ext>
            </p:extLst>
          </p:nvPr>
        </p:nvGraphicFramePr>
        <p:xfrm>
          <a:off x="2362200" y="2400300"/>
          <a:ext cx="13134274" cy="6400800"/>
        </p:xfrm>
        <a:graphic>
          <a:graphicData uri="http://schemas.openxmlformats.org/drawingml/2006/table">
            <a:tbl>
              <a:tblPr firstRow="1" bandRow="1">
                <a:tableStyleId>{2D5ABB26-0587-4C30-8999-92F81FD0307C}</a:tableStyleId>
              </a:tblPr>
              <a:tblGrid>
                <a:gridCol w="3037301">
                  <a:extLst>
                    <a:ext uri="{9D8B030D-6E8A-4147-A177-3AD203B41FA5}">
                      <a16:colId xmlns:a16="http://schemas.microsoft.com/office/drawing/2014/main" val="2474531545"/>
                    </a:ext>
                  </a:extLst>
                </a:gridCol>
                <a:gridCol w="10096973">
                  <a:extLst>
                    <a:ext uri="{9D8B030D-6E8A-4147-A177-3AD203B41FA5}">
                      <a16:colId xmlns:a16="http://schemas.microsoft.com/office/drawing/2014/main" val="2164255191"/>
                    </a:ext>
                  </a:extLst>
                </a:gridCol>
              </a:tblGrid>
              <a:tr h="914400">
                <a:tc>
                  <a:txBody>
                    <a:bodyPr/>
                    <a:lstStyle/>
                    <a:p>
                      <a:pPr>
                        <a:buNone/>
                      </a:pPr>
                      <a:r>
                        <a:rPr lang="en-US" sz="2800" dirty="0">
                          <a:latin typeface="Times New Roman" panose="02020603050405020304" pitchFamily="18" charset="0"/>
                          <a:cs typeface="Times New Roman" panose="02020603050405020304" pitchFamily="18" charset="0"/>
                        </a:rPr>
                        <a:t>Elements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a:txBody>
                    <a:bodyPr/>
                    <a:lstStyle/>
                    <a:p>
                      <a:pPr>
                        <a:buNone/>
                      </a:pPr>
                      <a:r>
                        <a:rPr lang="en-US" sz="2800">
                          <a:latin typeface="Times New Roman" panose="02020603050405020304" pitchFamily="18" charset="0"/>
                          <a:cs typeface="Times New Roman" panose="02020603050405020304" pitchFamily="18"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extLst>
                  <a:ext uri="{0D108BD9-81ED-4DB2-BD59-A6C34878D82A}">
                    <a16:rowId xmlns:a16="http://schemas.microsoft.com/office/drawing/2014/main" val="2957526936"/>
                  </a:ext>
                </a:extLst>
              </a:tr>
              <a:tr h="1371600">
                <a:tc>
                  <a:txBody>
                    <a:bodyPr/>
                    <a:lstStyle/>
                    <a:p>
                      <a:pPr>
                        <a:buNone/>
                      </a:pPr>
                      <a:r>
                        <a:rPr lang="en-US" sz="2800" kern="1200" dirty="0">
                          <a:solidFill>
                            <a:schemeClr val="tx1"/>
                          </a:solidFill>
                          <a:latin typeface="Times New Roman" panose="02020603050405020304" pitchFamily="18" charset="0"/>
                          <a:ea typeface="+mn-ea"/>
                          <a:cs typeface="Times New Roman" panose="02020603050405020304" pitchFamily="18" charset="0"/>
                        </a:rPr>
                        <a:t>Machine Cavities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TW" sz="2800" kern="1200" dirty="0">
                          <a:solidFill>
                            <a:schemeClr val="tx1"/>
                          </a:solidFill>
                          <a:latin typeface="Times New Roman" panose="02020603050405020304" pitchFamily="18" charset="0"/>
                          <a:ea typeface="+mn-ea"/>
                          <a:cs typeface="Times New Roman" panose="02020603050405020304" pitchFamily="18" charset="0"/>
                        </a:rPr>
                        <a:t>Each machine has a fixed number of cavities, and each mold occupies one cavity during processing.</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487628"/>
                  </a:ext>
                </a:extLst>
              </a:tr>
              <a:tr h="1371600">
                <a:tc>
                  <a:txBody>
                    <a:bodyPr/>
                    <a:lstStyle/>
                    <a:p>
                      <a:pPr>
                        <a:buNone/>
                      </a:pPr>
                      <a:r>
                        <a:rPr lang="en-US" sz="2800" dirty="0">
                          <a:latin typeface="Times New Roman" panose="02020603050405020304" pitchFamily="18" charset="0"/>
                          <a:cs typeface="Times New Roman" panose="02020603050405020304" pitchFamily="18" charset="0"/>
                        </a:rPr>
                        <a:t>Setup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800" dirty="0">
                          <a:latin typeface="Times New Roman" panose="02020603050405020304" pitchFamily="18" charset="0"/>
                          <a:cs typeface="Times New Roman" panose="02020603050405020304" pitchFamily="18" charset="0"/>
                        </a:rPr>
                        <a:t>Setup time depends on the sequence of orders and may include mount, clean, tune, and unmount operations.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57458"/>
                  </a:ext>
                </a:extLst>
              </a:tr>
              <a:tr h="1371600">
                <a:tc>
                  <a:txBody>
                    <a:bodyPr/>
                    <a:lstStyle/>
                    <a:p>
                      <a:pPr>
                        <a:buNone/>
                      </a:pPr>
                      <a:r>
                        <a:rPr lang="en-US" sz="2800" dirty="0">
                          <a:latin typeface="Times New Roman" panose="02020603050405020304" pitchFamily="18" charset="0"/>
                          <a:cs typeface="Times New Roman" panose="02020603050405020304" pitchFamily="18" charset="0"/>
                        </a:rPr>
                        <a:t>Maintenance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800" dirty="0">
                          <a:latin typeface="Times New Roman" panose="02020603050405020304" pitchFamily="18" charset="0"/>
                          <a:cs typeface="Times New Roman" panose="02020603050405020304" pitchFamily="18" charset="0"/>
                        </a:rPr>
                        <a:t>Machines may have unavailable time intervals during which neither processing nor setup operations can be performed.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979340"/>
                  </a:ext>
                </a:extLst>
              </a:tr>
              <a:tr h="1371600">
                <a:tc>
                  <a:txBody>
                    <a:bodyPr/>
                    <a:lstStyle/>
                    <a:p>
                      <a:pPr>
                        <a:buNone/>
                      </a:pPr>
                      <a:r>
                        <a:rPr lang="en-US" sz="2800" dirty="0">
                          <a:latin typeface="Times New Roman" panose="02020603050405020304" pitchFamily="18" charset="0"/>
                          <a:cs typeface="Times New Roman" panose="02020603050405020304" pitchFamily="18" charset="0"/>
                        </a:rPr>
                        <a:t>Due 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800" dirty="0">
                          <a:latin typeface="Times New Roman" panose="02020603050405020304" pitchFamily="18" charset="0"/>
                          <a:cs typeface="Times New Roman" panose="02020603050405020304" pitchFamily="18" charset="0"/>
                        </a:rPr>
                        <a:t>A scheduled order must be completed before or at its due date; otherwise, it is treated as unscheduled.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876416"/>
                  </a:ext>
                </a:extLst>
              </a:tr>
            </a:tbl>
          </a:graphicData>
        </a:graphic>
      </p:graphicFrame>
      <p:pic>
        <p:nvPicPr>
          <p:cNvPr id="4" name="圖形 3" descr="機器人手部 外框">
            <a:extLst>
              <a:ext uri="{FF2B5EF4-FFF2-40B4-BE49-F238E27FC236}">
                <a16:creationId xmlns:a16="http://schemas.microsoft.com/office/drawing/2014/main" id="{8FB6BF89-F637-ACF3-94E9-A7F68D984A4D}"/>
              </a:ext>
            </a:extLst>
          </p:cNvPr>
          <p:cNvPicPr>
            <a:picLocks noChangeAspect="1"/>
          </p:cNvPicPr>
          <p:nvPr/>
        </p:nvPicPr>
        <p:blipFill>
          <a:blip>
            <a:duotone>
              <a:schemeClr val="bg2">
                <a:shade val="45000"/>
                <a:satMod val="135000"/>
              </a:schemeClr>
              <a:prstClr val="white"/>
            </a:duotone>
            <a:extLst>
              <a:ext uri="{96DAC541-7B7A-43D3-8B79-37D633B846F1}">
                <asvg:svgBlip xmlns:asvg="http://schemas.microsoft.com/office/drawing/2016/SVG/main" r:embed="rId5"/>
              </a:ext>
            </a:extLst>
          </a:blip>
          <a:stretch>
            <a:fillRect/>
          </a:stretch>
        </p:blipFill>
        <p:spPr>
          <a:xfrm>
            <a:off x="15775495" y="62307"/>
            <a:ext cx="2172682" cy="2172682"/>
          </a:xfrm>
          <a:prstGeom prst="rect">
            <a:avLst/>
          </a:prstGeom>
        </p:spPr>
      </p:pic>
    </p:spTree>
    <p:extLst>
      <p:ext uri="{BB962C8B-B14F-4D97-AF65-F5344CB8AC3E}">
        <p14:creationId xmlns:p14="http://schemas.microsoft.com/office/powerpoint/2010/main" val="755276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9E3F9-460D-ED4C-E62B-CE5478F9D7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2B31FA8-D570-F5DA-7267-7019E79A0A59}"/>
              </a:ext>
            </a:extLst>
          </p:cNvPr>
          <p:cNvSpPr/>
          <p:nvPr/>
        </p:nvSpPr>
        <p:spPr>
          <a:xfrm rot="-8100000">
            <a:off x="10079440" y="3207230"/>
            <a:ext cx="14359719" cy="12767096"/>
          </a:xfrm>
          <a:custGeom>
            <a:avLst/>
            <a:gdLst/>
            <a:ahLst/>
            <a:cxnLst/>
            <a:rect l="l" t="t" r="r" b="b"/>
            <a:pathLst>
              <a:path w="14359719" h="12767096">
                <a:moveTo>
                  <a:pt x="0" y="0"/>
                </a:moveTo>
                <a:lnTo>
                  <a:pt x="14359720" y="0"/>
                </a:lnTo>
                <a:lnTo>
                  <a:pt x="14359720" y="12767096"/>
                </a:lnTo>
                <a:lnTo>
                  <a:pt x="0" y="12767096"/>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a:extLst>
              <a:ext uri="{FF2B5EF4-FFF2-40B4-BE49-F238E27FC236}">
                <a16:creationId xmlns:a16="http://schemas.microsoft.com/office/drawing/2014/main" id="{ED7AA38C-FA3C-417A-3364-7814252AD6FA}"/>
              </a:ext>
            </a:extLst>
          </p:cNvPr>
          <p:cNvSpPr txBox="1"/>
          <p:nvPr/>
        </p:nvSpPr>
        <p:spPr>
          <a:xfrm>
            <a:off x="986877" y="104761"/>
            <a:ext cx="7526223" cy="1144544"/>
          </a:xfrm>
          <a:prstGeom prst="rect">
            <a:avLst/>
          </a:prstGeom>
        </p:spPr>
        <p:txBody>
          <a:bodyPr wrap="square" lIns="0" tIns="0" rIns="0" bIns="0" rtlCol="0" anchor="t">
            <a:spAutoFit/>
          </a:bodyPr>
          <a:lstStyle/>
          <a:p>
            <a:pPr>
              <a:lnSpc>
                <a:spcPts val="10358"/>
              </a:lnSpc>
            </a:pPr>
            <a:r>
              <a:rPr lang="en-US" altLang="zh-TW" sz="4800" b="1" dirty="0">
                <a:solidFill>
                  <a:srgbClr val="695C4A"/>
                </a:solidFill>
                <a:latin typeface="Times New Roman" panose="02020603050405020304" pitchFamily="18" charset="0"/>
                <a:cs typeface="Times New Roman" panose="02020603050405020304" pitchFamily="18" charset="0"/>
              </a:rPr>
              <a:t>Partial Cavity Production</a:t>
            </a: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 </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8" name="TextBox 8">
            <a:extLst>
              <a:ext uri="{FF2B5EF4-FFF2-40B4-BE49-F238E27FC236}">
                <a16:creationId xmlns:a16="http://schemas.microsoft.com/office/drawing/2014/main" id="{22992646-AACE-8E4E-0699-4799F599AE74}"/>
              </a:ext>
            </a:extLst>
          </p:cNvPr>
          <p:cNvSpPr txBox="1"/>
          <p:nvPr/>
        </p:nvSpPr>
        <p:spPr>
          <a:xfrm>
            <a:off x="1524000" y="2971751"/>
            <a:ext cx="15240000" cy="4343497"/>
          </a:xfrm>
          <a:prstGeom prst="rect">
            <a:avLst/>
          </a:prstGeom>
        </p:spPr>
        <p:txBody>
          <a:bodyPr wrap="square" lIns="0" tIns="0" rIns="0" bIns="0" rtlCol="0" anchor="t">
            <a:spAutoFit/>
          </a:bodyPr>
          <a:lstStyle/>
          <a:p>
            <a:pPr lvl="0">
              <a:lnSpc>
                <a:spcPct val="150000"/>
              </a:lnSpc>
            </a:pPr>
            <a:r>
              <a:rPr lang="en-US" sz="3200" dirty="0">
                <a:solidFill>
                  <a:srgbClr val="695C4A"/>
                </a:solidFill>
                <a:latin typeface="Times New Roman" panose="02020603050405020304" pitchFamily="18" charset="0"/>
                <a:ea typeface="Livvic"/>
                <a:cs typeface="Times New Roman" panose="02020603050405020304" pitchFamily="18" charset="0"/>
                <a:sym typeface="Livvic"/>
              </a:rPr>
              <a:t>Partial cavity production is an optional production strategy.</a:t>
            </a:r>
            <a:r>
              <a:rPr lang="zh-TW" altLang="en-US" sz="3200" dirty="0">
                <a:solidFill>
                  <a:srgbClr val="695C4A"/>
                </a:solidFill>
                <a:latin typeface="Times New Roman" panose="02020603050405020304" pitchFamily="18" charset="0"/>
                <a:ea typeface="Livvic"/>
                <a:cs typeface="Times New Roman" panose="02020603050405020304" pitchFamily="18" charset="0"/>
                <a:sym typeface="Livvic"/>
              </a:rPr>
              <a:t> </a:t>
            </a:r>
            <a:r>
              <a:rPr lang="en-US" sz="3200" dirty="0">
                <a:solidFill>
                  <a:srgbClr val="695C4A"/>
                </a:solidFill>
                <a:latin typeface="Times New Roman" panose="02020603050405020304" pitchFamily="18" charset="0"/>
                <a:ea typeface="Livvic"/>
                <a:cs typeface="Times New Roman" panose="02020603050405020304" pitchFamily="18" charset="0"/>
                <a:sym typeface="Livvic"/>
              </a:rPr>
              <a:t>When several orders use </a:t>
            </a:r>
            <a:r>
              <a:rPr lang="en-US" sz="3200" dirty="0">
                <a:solidFill>
                  <a:srgbClr val="FF0000"/>
                </a:solidFill>
                <a:latin typeface="Times New Roman" panose="02020603050405020304" pitchFamily="18" charset="0"/>
                <a:ea typeface="Livvic"/>
                <a:cs typeface="Times New Roman" panose="02020603050405020304" pitchFamily="18" charset="0"/>
                <a:sym typeface="Livvic"/>
              </a:rPr>
              <a:t>different molds</a:t>
            </a:r>
            <a:r>
              <a:rPr lang="en-US" sz="3200" dirty="0">
                <a:solidFill>
                  <a:srgbClr val="695C4A"/>
                </a:solidFill>
                <a:latin typeface="Times New Roman" panose="02020603050405020304" pitchFamily="18" charset="0"/>
                <a:ea typeface="Livvic"/>
                <a:cs typeface="Times New Roman" panose="02020603050405020304" pitchFamily="18" charset="0"/>
                <a:sym typeface="Livvic"/>
              </a:rPr>
              <a:t>, they may be scheduled consecutively on the same machine as a production group by blocking part of the cavities. Within the same production group, additional mount and unmount operations are not required between consecutive orders. </a:t>
            </a:r>
            <a:r>
              <a:rPr lang="en-US" altLang="zh-TW" sz="3200" dirty="0">
                <a:solidFill>
                  <a:srgbClr val="695C4A"/>
                </a:solidFill>
                <a:latin typeface="Times New Roman" panose="02020603050405020304" pitchFamily="18" charset="0"/>
                <a:ea typeface="Livvic"/>
                <a:cs typeface="Times New Roman" panose="02020603050405020304" pitchFamily="18" charset="0"/>
                <a:sym typeface="Livvic"/>
              </a:rPr>
              <a:t>Meanwhile</a:t>
            </a:r>
            <a:r>
              <a:rPr lang="en-US" sz="3200" dirty="0">
                <a:solidFill>
                  <a:srgbClr val="695C4A"/>
                </a:solidFill>
                <a:latin typeface="Times New Roman" panose="02020603050405020304" pitchFamily="18" charset="0"/>
                <a:ea typeface="Livvic"/>
                <a:cs typeface="Times New Roman" panose="02020603050405020304" pitchFamily="18" charset="0"/>
                <a:sym typeface="Livvic"/>
              </a:rPr>
              <a:t>, clean and tune operations are still determined by the type and material relationship between consecutive orders.</a:t>
            </a:r>
            <a:r>
              <a:rPr lang="zh-TW" altLang="en-US" sz="3200" dirty="0">
                <a:solidFill>
                  <a:srgbClr val="695C4A"/>
                </a:solidFill>
                <a:latin typeface="Times New Roman" panose="02020603050405020304" pitchFamily="18" charset="0"/>
                <a:ea typeface="Livvic"/>
                <a:cs typeface="Times New Roman" panose="02020603050405020304" pitchFamily="18" charset="0"/>
                <a:sym typeface="Livvic"/>
              </a:rPr>
              <a:t> </a:t>
            </a:r>
            <a:r>
              <a:rPr lang="en-US" sz="3200" dirty="0">
                <a:solidFill>
                  <a:srgbClr val="695C4A"/>
                </a:solidFill>
                <a:latin typeface="Times New Roman" panose="02020603050405020304" pitchFamily="18" charset="0"/>
                <a:ea typeface="Livvic"/>
                <a:cs typeface="Times New Roman" panose="02020603050405020304" pitchFamily="18" charset="0"/>
                <a:sym typeface="Livvic"/>
              </a:rPr>
              <a:t>However, this strategy </a:t>
            </a:r>
            <a:r>
              <a:rPr lang="en-US" sz="3200" dirty="0">
                <a:solidFill>
                  <a:srgbClr val="FF0000"/>
                </a:solidFill>
                <a:latin typeface="Times New Roman" panose="02020603050405020304" pitchFamily="18" charset="0"/>
                <a:ea typeface="Livvic"/>
                <a:cs typeface="Times New Roman" panose="02020603050405020304" pitchFamily="18" charset="0"/>
                <a:sym typeface="Livvic"/>
              </a:rPr>
              <a:t>increases the processing time of every orders in the group</a:t>
            </a:r>
            <a:r>
              <a:rPr lang="en-US" sz="3200" dirty="0">
                <a:solidFill>
                  <a:srgbClr val="695C4A"/>
                </a:solidFill>
                <a:latin typeface="Times New Roman" panose="02020603050405020304" pitchFamily="18" charset="0"/>
                <a:ea typeface="Livvic"/>
                <a:cs typeface="Times New Roman" panose="02020603050405020304" pitchFamily="18" charset="0"/>
                <a:sym typeface="Livvic"/>
              </a:rPr>
              <a:t>.</a:t>
            </a:r>
            <a:endParaRPr lang="en-US" sz="3200" dirty="0">
              <a:solidFill>
                <a:srgbClr val="FF0000"/>
              </a:solidFill>
              <a:latin typeface="Times New Roman" panose="02020603050405020304" pitchFamily="18" charset="0"/>
              <a:ea typeface="Livvic"/>
              <a:cs typeface="Times New Roman" panose="02020603050405020304" pitchFamily="18" charset="0"/>
              <a:sym typeface="Livvic"/>
            </a:endParaRPr>
          </a:p>
        </p:txBody>
      </p:sp>
      <p:grpSp>
        <p:nvGrpSpPr>
          <p:cNvPr id="5" name="群組 4">
            <a:extLst>
              <a:ext uri="{FF2B5EF4-FFF2-40B4-BE49-F238E27FC236}">
                <a16:creationId xmlns:a16="http://schemas.microsoft.com/office/drawing/2014/main" id="{A4B4D87E-E1F2-CA75-B54A-259C23094587}"/>
              </a:ext>
            </a:extLst>
          </p:cNvPr>
          <p:cNvGrpSpPr/>
          <p:nvPr/>
        </p:nvGrpSpPr>
        <p:grpSpPr>
          <a:xfrm>
            <a:off x="-8244" y="0"/>
            <a:ext cx="11688724" cy="2404560"/>
            <a:chOff x="-8244" y="0"/>
            <a:chExt cx="11688724" cy="2404560"/>
          </a:xfrm>
        </p:grpSpPr>
        <p:sp>
          <p:nvSpPr>
            <p:cNvPr id="4" name="AutoShape 4">
              <a:extLst>
                <a:ext uri="{FF2B5EF4-FFF2-40B4-BE49-F238E27FC236}">
                  <a16:creationId xmlns:a16="http://schemas.microsoft.com/office/drawing/2014/main" id="{30C197CD-5862-6BA4-0A14-5E866B60FB7B}"/>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1" name="AutoShape 11">
              <a:extLst>
                <a:ext uri="{FF2B5EF4-FFF2-40B4-BE49-F238E27FC236}">
                  <a16:creationId xmlns:a16="http://schemas.microsoft.com/office/drawing/2014/main" id="{30428555-95A3-11C4-C03B-C90C6BCE37C2}"/>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Freeform 12">
              <a:extLst>
                <a:ext uri="{FF2B5EF4-FFF2-40B4-BE49-F238E27FC236}">
                  <a16:creationId xmlns:a16="http://schemas.microsoft.com/office/drawing/2014/main" id="{6E0F9EDB-58D9-87CA-4690-4A7F85A7EBCC}"/>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pSp>
    </p:spTree>
    <p:extLst>
      <p:ext uri="{BB962C8B-B14F-4D97-AF65-F5344CB8AC3E}">
        <p14:creationId xmlns:p14="http://schemas.microsoft.com/office/powerpoint/2010/main" val="508986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2C437-5574-F1B4-1934-94E31505FF3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0E820ED-F29A-B9EE-682E-CA15C76ACC84}"/>
              </a:ext>
            </a:extLst>
          </p:cNvPr>
          <p:cNvSpPr/>
          <p:nvPr/>
        </p:nvSpPr>
        <p:spPr>
          <a:xfrm rot="-8100000">
            <a:off x="10079440" y="3207230"/>
            <a:ext cx="14359719" cy="12767096"/>
          </a:xfrm>
          <a:custGeom>
            <a:avLst/>
            <a:gdLst/>
            <a:ahLst/>
            <a:cxnLst/>
            <a:rect l="l" t="t" r="r" b="b"/>
            <a:pathLst>
              <a:path w="14359719" h="12767096">
                <a:moveTo>
                  <a:pt x="0" y="0"/>
                </a:moveTo>
                <a:lnTo>
                  <a:pt x="14359720" y="0"/>
                </a:lnTo>
                <a:lnTo>
                  <a:pt x="14359720" y="12767096"/>
                </a:lnTo>
                <a:lnTo>
                  <a:pt x="0" y="12767096"/>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a:extLst>
              <a:ext uri="{FF2B5EF4-FFF2-40B4-BE49-F238E27FC236}">
                <a16:creationId xmlns:a16="http://schemas.microsoft.com/office/drawing/2014/main" id="{C6E44032-3DE5-C8BB-E9BD-527E0A9AC00C}"/>
              </a:ext>
            </a:extLst>
          </p:cNvPr>
          <p:cNvSpPr txBox="1"/>
          <p:nvPr/>
        </p:nvSpPr>
        <p:spPr>
          <a:xfrm>
            <a:off x="986877" y="104761"/>
            <a:ext cx="7526223" cy="1144544"/>
          </a:xfrm>
          <a:prstGeom prst="rect">
            <a:avLst/>
          </a:prstGeom>
        </p:spPr>
        <p:txBody>
          <a:bodyPr wrap="square" lIns="0" tIns="0" rIns="0" bIns="0" rtlCol="0" anchor="t">
            <a:spAutoFit/>
          </a:bodyPr>
          <a:lstStyle/>
          <a:p>
            <a:pPr>
              <a:lnSpc>
                <a:spcPts val="10358"/>
              </a:lnSpc>
            </a:pPr>
            <a:r>
              <a:rPr lang="en-US" altLang="zh-TW" sz="4800" b="1" dirty="0">
                <a:solidFill>
                  <a:srgbClr val="695C4A"/>
                </a:solidFill>
                <a:latin typeface="Times New Roman" panose="02020603050405020304" pitchFamily="18" charset="0"/>
                <a:cs typeface="Times New Roman" panose="02020603050405020304" pitchFamily="18" charset="0"/>
              </a:rPr>
              <a:t>Partial Cavity Production</a:t>
            </a: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 </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grpSp>
        <p:nvGrpSpPr>
          <p:cNvPr id="5" name="群組 4">
            <a:extLst>
              <a:ext uri="{FF2B5EF4-FFF2-40B4-BE49-F238E27FC236}">
                <a16:creationId xmlns:a16="http://schemas.microsoft.com/office/drawing/2014/main" id="{7680A480-C305-67C4-F006-9B63252C87A5}"/>
              </a:ext>
            </a:extLst>
          </p:cNvPr>
          <p:cNvGrpSpPr/>
          <p:nvPr/>
        </p:nvGrpSpPr>
        <p:grpSpPr>
          <a:xfrm>
            <a:off x="-8244" y="0"/>
            <a:ext cx="11688724" cy="2404560"/>
            <a:chOff x="-8244" y="0"/>
            <a:chExt cx="11688724" cy="2404560"/>
          </a:xfrm>
        </p:grpSpPr>
        <p:sp>
          <p:nvSpPr>
            <p:cNvPr id="4" name="AutoShape 4">
              <a:extLst>
                <a:ext uri="{FF2B5EF4-FFF2-40B4-BE49-F238E27FC236}">
                  <a16:creationId xmlns:a16="http://schemas.microsoft.com/office/drawing/2014/main" id="{510944B8-DC50-3860-D018-77F19AD25718}"/>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1" name="AutoShape 11">
              <a:extLst>
                <a:ext uri="{FF2B5EF4-FFF2-40B4-BE49-F238E27FC236}">
                  <a16:creationId xmlns:a16="http://schemas.microsoft.com/office/drawing/2014/main" id="{5EF8B73C-37E9-BB92-9F44-F7449C8DC794}"/>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Freeform 12">
              <a:extLst>
                <a:ext uri="{FF2B5EF4-FFF2-40B4-BE49-F238E27FC236}">
                  <a16:creationId xmlns:a16="http://schemas.microsoft.com/office/drawing/2014/main" id="{A2AC57E4-B564-C203-9709-5B387FBD87B2}"/>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634DD71B-2877-B703-83B0-CB4393FC0334}"/>
                  </a:ext>
                </a:extLst>
              </p:cNvPr>
              <p:cNvSpPr txBox="1"/>
              <p:nvPr/>
            </p:nvSpPr>
            <p:spPr>
              <a:xfrm>
                <a:off x="1509712" y="2780133"/>
                <a:ext cx="15268575" cy="5786520"/>
              </a:xfrm>
              <a:prstGeom prst="rect">
                <a:avLst/>
              </a:prstGeom>
              <a:noFill/>
            </p:spPr>
            <p:txBody>
              <a:bodyPr wrap="square" rtlCol="0">
                <a:spAutoFit/>
              </a:bodyPr>
              <a:lstStyle/>
              <a:p>
                <a:pPr>
                  <a:lnSpc>
                    <a:spcPct val="150000"/>
                  </a:lnSpc>
                </a:pPr>
                <a:r>
                  <a:rPr lang="en-US" altLang="zh-TW" sz="3200" dirty="0">
                    <a:solidFill>
                      <a:srgbClr val="695C4A"/>
                    </a:solidFill>
                    <a:latin typeface="Times New Roman" panose="02020603050405020304" pitchFamily="18" charset="0"/>
                    <a:ea typeface="Livvic"/>
                    <a:cs typeface="Times New Roman" panose="02020603050405020304" pitchFamily="18" charset="0"/>
                  </a:rPr>
                  <a:t>A partial cavity production group can be assigned to a machine only if:</a:t>
                </a:r>
              </a:p>
              <a:p>
                <a:pPr marL="457200" indent="-457200">
                  <a:lnSpc>
                    <a:spcPct val="150000"/>
                  </a:lnSpc>
                  <a:buFont typeface="Arial" panose="020B0604020202020204" pitchFamily="34" charset="0"/>
                  <a:buChar char="•"/>
                </a:pPr>
                <a:r>
                  <a:rPr lang="en-US" altLang="zh-TW" sz="3200" dirty="0">
                    <a:solidFill>
                      <a:srgbClr val="695C4A"/>
                    </a:solidFill>
                    <a:latin typeface="Times New Roman" panose="02020603050405020304" pitchFamily="18" charset="0"/>
                    <a:ea typeface="Livvic"/>
                    <a:cs typeface="Times New Roman" panose="02020603050405020304" pitchFamily="18" charset="0"/>
                  </a:rPr>
                  <a:t>This machine is feasible for all orders in the group.</a:t>
                </a:r>
              </a:p>
              <a:p>
                <a:pPr marL="457200" indent="-457200">
                  <a:lnSpc>
                    <a:spcPct val="150000"/>
                  </a:lnSpc>
                  <a:buFont typeface="Arial" panose="020B0604020202020204" pitchFamily="34" charset="0"/>
                  <a:buChar char="•"/>
                </a:pPr>
                <a:r>
                  <a:rPr lang="en-US" altLang="zh-TW" sz="3200" dirty="0">
                    <a:solidFill>
                      <a:srgbClr val="695C4A"/>
                    </a:solidFill>
                    <a:latin typeface="Times New Roman" panose="02020603050405020304" pitchFamily="18" charset="0"/>
                    <a:ea typeface="Livvic"/>
                    <a:cs typeface="Times New Roman" panose="02020603050405020304" pitchFamily="18" charset="0"/>
                  </a:rPr>
                  <a:t>The total number of molds required in the group </a:t>
                </a:r>
                <a14:m>
                  <m:oMath xmlns:m="http://schemas.openxmlformats.org/officeDocument/2006/math">
                    <m:r>
                      <a:rPr lang="en-US" altLang="zh-TW" sz="3200" b="0" i="1" smtClean="0">
                        <a:solidFill>
                          <a:srgbClr val="695C4A"/>
                        </a:solidFill>
                        <a:latin typeface="Cambria Math" panose="02040503050406030204" pitchFamily="18" charset="0"/>
                        <a:ea typeface="Livvic"/>
                        <a:cs typeface="Times New Roman" panose="02020603050405020304" pitchFamily="18" charset="0"/>
                      </a:rPr>
                      <m:t>≤</m:t>
                    </m:r>
                  </m:oMath>
                </a14:m>
                <a:r>
                  <a:rPr lang="en-US" altLang="zh-TW" sz="3200" dirty="0">
                    <a:solidFill>
                      <a:srgbClr val="695C4A"/>
                    </a:solidFill>
                    <a:latin typeface="Times New Roman" panose="02020603050405020304" pitchFamily="18" charset="0"/>
                    <a:ea typeface="Livvic"/>
                    <a:cs typeface="Times New Roman" panose="02020603050405020304" pitchFamily="18" charset="0"/>
                  </a:rPr>
                  <a:t> the machine cavities.</a:t>
                </a:r>
              </a:p>
              <a:p>
                <a:pPr>
                  <a:lnSpc>
                    <a:spcPct val="150000"/>
                  </a:lnSpc>
                </a:pPr>
                <a:endParaRPr lang="en-US" altLang="zh-TW" sz="3200" dirty="0">
                  <a:solidFill>
                    <a:srgbClr val="695C4A"/>
                  </a:solidFill>
                  <a:latin typeface="Times New Roman" panose="02020603050405020304" pitchFamily="18" charset="0"/>
                  <a:ea typeface="Livvic"/>
                  <a:cs typeface="Times New Roman" panose="02020603050405020304" pitchFamily="18" charset="0"/>
                </a:endParaRPr>
              </a:p>
              <a:p>
                <a:pPr>
                  <a:lnSpc>
                    <a:spcPct val="150000"/>
                  </a:lnSpc>
                </a:pPr>
                <a:r>
                  <a:rPr lang="en-US" altLang="zh-TW" sz="3200" dirty="0">
                    <a:solidFill>
                      <a:srgbClr val="695C4A"/>
                    </a:solidFill>
                    <a:latin typeface="Times New Roman" panose="02020603050405020304" pitchFamily="18" charset="0"/>
                    <a:ea typeface="Livvic"/>
                    <a:cs typeface="Times New Roman" panose="02020603050405020304" pitchFamily="18" charset="0"/>
                  </a:rPr>
                  <a:t>If </a:t>
                </a:r>
                <a14:m>
                  <m:oMath xmlns:m="http://schemas.openxmlformats.org/officeDocument/2006/math">
                    <m:r>
                      <a:rPr lang="zh-TW" altLang="en-US" sz="3200">
                        <a:solidFill>
                          <a:srgbClr val="695C4A"/>
                        </a:solidFill>
                        <a:latin typeface="Cambria Math" panose="02040503050406030204" pitchFamily="18" charset="0"/>
                        <a:ea typeface="Livvic"/>
                        <a:cs typeface="Times New Roman" panose="02020603050405020304" pitchFamily="18" charset="0"/>
                      </a:rPr>
                      <m:t>𝑛</m:t>
                    </m:r>
                  </m:oMath>
                </a14:m>
                <a:r>
                  <a:rPr lang="zh-TW" altLang="en-US" sz="3200" dirty="0">
                    <a:solidFill>
                      <a:srgbClr val="695C4A"/>
                    </a:solidFill>
                    <a:latin typeface="Times New Roman" panose="02020603050405020304" pitchFamily="18" charset="0"/>
                    <a:ea typeface="Livvic"/>
                    <a:cs typeface="Times New Roman" panose="02020603050405020304" pitchFamily="18" charset="0"/>
                  </a:rPr>
                  <a:t> </a:t>
                </a:r>
                <a:r>
                  <a:rPr lang="en-US" altLang="zh-TW" sz="3200" dirty="0">
                    <a:solidFill>
                      <a:srgbClr val="695C4A"/>
                    </a:solidFill>
                    <a:latin typeface="Times New Roman" panose="02020603050405020304" pitchFamily="18" charset="0"/>
                    <a:ea typeface="Livvic"/>
                    <a:cs typeface="Times New Roman" panose="02020603050405020304" pitchFamily="18" charset="0"/>
                  </a:rPr>
                  <a:t>orders are grouped together as a partial cavity production group, the processing time of each order becomes:</a:t>
                </a:r>
              </a:p>
              <a:p>
                <a:endParaRPr lang="en-US" altLang="zh-TW" sz="3200" dirty="0">
                  <a:solidFill>
                    <a:srgbClr val="695C4A"/>
                  </a:solidFill>
                  <a:latin typeface="Times New Roman" panose="02020603050405020304" pitchFamily="18" charset="0"/>
                  <a:ea typeface="Livvic"/>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Sup>
                        <m:sSubSupPr>
                          <m:ctrlPr>
                            <a:rPr lang="ar-AE" altLang="zh-TW" sz="3200" i="1">
                              <a:solidFill>
                                <a:srgbClr val="695C4A"/>
                              </a:solidFill>
                              <a:latin typeface="Cambria Math" panose="02040503050406030204" pitchFamily="18" charset="0"/>
                              <a:ea typeface="Livvic"/>
                              <a:cs typeface="Times New Roman" panose="02020603050405020304" pitchFamily="18" charset="0"/>
                            </a:rPr>
                          </m:ctrlPr>
                        </m:sSubSupPr>
                        <m:e>
                          <m:r>
                            <a:rPr lang="zh-TW" altLang="ar-AE" sz="3200">
                              <a:solidFill>
                                <a:srgbClr val="695C4A"/>
                              </a:solidFill>
                              <a:latin typeface="Cambria Math" panose="02040503050406030204" pitchFamily="18" charset="0"/>
                              <a:ea typeface="Livvic"/>
                              <a:cs typeface="Times New Roman" panose="02020603050405020304" pitchFamily="18" charset="0"/>
                            </a:rPr>
                            <m:t>𝑝</m:t>
                          </m:r>
                        </m:e>
                        <m:sub>
                          <m:r>
                            <a:rPr lang="zh-TW" altLang="ar-AE" sz="3200">
                              <a:solidFill>
                                <a:srgbClr val="695C4A"/>
                              </a:solidFill>
                              <a:latin typeface="Cambria Math" panose="02040503050406030204" pitchFamily="18" charset="0"/>
                              <a:ea typeface="Livvic"/>
                              <a:cs typeface="Times New Roman" panose="02020603050405020304" pitchFamily="18" charset="0"/>
                            </a:rPr>
                            <m:t>𝑖</m:t>
                          </m:r>
                        </m:sub>
                        <m:sup>
                          <m:r>
                            <a:rPr lang="en-US" altLang="zh-TW" sz="3200" b="0" i="1" smtClean="0">
                              <a:solidFill>
                                <a:srgbClr val="695C4A"/>
                              </a:solidFill>
                              <a:latin typeface="Cambria Math" panose="02040503050406030204" pitchFamily="18" charset="0"/>
                              <a:ea typeface="Livvic"/>
                              <a:cs typeface="Times New Roman" panose="02020603050405020304" pitchFamily="18" charset="0"/>
                            </a:rPr>
                            <m:t>′</m:t>
                          </m:r>
                        </m:sup>
                      </m:sSubSup>
                      <m:r>
                        <a:rPr lang="ar-AE" altLang="zh-TW" sz="3200">
                          <a:solidFill>
                            <a:srgbClr val="695C4A"/>
                          </a:solidFill>
                          <a:latin typeface="Cambria Math" panose="02040503050406030204" pitchFamily="18" charset="0"/>
                          <a:ea typeface="Livvic"/>
                          <a:cs typeface="Times New Roman" panose="02020603050405020304" pitchFamily="18" charset="0"/>
                        </a:rPr>
                        <m:t>=</m:t>
                      </m:r>
                      <m:sSub>
                        <m:sSubPr>
                          <m:ctrlPr>
                            <a:rPr lang="ar-AE" altLang="zh-TW" sz="3200" i="1" smtClean="0">
                              <a:solidFill>
                                <a:srgbClr val="695C4A"/>
                              </a:solidFill>
                              <a:latin typeface="Cambria Math" panose="02040503050406030204" pitchFamily="18" charset="0"/>
                              <a:cs typeface="Times New Roman" panose="02020603050405020304" pitchFamily="18" charset="0"/>
                            </a:rPr>
                          </m:ctrlPr>
                        </m:sSubPr>
                        <m:e>
                          <m:r>
                            <a:rPr lang="en-US" altLang="zh-TW" sz="3200" b="0" i="1" smtClean="0">
                              <a:solidFill>
                                <a:srgbClr val="695C4A"/>
                              </a:solidFill>
                              <a:latin typeface="Cambria Math" panose="02040503050406030204" pitchFamily="18" charset="0"/>
                              <a:cs typeface="Times New Roman" panose="02020603050405020304" pitchFamily="18" charset="0"/>
                            </a:rPr>
                            <m:t>𝑝</m:t>
                          </m:r>
                        </m:e>
                        <m:sub>
                          <m:r>
                            <a:rPr lang="en-US" altLang="zh-TW" sz="3200" b="0" i="1" smtClean="0">
                              <a:solidFill>
                                <a:srgbClr val="695C4A"/>
                              </a:solidFill>
                              <a:latin typeface="Cambria Math" panose="02040503050406030204" pitchFamily="18" charset="0"/>
                              <a:cs typeface="Times New Roman" panose="02020603050405020304" pitchFamily="18" charset="0"/>
                            </a:rPr>
                            <m:t>𝑖</m:t>
                          </m:r>
                        </m:sub>
                      </m:sSub>
                      <m:r>
                        <a:rPr lang="ar-AE" altLang="zh-TW" sz="3200">
                          <a:solidFill>
                            <a:srgbClr val="695C4A"/>
                          </a:solidFill>
                          <a:latin typeface="Cambria Math" panose="02040503050406030204" pitchFamily="18" charset="0"/>
                          <a:ea typeface="Livvic"/>
                          <a:cs typeface="Times New Roman" panose="02020603050405020304" pitchFamily="18" charset="0"/>
                        </a:rPr>
                        <m:t>×</m:t>
                      </m:r>
                      <m:r>
                        <m:rPr>
                          <m:sty m:val="p"/>
                        </m:rPr>
                        <a:rPr lang="en-US" altLang="zh-TW" sz="3200" b="0" i="0" smtClean="0">
                          <a:solidFill>
                            <a:srgbClr val="695C4A"/>
                          </a:solidFill>
                          <a:latin typeface="Cambria Math" panose="02040503050406030204" pitchFamily="18" charset="0"/>
                          <a:ea typeface="Livvic"/>
                          <a:cs typeface="Times New Roman" panose="02020603050405020304" pitchFamily="18" charset="0"/>
                        </a:rPr>
                        <m:t>n</m:t>
                      </m:r>
                    </m:oMath>
                  </m:oMathPara>
                </a14:m>
                <a:endParaRPr lang="ar-AE" altLang="zh-TW" sz="3200" dirty="0">
                  <a:solidFill>
                    <a:srgbClr val="695C4A"/>
                  </a:solidFill>
                  <a:latin typeface="Times New Roman" panose="02020603050405020304" pitchFamily="18" charset="0"/>
                  <a:ea typeface="Livvic"/>
                  <a:cs typeface="Times New Roman" panose="02020603050405020304" pitchFamily="18" charset="0"/>
                </a:endParaRPr>
              </a:p>
              <a:p>
                <a:endParaRPr lang="zh-TW" altLang="en-US" dirty="0"/>
              </a:p>
            </p:txBody>
          </p:sp>
        </mc:Choice>
        <mc:Fallback xmlns="">
          <p:sp>
            <p:nvSpPr>
              <p:cNvPr id="3" name="文字方塊 2">
                <a:extLst>
                  <a:ext uri="{FF2B5EF4-FFF2-40B4-BE49-F238E27FC236}">
                    <a16:creationId xmlns:a16="http://schemas.microsoft.com/office/drawing/2014/main" id="{634DD71B-2877-B703-83B0-CB4393FC0334}"/>
                  </a:ext>
                </a:extLst>
              </p:cNvPr>
              <p:cNvSpPr txBox="1">
                <a:spLocks noRot="1" noChangeAspect="1" noMove="1" noResize="1" noEditPoints="1" noAdjustHandles="1" noChangeArrowheads="1" noChangeShapeType="1" noTextEdit="1"/>
              </p:cNvSpPr>
              <p:nvPr/>
            </p:nvSpPr>
            <p:spPr>
              <a:xfrm>
                <a:off x="1509712" y="2780133"/>
                <a:ext cx="15268575" cy="5786520"/>
              </a:xfrm>
              <a:prstGeom prst="rect">
                <a:avLst/>
              </a:prstGeom>
              <a:blipFill>
                <a:blip r:embed="rId5"/>
                <a:stretch>
                  <a:fillRect l="-1038" r="-28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29265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0F314-8F0B-80B9-8851-8E2A221C61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2D0598E-88EB-9D62-985D-E481B0F15820}"/>
              </a:ext>
            </a:extLst>
          </p:cNvPr>
          <p:cNvSpPr/>
          <p:nvPr/>
        </p:nvSpPr>
        <p:spPr>
          <a:xfrm rot="-8100000">
            <a:off x="10079440" y="3207230"/>
            <a:ext cx="14359719" cy="12767096"/>
          </a:xfrm>
          <a:custGeom>
            <a:avLst/>
            <a:gdLst/>
            <a:ahLst/>
            <a:cxnLst/>
            <a:rect l="l" t="t" r="r" b="b"/>
            <a:pathLst>
              <a:path w="14359719" h="12767096">
                <a:moveTo>
                  <a:pt x="0" y="0"/>
                </a:moveTo>
                <a:lnTo>
                  <a:pt x="14359720" y="0"/>
                </a:lnTo>
                <a:lnTo>
                  <a:pt x="14359720" y="12767096"/>
                </a:lnTo>
                <a:lnTo>
                  <a:pt x="0" y="12767096"/>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a:extLst>
              <a:ext uri="{FF2B5EF4-FFF2-40B4-BE49-F238E27FC236}">
                <a16:creationId xmlns:a16="http://schemas.microsoft.com/office/drawing/2014/main" id="{8FB46FCE-9E47-D574-1C72-78DD0A2561D7}"/>
              </a:ext>
            </a:extLst>
          </p:cNvPr>
          <p:cNvSpPr txBox="1"/>
          <p:nvPr/>
        </p:nvSpPr>
        <p:spPr>
          <a:xfrm>
            <a:off x="986877" y="104761"/>
            <a:ext cx="7526223" cy="1144544"/>
          </a:xfrm>
          <a:prstGeom prst="rect">
            <a:avLst/>
          </a:prstGeom>
        </p:spPr>
        <p:txBody>
          <a:bodyPr wrap="square" lIns="0" tIns="0" rIns="0" bIns="0" rtlCol="0" anchor="t">
            <a:spAutoFit/>
          </a:bodyPr>
          <a:lstStyle/>
          <a:p>
            <a:pPr>
              <a:lnSpc>
                <a:spcPts val="10358"/>
              </a:lnSpc>
            </a:pPr>
            <a:r>
              <a:rPr lang="en-US" altLang="zh-TW" sz="4800" b="1" dirty="0">
                <a:solidFill>
                  <a:srgbClr val="695C4A"/>
                </a:solidFill>
                <a:latin typeface="Times New Roman" panose="02020603050405020304" pitchFamily="18" charset="0"/>
                <a:cs typeface="Times New Roman" panose="02020603050405020304" pitchFamily="18" charset="0"/>
              </a:rPr>
              <a:t>Partial Cavity Production</a:t>
            </a: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 </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57B6A737-E0D2-5304-402B-44E8A49E8023}"/>
                  </a:ext>
                </a:extLst>
              </p:cNvPr>
              <p:cNvSpPr txBox="1"/>
              <p:nvPr/>
            </p:nvSpPr>
            <p:spPr>
              <a:xfrm>
                <a:off x="1535404" y="2557920"/>
                <a:ext cx="15217192" cy="5909823"/>
              </a:xfrm>
              <a:prstGeom prst="rect">
                <a:avLst/>
              </a:prstGeom>
            </p:spPr>
            <p:txBody>
              <a:bodyPr wrap="square" lIns="0" tIns="0" rIns="0" bIns="0" rtlCol="0" anchor="t">
                <a:spAutoFit/>
              </a:bodyPr>
              <a:lstStyle/>
              <a:p>
                <a:pPr lvl="0">
                  <a:lnSpc>
                    <a:spcPct val="150000"/>
                  </a:lnSpc>
                </a:pPr>
                <a:r>
                  <a:rPr lang="en-US" sz="3200" dirty="0">
                    <a:solidFill>
                      <a:srgbClr val="695C4A"/>
                    </a:solidFill>
                    <a:latin typeface="Times New Roman" panose="02020603050405020304" pitchFamily="18" charset="0"/>
                    <a:cs typeface="Times New Roman" panose="02020603050405020304" pitchFamily="18" charset="0"/>
                    <a:sym typeface="Livvic"/>
                  </a:rPr>
                  <a:t>Example:</a:t>
                </a:r>
              </a:p>
              <a:p>
                <a:pPr marL="457200" lvl="0" indent="-457200">
                  <a:lnSpc>
                    <a:spcPct val="150000"/>
                  </a:lnSpc>
                  <a:buFont typeface="Arial" panose="020B0604020202020204" pitchFamily="34" charset="0"/>
                  <a:buChar char="•"/>
                </a:pPr>
                <a:r>
                  <a:rPr lang="en-US" sz="3200" dirty="0">
                    <a:solidFill>
                      <a:srgbClr val="695C4A"/>
                    </a:solidFill>
                    <a:latin typeface="Times New Roman" panose="02020603050405020304" pitchFamily="18" charset="0"/>
                    <a:cs typeface="Times New Roman" panose="02020603050405020304" pitchFamily="18" charset="0"/>
                    <a:sym typeface="Livvic"/>
                  </a:rPr>
                  <a:t>Order A needs 2 mold </a:t>
                </a:r>
                <a14:m>
                  <m:oMath xmlns:m="http://schemas.openxmlformats.org/officeDocument/2006/math">
                    <m:sSub>
                      <m:sSubPr>
                        <m:ctrlPr>
                          <a:rPr lang="en-US" altLang="zh-TW" sz="3200" i="1" smtClean="0">
                            <a:solidFill>
                              <a:srgbClr val="695C4A"/>
                            </a:solidFill>
                            <a:latin typeface="Cambria Math" panose="02040503050406030204" pitchFamily="18" charset="0"/>
                            <a:cs typeface="Times New Roman" panose="02020603050405020304" pitchFamily="18" charset="0"/>
                            <a:sym typeface="Livvic"/>
                          </a:rPr>
                        </m:ctrlPr>
                      </m:sSubPr>
                      <m:e>
                        <m:r>
                          <a:rPr lang="en-US" altLang="zh-TW" sz="3200" b="0" i="1" smtClean="0">
                            <a:solidFill>
                              <a:srgbClr val="695C4A"/>
                            </a:solidFill>
                            <a:latin typeface="Cambria Math" panose="02040503050406030204" pitchFamily="18" charset="0"/>
                            <a:cs typeface="Times New Roman" panose="02020603050405020304" pitchFamily="18" charset="0"/>
                            <a:sym typeface="Livvic"/>
                          </a:rPr>
                          <m:t>𝑞</m:t>
                        </m:r>
                      </m:e>
                      <m:sub>
                        <m:r>
                          <a:rPr lang="en-US" altLang="zh-TW" sz="3200" b="0" i="1" smtClean="0">
                            <a:solidFill>
                              <a:srgbClr val="695C4A"/>
                            </a:solidFill>
                            <a:latin typeface="Cambria Math" panose="02040503050406030204" pitchFamily="18" charset="0"/>
                            <a:cs typeface="Times New Roman" panose="02020603050405020304" pitchFamily="18" charset="0"/>
                            <a:sym typeface="Livvic"/>
                          </a:rPr>
                          <m:t>1</m:t>
                        </m:r>
                      </m:sub>
                    </m:sSub>
                  </m:oMath>
                </a14:m>
                <a:r>
                  <a:rPr lang="en-US" sz="3200" dirty="0">
                    <a:solidFill>
                      <a:srgbClr val="695C4A"/>
                    </a:solidFill>
                    <a:latin typeface="Times New Roman" panose="02020603050405020304" pitchFamily="18" charset="0"/>
                    <a:cs typeface="Times New Roman" panose="02020603050405020304" pitchFamily="18" charset="0"/>
                    <a:sym typeface="Livvic"/>
                  </a:rPr>
                  <a:t>when scheduling.</a:t>
                </a:r>
              </a:p>
              <a:p>
                <a:pPr marL="457200" lvl="0" indent="-457200">
                  <a:lnSpc>
                    <a:spcPct val="150000"/>
                  </a:lnSpc>
                  <a:buFont typeface="Arial" panose="020B0604020202020204" pitchFamily="34" charset="0"/>
                  <a:buChar char="•"/>
                </a:pPr>
                <a:r>
                  <a:rPr lang="en-US" altLang="zh-TW" sz="3200" dirty="0">
                    <a:solidFill>
                      <a:srgbClr val="695C4A"/>
                    </a:solidFill>
                    <a:latin typeface="Times New Roman" panose="02020603050405020304" pitchFamily="18" charset="0"/>
                    <a:cs typeface="Times New Roman" panose="02020603050405020304" pitchFamily="18" charset="0"/>
                    <a:sym typeface="Livvic"/>
                  </a:rPr>
                  <a:t>Order B needs 3 mold </a:t>
                </a:r>
                <a14:m>
                  <m:oMath xmlns:m="http://schemas.openxmlformats.org/officeDocument/2006/math">
                    <m:sSub>
                      <m:sSubPr>
                        <m:ctrlPr>
                          <a:rPr lang="en-US" altLang="zh-TW" sz="3200" i="1">
                            <a:solidFill>
                              <a:srgbClr val="695C4A"/>
                            </a:solidFill>
                            <a:latin typeface="Cambria Math" panose="02040503050406030204" pitchFamily="18" charset="0"/>
                            <a:cs typeface="Times New Roman" panose="02020603050405020304" pitchFamily="18" charset="0"/>
                            <a:sym typeface="Livvic"/>
                          </a:rPr>
                        </m:ctrlPr>
                      </m:sSubPr>
                      <m:e>
                        <m:r>
                          <a:rPr lang="en-US" altLang="zh-TW" sz="3200" i="1">
                            <a:solidFill>
                              <a:srgbClr val="695C4A"/>
                            </a:solidFill>
                            <a:latin typeface="Cambria Math" panose="02040503050406030204" pitchFamily="18" charset="0"/>
                            <a:cs typeface="Times New Roman" panose="02020603050405020304" pitchFamily="18" charset="0"/>
                            <a:sym typeface="Livvic"/>
                          </a:rPr>
                          <m:t>𝑞</m:t>
                        </m:r>
                      </m:e>
                      <m:sub>
                        <m:r>
                          <a:rPr lang="en-US" altLang="zh-TW" sz="3200" b="0" i="1" smtClean="0">
                            <a:solidFill>
                              <a:srgbClr val="695C4A"/>
                            </a:solidFill>
                            <a:latin typeface="Cambria Math" panose="02040503050406030204" pitchFamily="18" charset="0"/>
                            <a:cs typeface="Times New Roman" panose="02020603050405020304" pitchFamily="18" charset="0"/>
                            <a:sym typeface="Livvic"/>
                          </a:rPr>
                          <m:t>2</m:t>
                        </m:r>
                      </m:sub>
                    </m:sSub>
                  </m:oMath>
                </a14:m>
                <a:r>
                  <a:rPr lang="en-US" altLang="zh-TW" sz="3200" dirty="0">
                    <a:solidFill>
                      <a:srgbClr val="695C4A"/>
                    </a:solidFill>
                    <a:latin typeface="Times New Roman" panose="02020603050405020304" pitchFamily="18" charset="0"/>
                    <a:cs typeface="Times New Roman" panose="02020603050405020304" pitchFamily="18" charset="0"/>
                    <a:sym typeface="Livvic"/>
                  </a:rPr>
                  <a:t> when scheduling.</a:t>
                </a:r>
              </a:p>
              <a:p>
                <a:pPr marL="457200" lvl="0" indent="-457200">
                  <a:lnSpc>
                    <a:spcPct val="150000"/>
                  </a:lnSpc>
                  <a:buFont typeface="Arial" panose="020B0604020202020204" pitchFamily="34" charset="0"/>
                  <a:buChar char="•"/>
                </a:pPr>
                <a:r>
                  <a:rPr lang="en-US" sz="3200" dirty="0">
                    <a:solidFill>
                      <a:srgbClr val="695C4A"/>
                    </a:solidFill>
                    <a:latin typeface="Times New Roman" panose="02020603050405020304" pitchFamily="18" charset="0"/>
                    <a:cs typeface="Times New Roman" panose="02020603050405020304" pitchFamily="18" charset="0"/>
                    <a:sym typeface="Livvic"/>
                  </a:rPr>
                  <a:t>Machine M has 6 cavities.</a:t>
                </a:r>
              </a:p>
              <a:p>
                <a:pPr lvl="0">
                  <a:lnSpc>
                    <a:spcPct val="150000"/>
                  </a:lnSpc>
                </a:pPr>
                <a:r>
                  <a:rPr lang="en-US" sz="3200" dirty="0">
                    <a:solidFill>
                      <a:srgbClr val="695C4A"/>
                    </a:solidFill>
                    <a:latin typeface="Times New Roman" panose="02020603050405020304" pitchFamily="18" charset="0"/>
                    <a:cs typeface="Times New Roman" panose="02020603050405020304" pitchFamily="18" charset="0"/>
                    <a:sym typeface="Livvic"/>
                  </a:rPr>
                  <a:t>If M is feasible both for order A and order B, and </a:t>
                </a:r>
                <a14:m>
                  <m:oMath xmlns:m="http://schemas.openxmlformats.org/officeDocument/2006/math">
                    <m:sSub>
                      <m:sSubPr>
                        <m:ctrlPr>
                          <a:rPr lang="en-US" altLang="zh-TW" sz="3200" i="1">
                            <a:solidFill>
                              <a:srgbClr val="695C4A"/>
                            </a:solidFill>
                            <a:latin typeface="Cambria Math" panose="02040503050406030204" pitchFamily="18" charset="0"/>
                            <a:cs typeface="Times New Roman" panose="02020603050405020304" pitchFamily="18" charset="0"/>
                            <a:sym typeface="Livvic"/>
                          </a:rPr>
                        </m:ctrlPr>
                      </m:sSubPr>
                      <m:e>
                        <m:r>
                          <a:rPr lang="en-US" altLang="zh-TW" sz="3200" i="1">
                            <a:solidFill>
                              <a:srgbClr val="695C4A"/>
                            </a:solidFill>
                            <a:latin typeface="Cambria Math" panose="02040503050406030204" pitchFamily="18" charset="0"/>
                            <a:cs typeface="Times New Roman" panose="02020603050405020304" pitchFamily="18" charset="0"/>
                            <a:sym typeface="Livvic"/>
                          </a:rPr>
                          <m:t>𝑞</m:t>
                        </m:r>
                      </m:e>
                      <m:sub>
                        <m:r>
                          <a:rPr lang="en-US" altLang="zh-TW" sz="3200" i="1">
                            <a:solidFill>
                              <a:srgbClr val="695C4A"/>
                            </a:solidFill>
                            <a:latin typeface="Cambria Math" panose="02040503050406030204" pitchFamily="18" charset="0"/>
                            <a:cs typeface="Times New Roman" panose="02020603050405020304" pitchFamily="18" charset="0"/>
                            <a:sym typeface="Livvic"/>
                          </a:rPr>
                          <m:t>1</m:t>
                        </m:r>
                      </m:sub>
                    </m:sSub>
                    <m:r>
                      <a:rPr lang="en-US" altLang="zh-TW" sz="3200" i="1" smtClean="0">
                        <a:solidFill>
                          <a:srgbClr val="695C4A"/>
                        </a:solidFill>
                        <a:latin typeface="Cambria Math" panose="02040503050406030204" pitchFamily="18" charset="0"/>
                        <a:ea typeface="Cambria Math" panose="02040503050406030204" pitchFamily="18" charset="0"/>
                        <a:cs typeface="Times New Roman" panose="02020603050405020304" pitchFamily="18" charset="0"/>
                        <a:sym typeface="Livvic"/>
                      </a:rPr>
                      <m:t>≠</m:t>
                    </m:r>
                    <m:sSub>
                      <m:sSubPr>
                        <m:ctrlPr>
                          <a:rPr lang="en-US" altLang="zh-TW" sz="3200" i="1">
                            <a:solidFill>
                              <a:srgbClr val="695C4A"/>
                            </a:solidFill>
                            <a:latin typeface="Cambria Math" panose="02040503050406030204" pitchFamily="18" charset="0"/>
                            <a:cs typeface="Times New Roman" panose="02020603050405020304" pitchFamily="18" charset="0"/>
                            <a:sym typeface="Livvic"/>
                          </a:rPr>
                        </m:ctrlPr>
                      </m:sSubPr>
                      <m:e>
                        <m:r>
                          <a:rPr lang="en-US" altLang="zh-TW" sz="3200" i="1">
                            <a:solidFill>
                              <a:srgbClr val="695C4A"/>
                            </a:solidFill>
                            <a:latin typeface="Cambria Math" panose="02040503050406030204" pitchFamily="18" charset="0"/>
                            <a:cs typeface="Times New Roman" panose="02020603050405020304" pitchFamily="18" charset="0"/>
                            <a:sym typeface="Livvic"/>
                          </a:rPr>
                          <m:t>𝑞</m:t>
                        </m:r>
                      </m:e>
                      <m:sub>
                        <m:r>
                          <a:rPr lang="en-US" altLang="zh-TW" sz="3200" b="0" i="1" smtClean="0">
                            <a:solidFill>
                              <a:srgbClr val="695C4A"/>
                            </a:solidFill>
                            <a:latin typeface="Cambria Math" panose="02040503050406030204" pitchFamily="18" charset="0"/>
                            <a:cs typeface="Times New Roman" panose="02020603050405020304" pitchFamily="18" charset="0"/>
                            <a:sym typeface="Livvic"/>
                          </a:rPr>
                          <m:t>2</m:t>
                        </m:r>
                      </m:sub>
                    </m:sSub>
                  </m:oMath>
                </a14:m>
                <a:r>
                  <a:rPr lang="en-US" sz="3200" dirty="0">
                    <a:solidFill>
                      <a:srgbClr val="695C4A"/>
                    </a:solidFill>
                    <a:latin typeface="Times New Roman" panose="02020603050405020304" pitchFamily="18" charset="0"/>
                    <a:cs typeface="Times New Roman" panose="02020603050405020304" pitchFamily="18" charset="0"/>
                    <a:sym typeface="Livvic"/>
                  </a:rPr>
                  <a:t>, then these two orders may be scheduled</a:t>
                </a:r>
                <a:r>
                  <a:rPr lang="en-US" altLang="zh-TW" sz="3200" dirty="0">
                    <a:solidFill>
                      <a:srgbClr val="695C4A"/>
                    </a:solidFill>
                    <a:latin typeface="Times New Roman" panose="02020603050405020304" pitchFamily="18" charset="0"/>
                    <a:ea typeface="Livvic"/>
                    <a:cs typeface="Times New Roman" panose="02020603050405020304" pitchFamily="18" charset="0"/>
                    <a:sym typeface="Livvic"/>
                  </a:rPr>
                  <a:t> consecutively</a:t>
                </a:r>
                <a:r>
                  <a:rPr lang="en-US" sz="3200" dirty="0">
                    <a:solidFill>
                      <a:srgbClr val="695C4A"/>
                    </a:solidFill>
                    <a:latin typeface="Times New Roman" panose="02020603050405020304" pitchFamily="18" charset="0"/>
                    <a:cs typeface="Times New Roman" panose="02020603050405020304" pitchFamily="18" charset="0"/>
                    <a:sym typeface="Livvic"/>
                  </a:rPr>
                  <a:t> as a group and assigned to M. While the processing time of each order becomes:</a:t>
                </a:r>
              </a:p>
              <a:p>
                <a:pPr>
                  <a:lnSpc>
                    <a:spcPct val="150000"/>
                  </a:lnSpc>
                </a:pPr>
                <a14:m>
                  <m:oMathPara xmlns:m="http://schemas.openxmlformats.org/officeDocument/2006/math">
                    <m:oMathParaPr>
                      <m:jc m:val="centerGroup"/>
                    </m:oMathParaPr>
                    <m:oMath xmlns:m="http://schemas.openxmlformats.org/officeDocument/2006/math">
                      <m:sSubSup>
                        <m:sSubSupPr>
                          <m:ctrlPr>
                            <a:rPr lang="ar-AE" altLang="zh-TW" sz="3200" i="1">
                              <a:solidFill>
                                <a:srgbClr val="695C4A"/>
                              </a:solidFill>
                              <a:latin typeface="Cambria Math" panose="02040503050406030204" pitchFamily="18" charset="0"/>
                              <a:ea typeface="Livvic"/>
                              <a:cs typeface="Times New Roman" panose="02020603050405020304" pitchFamily="18" charset="0"/>
                            </a:rPr>
                          </m:ctrlPr>
                        </m:sSubSupPr>
                        <m:e>
                          <m:r>
                            <a:rPr lang="zh-TW" altLang="ar-AE" sz="3200">
                              <a:solidFill>
                                <a:srgbClr val="695C4A"/>
                              </a:solidFill>
                              <a:latin typeface="Cambria Math" panose="02040503050406030204" pitchFamily="18" charset="0"/>
                              <a:ea typeface="Livvic"/>
                              <a:cs typeface="Times New Roman" panose="02020603050405020304" pitchFamily="18" charset="0"/>
                            </a:rPr>
                            <m:t>𝑝</m:t>
                          </m:r>
                        </m:e>
                        <m:sub>
                          <m:r>
                            <a:rPr lang="zh-TW" altLang="ar-AE" sz="3200">
                              <a:solidFill>
                                <a:srgbClr val="695C4A"/>
                              </a:solidFill>
                              <a:latin typeface="Cambria Math" panose="02040503050406030204" pitchFamily="18" charset="0"/>
                              <a:ea typeface="Livvic"/>
                              <a:cs typeface="Times New Roman" panose="02020603050405020304" pitchFamily="18" charset="0"/>
                            </a:rPr>
                            <m:t>𝑖</m:t>
                          </m:r>
                        </m:sub>
                        <m:sup>
                          <m:r>
                            <a:rPr lang="en-US" altLang="zh-TW" sz="3200" i="1">
                              <a:solidFill>
                                <a:srgbClr val="695C4A"/>
                              </a:solidFill>
                              <a:latin typeface="Cambria Math" panose="02040503050406030204" pitchFamily="18" charset="0"/>
                              <a:ea typeface="Livvic"/>
                              <a:cs typeface="Times New Roman" panose="02020603050405020304" pitchFamily="18" charset="0"/>
                            </a:rPr>
                            <m:t>′</m:t>
                          </m:r>
                        </m:sup>
                      </m:sSubSup>
                      <m:r>
                        <a:rPr lang="ar-AE" altLang="zh-TW" sz="3200">
                          <a:solidFill>
                            <a:srgbClr val="695C4A"/>
                          </a:solidFill>
                          <a:latin typeface="Cambria Math" panose="02040503050406030204" pitchFamily="18" charset="0"/>
                          <a:ea typeface="Livvic"/>
                          <a:cs typeface="Times New Roman" panose="02020603050405020304" pitchFamily="18" charset="0"/>
                        </a:rPr>
                        <m:t>=</m:t>
                      </m:r>
                      <m:sSub>
                        <m:sSubPr>
                          <m:ctrlPr>
                            <a:rPr lang="ar-AE" altLang="zh-TW" sz="3200" i="1">
                              <a:solidFill>
                                <a:srgbClr val="695C4A"/>
                              </a:solidFill>
                              <a:latin typeface="Cambria Math" panose="02040503050406030204" pitchFamily="18" charset="0"/>
                              <a:cs typeface="Times New Roman" panose="02020603050405020304" pitchFamily="18" charset="0"/>
                            </a:rPr>
                          </m:ctrlPr>
                        </m:sSubPr>
                        <m:e>
                          <m:r>
                            <a:rPr lang="en-US" altLang="zh-TW" sz="3200" i="1">
                              <a:solidFill>
                                <a:srgbClr val="695C4A"/>
                              </a:solidFill>
                              <a:latin typeface="Cambria Math" panose="02040503050406030204" pitchFamily="18" charset="0"/>
                              <a:cs typeface="Times New Roman" panose="02020603050405020304" pitchFamily="18" charset="0"/>
                            </a:rPr>
                            <m:t>𝑝</m:t>
                          </m:r>
                        </m:e>
                        <m:sub>
                          <m:r>
                            <a:rPr lang="en-US" altLang="zh-TW" sz="3200" i="1">
                              <a:solidFill>
                                <a:srgbClr val="695C4A"/>
                              </a:solidFill>
                              <a:latin typeface="Cambria Math" panose="02040503050406030204" pitchFamily="18" charset="0"/>
                              <a:cs typeface="Times New Roman" panose="02020603050405020304" pitchFamily="18" charset="0"/>
                            </a:rPr>
                            <m:t>𝑖</m:t>
                          </m:r>
                        </m:sub>
                      </m:sSub>
                      <m:r>
                        <a:rPr lang="ar-AE" altLang="zh-TW" sz="3200">
                          <a:solidFill>
                            <a:srgbClr val="695C4A"/>
                          </a:solidFill>
                          <a:latin typeface="Cambria Math" panose="02040503050406030204" pitchFamily="18" charset="0"/>
                          <a:ea typeface="Livvic"/>
                          <a:cs typeface="Times New Roman" panose="02020603050405020304" pitchFamily="18" charset="0"/>
                        </a:rPr>
                        <m:t>×</m:t>
                      </m:r>
                      <m:r>
                        <a:rPr lang="en-US" altLang="zh-TW" sz="3200" b="0" i="0" smtClean="0">
                          <a:solidFill>
                            <a:srgbClr val="695C4A"/>
                          </a:solidFill>
                          <a:latin typeface="Cambria Math" panose="02040503050406030204" pitchFamily="18" charset="0"/>
                          <a:ea typeface="Livvic"/>
                          <a:cs typeface="Times New Roman" panose="02020603050405020304" pitchFamily="18" charset="0"/>
                        </a:rPr>
                        <m:t>2</m:t>
                      </m:r>
                    </m:oMath>
                  </m:oMathPara>
                </a14:m>
                <a:endParaRPr lang="ar-AE" altLang="zh-TW" sz="3200" dirty="0">
                  <a:solidFill>
                    <a:srgbClr val="695C4A"/>
                  </a:solidFill>
                  <a:latin typeface="Times New Roman" panose="02020603050405020304" pitchFamily="18" charset="0"/>
                  <a:ea typeface="Livvic"/>
                  <a:cs typeface="Times New Roman" panose="02020603050405020304" pitchFamily="18" charset="0"/>
                </a:endParaRPr>
              </a:p>
            </p:txBody>
          </p:sp>
        </mc:Choice>
        <mc:Fallback xmlns="">
          <p:sp>
            <p:nvSpPr>
              <p:cNvPr id="8" name="TextBox 8">
                <a:extLst>
                  <a:ext uri="{FF2B5EF4-FFF2-40B4-BE49-F238E27FC236}">
                    <a16:creationId xmlns:a16="http://schemas.microsoft.com/office/drawing/2014/main" id="{57B6A737-E0D2-5304-402B-44E8A49E8023}"/>
                  </a:ext>
                </a:extLst>
              </p:cNvPr>
              <p:cNvSpPr txBox="1">
                <a:spLocks noRot="1" noChangeAspect="1" noMove="1" noResize="1" noEditPoints="1" noAdjustHandles="1" noChangeArrowheads="1" noChangeShapeType="1" noTextEdit="1"/>
              </p:cNvSpPr>
              <p:nvPr/>
            </p:nvSpPr>
            <p:spPr>
              <a:xfrm>
                <a:off x="1535404" y="2557920"/>
                <a:ext cx="15217192" cy="5909823"/>
              </a:xfrm>
              <a:prstGeom prst="rect">
                <a:avLst/>
              </a:prstGeom>
              <a:blipFill>
                <a:blip r:embed="rId4"/>
                <a:stretch>
                  <a:fillRect l="-1643"/>
                </a:stretch>
              </a:blipFill>
            </p:spPr>
            <p:txBody>
              <a:bodyPr/>
              <a:lstStyle/>
              <a:p>
                <a:r>
                  <a:rPr lang="zh-TW" altLang="en-US">
                    <a:noFill/>
                  </a:rPr>
                  <a:t> </a:t>
                </a:r>
              </a:p>
            </p:txBody>
          </p:sp>
        </mc:Fallback>
      </mc:AlternateContent>
      <p:grpSp>
        <p:nvGrpSpPr>
          <p:cNvPr id="5" name="群組 4">
            <a:extLst>
              <a:ext uri="{FF2B5EF4-FFF2-40B4-BE49-F238E27FC236}">
                <a16:creationId xmlns:a16="http://schemas.microsoft.com/office/drawing/2014/main" id="{69E4AD8D-03E4-E43F-BB87-7FC7747512F0}"/>
              </a:ext>
            </a:extLst>
          </p:cNvPr>
          <p:cNvGrpSpPr/>
          <p:nvPr/>
        </p:nvGrpSpPr>
        <p:grpSpPr>
          <a:xfrm>
            <a:off x="-8244" y="0"/>
            <a:ext cx="11688724" cy="2404560"/>
            <a:chOff x="-8244" y="0"/>
            <a:chExt cx="11688724" cy="2404560"/>
          </a:xfrm>
        </p:grpSpPr>
        <p:sp>
          <p:nvSpPr>
            <p:cNvPr id="4" name="AutoShape 4">
              <a:extLst>
                <a:ext uri="{FF2B5EF4-FFF2-40B4-BE49-F238E27FC236}">
                  <a16:creationId xmlns:a16="http://schemas.microsoft.com/office/drawing/2014/main" id="{00926DBB-B04C-CE66-97BD-6017C3956E77}"/>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1" name="AutoShape 11">
              <a:extLst>
                <a:ext uri="{FF2B5EF4-FFF2-40B4-BE49-F238E27FC236}">
                  <a16:creationId xmlns:a16="http://schemas.microsoft.com/office/drawing/2014/main" id="{4D24DAA2-AEBB-84ED-C19B-9F323A02B1D5}"/>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Freeform 12">
              <a:extLst>
                <a:ext uri="{FF2B5EF4-FFF2-40B4-BE49-F238E27FC236}">
                  <a16:creationId xmlns:a16="http://schemas.microsoft.com/office/drawing/2014/main" id="{55CA4C33-B489-A530-2F49-05FE98506307}"/>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TW" altLang="en-US"/>
            </a:p>
          </p:txBody>
        </p:sp>
      </p:grpSp>
    </p:spTree>
    <p:extLst>
      <p:ext uri="{BB962C8B-B14F-4D97-AF65-F5344CB8AC3E}">
        <p14:creationId xmlns:p14="http://schemas.microsoft.com/office/powerpoint/2010/main" val="30212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798122" y="-1365340"/>
            <a:ext cx="16841122" cy="14973289"/>
          </a:xfrm>
          <a:custGeom>
            <a:avLst/>
            <a:gdLst/>
            <a:ahLst/>
            <a:cxnLst/>
            <a:rect l="l" t="t" r="r" b="b"/>
            <a:pathLst>
              <a:path w="16841122" h="14973289">
                <a:moveTo>
                  <a:pt x="0" y="0"/>
                </a:moveTo>
                <a:lnTo>
                  <a:pt x="16841122" y="0"/>
                </a:lnTo>
                <a:lnTo>
                  <a:pt x="16841122" y="14973289"/>
                </a:lnTo>
                <a:lnTo>
                  <a:pt x="0" y="14973289"/>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zh-TW" altLang="en-US"/>
          </a:p>
        </p:txBody>
      </p:sp>
      <p:sp>
        <p:nvSpPr>
          <p:cNvPr id="9" name="TextBox 7">
            <a:extLst>
              <a:ext uri="{FF2B5EF4-FFF2-40B4-BE49-F238E27FC236}">
                <a16:creationId xmlns:a16="http://schemas.microsoft.com/office/drawing/2014/main" id="{93FBCDDE-E83A-CBEE-BCF2-47011CFF971C}"/>
              </a:ext>
            </a:extLst>
          </p:cNvPr>
          <p:cNvSpPr txBox="1"/>
          <p:nvPr/>
        </p:nvSpPr>
        <p:spPr>
          <a:xfrm>
            <a:off x="986877" y="104761"/>
            <a:ext cx="8690523" cy="1144544"/>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Criteria of Setup Time Required</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grpSp>
        <p:nvGrpSpPr>
          <p:cNvPr id="10" name="群組 9">
            <a:extLst>
              <a:ext uri="{FF2B5EF4-FFF2-40B4-BE49-F238E27FC236}">
                <a16:creationId xmlns:a16="http://schemas.microsoft.com/office/drawing/2014/main" id="{CD4BAF42-3136-5732-C604-23C9941025DB}"/>
              </a:ext>
            </a:extLst>
          </p:cNvPr>
          <p:cNvGrpSpPr/>
          <p:nvPr/>
        </p:nvGrpSpPr>
        <p:grpSpPr>
          <a:xfrm>
            <a:off x="-8244" y="0"/>
            <a:ext cx="11688724" cy="2404560"/>
            <a:chOff x="-8244" y="0"/>
            <a:chExt cx="11688724" cy="2404560"/>
          </a:xfrm>
        </p:grpSpPr>
        <p:sp>
          <p:nvSpPr>
            <p:cNvPr id="11" name="AutoShape 4">
              <a:extLst>
                <a:ext uri="{FF2B5EF4-FFF2-40B4-BE49-F238E27FC236}">
                  <a16:creationId xmlns:a16="http://schemas.microsoft.com/office/drawing/2014/main" id="{F125E96E-9684-85B5-4847-BC2E6E8613D8}"/>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AutoShape 11">
              <a:extLst>
                <a:ext uri="{FF2B5EF4-FFF2-40B4-BE49-F238E27FC236}">
                  <a16:creationId xmlns:a16="http://schemas.microsoft.com/office/drawing/2014/main" id="{BAA0826C-CA60-C36C-A9F0-93E7E093D944}"/>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3" name="Freeform 12">
              <a:extLst>
                <a:ext uri="{FF2B5EF4-FFF2-40B4-BE49-F238E27FC236}">
                  <a16:creationId xmlns:a16="http://schemas.microsoft.com/office/drawing/2014/main" id="{63AD2135-E8BD-AD9C-226E-50753C606A64}"/>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pSp>
      <p:sp>
        <p:nvSpPr>
          <p:cNvPr id="3" name="文字方塊 2">
            <a:extLst>
              <a:ext uri="{FF2B5EF4-FFF2-40B4-BE49-F238E27FC236}">
                <a16:creationId xmlns:a16="http://schemas.microsoft.com/office/drawing/2014/main" id="{5E1B3EFD-8ECB-598F-70EE-C8C9A3D7A11D}"/>
              </a:ext>
            </a:extLst>
          </p:cNvPr>
          <p:cNvSpPr txBox="1"/>
          <p:nvPr/>
        </p:nvSpPr>
        <p:spPr>
          <a:xfrm>
            <a:off x="1143000" y="2112172"/>
            <a:ext cx="11269080" cy="584775"/>
          </a:xfrm>
          <a:prstGeom prst="rect">
            <a:avLst/>
          </a:prstGeom>
          <a:noFill/>
        </p:spPr>
        <p:txBody>
          <a:bodyPr wrap="square" rtlCol="0">
            <a:spAutoFit/>
          </a:bodyPr>
          <a:lstStyle/>
          <a:p>
            <a:pPr marL="457200" indent="-457200">
              <a:buFont typeface="Arial" panose="020B0604020202020204" pitchFamily="34" charset="0"/>
              <a:buChar char="•"/>
            </a:pPr>
            <a:r>
              <a:rPr lang="en-US" altLang="zh-TW" sz="3200" dirty="0">
                <a:solidFill>
                  <a:srgbClr val="695C4A"/>
                </a:solidFill>
                <a:latin typeface="Times New Roman" panose="02020603050405020304" pitchFamily="18" charset="0"/>
                <a:ea typeface="Livvic"/>
                <a:cs typeface="Times New Roman" panose="02020603050405020304" pitchFamily="18" charset="0"/>
              </a:rPr>
              <a:t>Criteria of setup time required between </a:t>
            </a:r>
            <a:r>
              <a:rPr lang="en-US" altLang="zh-TW" sz="3200" b="1" dirty="0">
                <a:solidFill>
                  <a:srgbClr val="695C4A"/>
                </a:solidFill>
                <a:latin typeface="Times New Roman" panose="02020603050405020304" pitchFamily="18" charset="0"/>
                <a:ea typeface="Livvic"/>
                <a:cs typeface="Times New Roman" panose="02020603050405020304" pitchFamily="18" charset="0"/>
              </a:rPr>
              <a:t>two consecutive orders</a:t>
            </a:r>
            <a:r>
              <a:rPr lang="en-US" altLang="zh-TW" sz="3200" dirty="0">
                <a:solidFill>
                  <a:srgbClr val="695C4A"/>
                </a:solidFill>
                <a:latin typeface="Times New Roman" panose="02020603050405020304" pitchFamily="18" charset="0"/>
                <a:ea typeface="Livvic"/>
                <a:cs typeface="Times New Roman" panose="02020603050405020304" pitchFamily="18" charset="0"/>
              </a:rPr>
              <a:t>:</a:t>
            </a:r>
          </a:p>
        </p:txBody>
      </p:sp>
      <p:sp>
        <p:nvSpPr>
          <p:cNvPr id="8" name="文字方塊 7">
            <a:extLst>
              <a:ext uri="{FF2B5EF4-FFF2-40B4-BE49-F238E27FC236}">
                <a16:creationId xmlns:a16="http://schemas.microsoft.com/office/drawing/2014/main" id="{BBA9FC2D-E71B-7CED-B8F4-77F9BA5379EF}"/>
              </a:ext>
            </a:extLst>
          </p:cNvPr>
          <p:cNvSpPr txBox="1"/>
          <p:nvPr/>
        </p:nvSpPr>
        <p:spPr>
          <a:xfrm>
            <a:off x="1811182" y="5646809"/>
            <a:ext cx="2590800" cy="584775"/>
          </a:xfrm>
          <a:prstGeom prst="rect">
            <a:avLst/>
          </a:prstGeom>
          <a:noFill/>
          <a:ln>
            <a:solidFill>
              <a:schemeClr val="bg2">
                <a:lumMod val="25000"/>
              </a:schemeClr>
            </a:solidFill>
          </a:ln>
        </p:spPr>
        <p:txBody>
          <a:bodyPr wrap="square" rtlCol="0">
            <a:spAutoFit/>
          </a:bodyPr>
          <a:lstStyle/>
          <a:p>
            <a:pPr algn="ctr"/>
            <a:r>
              <a:rPr lang="en-US" altLang="zh-TW" sz="3200" dirty="0">
                <a:solidFill>
                  <a:srgbClr val="695C4A"/>
                </a:solidFill>
                <a:latin typeface="Times New Roman" panose="02020603050405020304" pitchFamily="18" charset="0"/>
                <a:ea typeface="Livvic"/>
                <a:cs typeface="Times New Roman" panose="02020603050405020304" pitchFamily="18" charset="0"/>
              </a:rPr>
              <a:t>Same type</a:t>
            </a:r>
          </a:p>
        </p:txBody>
      </p:sp>
      <p:sp>
        <p:nvSpPr>
          <p:cNvPr id="14" name="文字方塊 13">
            <a:extLst>
              <a:ext uri="{FF2B5EF4-FFF2-40B4-BE49-F238E27FC236}">
                <a16:creationId xmlns:a16="http://schemas.microsoft.com/office/drawing/2014/main" id="{5B529680-EF17-B3EA-1F83-2F2FBF78F9CA}"/>
              </a:ext>
            </a:extLst>
          </p:cNvPr>
          <p:cNvSpPr txBox="1"/>
          <p:nvPr/>
        </p:nvSpPr>
        <p:spPr>
          <a:xfrm>
            <a:off x="1726405" y="3364166"/>
            <a:ext cx="3000002" cy="584775"/>
          </a:xfrm>
          <a:prstGeom prst="rect">
            <a:avLst/>
          </a:prstGeom>
          <a:noFill/>
          <a:ln>
            <a:solidFill>
              <a:schemeClr val="bg2">
                <a:lumMod val="25000"/>
              </a:schemeClr>
            </a:solidFill>
          </a:ln>
        </p:spPr>
        <p:txBody>
          <a:bodyPr wrap="square" rtlCol="0">
            <a:spAutoFit/>
          </a:bodyPr>
          <a:lstStyle/>
          <a:p>
            <a:pPr algn="ctr"/>
            <a:r>
              <a:rPr lang="en-US" altLang="zh-TW" sz="3200" dirty="0">
                <a:solidFill>
                  <a:srgbClr val="695C4A"/>
                </a:solidFill>
                <a:latin typeface="Times New Roman" panose="02020603050405020304" pitchFamily="18" charset="0"/>
                <a:ea typeface="Livvic"/>
                <a:cs typeface="Times New Roman" panose="02020603050405020304" pitchFamily="18" charset="0"/>
              </a:rPr>
              <a:t>Different type</a:t>
            </a:r>
          </a:p>
        </p:txBody>
      </p:sp>
      <p:cxnSp>
        <p:nvCxnSpPr>
          <p:cNvPr id="20" name="直線單箭頭接點 19">
            <a:extLst>
              <a:ext uri="{FF2B5EF4-FFF2-40B4-BE49-F238E27FC236}">
                <a16:creationId xmlns:a16="http://schemas.microsoft.com/office/drawing/2014/main" id="{0160FE0A-074B-4F39-C3F5-6D3E13F898C3}"/>
              </a:ext>
            </a:extLst>
          </p:cNvPr>
          <p:cNvCxnSpPr>
            <a:cxnSpLocks/>
            <a:endCxn id="8" idx="1"/>
          </p:cNvCxnSpPr>
          <p:nvPr/>
        </p:nvCxnSpPr>
        <p:spPr>
          <a:xfrm>
            <a:off x="923140" y="4831851"/>
            <a:ext cx="888042" cy="1107346"/>
          </a:xfrm>
          <a:prstGeom prst="straightConnector1">
            <a:avLst/>
          </a:prstGeom>
          <a:ln w="285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77E6FBC7-728F-97AC-1FA5-BBFE44701B98}"/>
              </a:ext>
            </a:extLst>
          </p:cNvPr>
          <p:cNvCxnSpPr>
            <a:cxnSpLocks/>
          </p:cNvCxnSpPr>
          <p:nvPr/>
        </p:nvCxnSpPr>
        <p:spPr>
          <a:xfrm flipV="1">
            <a:off x="914400" y="3656554"/>
            <a:ext cx="775220" cy="1175297"/>
          </a:xfrm>
          <a:prstGeom prst="straightConnector1">
            <a:avLst/>
          </a:prstGeom>
          <a:ln w="285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19789FEE-8D05-70BD-4B02-C29EEE0B1789}"/>
              </a:ext>
            </a:extLst>
          </p:cNvPr>
          <p:cNvSpPr txBox="1"/>
          <p:nvPr/>
        </p:nvSpPr>
        <p:spPr>
          <a:xfrm>
            <a:off x="5042457" y="4831851"/>
            <a:ext cx="2590800" cy="584775"/>
          </a:xfrm>
          <a:prstGeom prst="rect">
            <a:avLst/>
          </a:prstGeom>
          <a:noFill/>
          <a:ln>
            <a:solidFill>
              <a:schemeClr val="bg2">
                <a:lumMod val="25000"/>
              </a:schemeClr>
            </a:solidFill>
          </a:ln>
        </p:spPr>
        <p:txBody>
          <a:bodyPr wrap="square" rtlCol="0">
            <a:spAutoFit/>
          </a:bodyPr>
          <a:lstStyle/>
          <a:p>
            <a:pPr algn="ctr"/>
            <a:r>
              <a:rPr lang="en-US" altLang="zh-TW" sz="3200" dirty="0">
                <a:solidFill>
                  <a:srgbClr val="695C4A"/>
                </a:solidFill>
                <a:latin typeface="Times New Roman" panose="02020603050405020304" pitchFamily="18" charset="0"/>
                <a:ea typeface="Livvic"/>
                <a:cs typeface="Times New Roman" panose="02020603050405020304" pitchFamily="18" charset="0"/>
              </a:rPr>
              <a:t>Same material</a:t>
            </a:r>
          </a:p>
        </p:txBody>
      </p:sp>
      <p:sp>
        <p:nvSpPr>
          <p:cNvPr id="32" name="文字方塊 31">
            <a:extLst>
              <a:ext uri="{FF2B5EF4-FFF2-40B4-BE49-F238E27FC236}">
                <a16:creationId xmlns:a16="http://schemas.microsoft.com/office/drawing/2014/main" id="{1F96B8AE-D40A-9AEB-8686-F2823A012EC1}"/>
              </a:ext>
            </a:extLst>
          </p:cNvPr>
          <p:cNvSpPr txBox="1"/>
          <p:nvPr/>
        </p:nvSpPr>
        <p:spPr>
          <a:xfrm>
            <a:off x="5011227" y="6840820"/>
            <a:ext cx="3220518" cy="584775"/>
          </a:xfrm>
          <a:prstGeom prst="rect">
            <a:avLst/>
          </a:prstGeom>
          <a:noFill/>
          <a:ln>
            <a:solidFill>
              <a:schemeClr val="bg2">
                <a:lumMod val="25000"/>
              </a:schemeClr>
            </a:solidFill>
          </a:ln>
        </p:spPr>
        <p:txBody>
          <a:bodyPr wrap="square" rtlCol="0">
            <a:spAutoFit/>
          </a:bodyPr>
          <a:lstStyle/>
          <a:p>
            <a:pPr algn="ctr"/>
            <a:r>
              <a:rPr lang="en-US" altLang="zh-TW" sz="3200" dirty="0">
                <a:solidFill>
                  <a:srgbClr val="695C4A"/>
                </a:solidFill>
                <a:latin typeface="Times New Roman" panose="02020603050405020304" pitchFamily="18" charset="0"/>
                <a:ea typeface="Livvic"/>
                <a:cs typeface="Times New Roman" panose="02020603050405020304" pitchFamily="18" charset="0"/>
              </a:rPr>
              <a:t>Different material</a:t>
            </a:r>
          </a:p>
        </p:txBody>
      </p:sp>
      <p:cxnSp>
        <p:nvCxnSpPr>
          <p:cNvPr id="34" name="直線單箭頭接點 33">
            <a:extLst>
              <a:ext uri="{FF2B5EF4-FFF2-40B4-BE49-F238E27FC236}">
                <a16:creationId xmlns:a16="http://schemas.microsoft.com/office/drawing/2014/main" id="{857839F7-C5C2-CF1F-818F-EB752B3A3EE9}"/>
              </a:ext>
            </a:extLst>
          </p:cNvPr>
          <p:cNvCxnSpPr>
            <a:cxnSpLocks/>
            <a:stCxn id="8" idx="3"/>
            <a:endCxn id="31" idx="1"/>
          </p:cNvCxnSpPr>
          <p:nvPr/>
        </p:nvCxnSpPr>
        <p:spPr>
          <a:xfrm flipV="1">
            <a:off x="4401982" y="5124239"/>
            <a:ext cx="640475" cy="814958"/>
          </a:xfrm>
          <a:prstGeom prst="straightConnector1">
            <a:avLst/>
          </a:prstGeom>
          <a:ln w="285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FCA7E0E7-9063-0FBC-81AF-37C830C2154E}"/>
              </a:ext>
            </a:extLst>
          </p:cNvPr>
          <p:cNvCxnSpPr>
            <a:cxnSpLocks/>
            <a:stCxn id="8" idx="3"/>
            <a:endCxn id="32" idx="1"/>
          </p:cNvCxnSpPr>
          <p:nvPr/>
        </p:nvCxnSpPr>
        <p:spPr>
          <a:xfrm>
            <a:off x="4401982" y="5939197"/>
            <a:ext cx="609245" cy="1194011"/>
          </a:xfrm>
          <a:prstGeom prst="straightConnector1">
            <a:avLst/>
          </a:prstGeom>
          <a:ln w="285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0" name="文字方塊 69">
            <a:extLst>
              <a:ext uri="{FF2B5EF4-FFF2-40B4-BE49-F238E27FC236}">
                <a16:creationId xmlns:a16="http://schemas.microsoft.com/office/drawing/2014/main" id="{8AA49FAE-8C78-5CE6-B773-378B95F83517}"/>
              </a:ext>
            </a:extLst>
          </p:cNvPr>
          <p:cNvSpPr txBox="1"/>
          <p:nvPr/>
        </p:nvSpPr>
        <p:spPr>
          <a:xfrm>
            <a:off x="9144000" y="3364166"/>
            <a:ext cx="3141838" cy="584775"/>
          </a:xfrm>
          <a:prstGeom prst="rect">
            <a:avLst/>
          </a:prstGeom>
          <a:noFill/>
          <a:ln>
            <a:noFill/>
          </a:ln>
        </p:spPr>
        <p:txBody>
          <a:bodyPr wrap="square" rtlCol="0">
            <a:spAutoFit/>
          </a:bodyPr>
          <a:lstStyle/>
          <a:p>
            <a:r>
              <a:rPr lang="en-US" altLang="zh-TW" sz="3200" dirty="0">
                <a:solidFill>
                  <a:srgbClr val="FF0000"/>
                </a:solidFill>
                <a:latin typeface="Times New Roman" panose="02020603050405020304" pitchFamily="18" charset="0"/>
                <a:ea typeface="Livvic"/>
                <a:cs typeface="Times New Roman" panose="02020603050405020304" pitchFamily="18" charset="0"/>
              </a:rPr>
              <a:t>Clean, Tune</a:t>
            </a:r>
          </a:p>
        </p:txBody>
      </p:sp>
      <p:sp>
        <p:nvSpPr>
          <p:cNvPr id="79" name="文字方塊 78">
            <a:extLst>
              <a:ext uri="{FF2B5EF4-FFF2-40B4-BE49-F238E27FC236}">
                <a16:creationId xmlns:a16="http://schemas.microsoft.com/office/drawing/2014/main" id="{0FDC9F1C-DD30-4174-D005-A99715E6285E}"/>
              </a:ext>
            </a:extLst>
          </p:cNvPr>
          <p:cNvSpPr txBox="1"/>
          <p:nvPr/>
        </p:nvSpPr>
        <p:spPr>
          <a:xfrm>
            <a:off x="9186350" y="4831851"/>
            <a:ext cx="3324383" cy="584775"/>
          </a:xfrm>
          <a:prstGeom prst="rect">
            <a:avLst/>
          </a:prstGeom>
          <a:noFill/>
          <a:ln>
            <a:noFill/>
          </a:ln>
        </p:spPr>
        <p:txBody>
          <a:bodyPr wrap="square" rtlCol="0">
            <a:spAutoFit/>
          </a:bodyPr>
          <a:lstStyle/>
          <a:p>
            <a:r>
              <a:rPr lang="en-US" altLang="zh-TW" sz="3200" dirty="0">
                <a:solidFill>
                  <a:srgbClr val="FF0000"/>
                </a:solidFill>
                <a:latin typeface="Times New Roman" panose="02020603050405020304" pitchFamily="18" charset="0"/>
                <a:ea typeface="Livvic"/>
                <a:cs typeface="Times New Roman" panose="02020603050405020304" pitchFamily="18" charset="0"/>
              </a:rPr>
              <a:t>No setup required</a:t>
            </a:r>
          </a:p>
        </p:txBody>
      </p:sp>
      <p:sp>
        <p:nvSpPr>
          <p:cNvPr id="80" name="文字方塊 79">
            <a:extLst>
              <a:ext uri="{FF2B5EF4-FFF2-40B4-BE49-F238E27FC236}">
                <a16:creationId xmlns:a16="http://schemas.microsoft.com/office/drawing/2014/main" id="{DC826380-687A-C3CD-E3C3-FDB19DB440F8}"/>
              </a:ext>
            </a:extLst>
          </p:cNvPr>
          <p:cNvSpPr txBox="1"/>
          <p:nvPr/>
        </p:nvSpPr>
        <p:spPr>
          <a:xfrm>
            <a:off x="9144000" y="6840819"/>
            <a:ext cx="1571788" cy="584775"/>
          </a:xfrm>
          <a:prstGeom prst="rect">
            <a:avLst/>
          </a:prstGeom>
          <a:noFill/>
          <a:ln>
            <a:noFill/>
          </a:ln>
        </p:spPr>
        <p:txBody>
          <a:bodyPr wrap="square" rtlCol="0">
            <a:spAutoFit/>
          </a:bodyPr>
          <a:lstStyle/>
          <a:p>
            <a:r>
              <a:rPr lang="en-US" altLang="zh-TW" sz="3200" dirty="0">
                <a:solidFill>
                  <a:srgbClr val="FF0000"/>
                </a:solidFill>
                <a:latin typeface="Times New Roman" panose="02020603050405020304" pitchFamily="18" charset="0"/>
                <a:ea typeface="Livvic"/>
                <a:cs typeface="Times New Roman" panose="02020603050405020304" pitchFamily="18" charset="0"/>
              </a:rPr>
              <a:t>Tune</a:t>
            </a:r>
          </a:p>
        </p:txBody>
      </p:sp>
      <p:cxnSp>
        <p:nvCxnSpPr>
          <p:cNvPr id="86" name="直線單箭頭接點 85">
            <a:extLst>
              <a:ext uri="{FF2B5EF4-FFF2-40B4-BE49-F238E27FC236}">
                <a16:creationId xmlns:a16="http://schemas.microsoft.com/office/drawing/2014/main" id="{B7BCDCE1-2A91-AE17-870D-13784072D940}"/>
              </a:ext>
            </a:extLst>
          </p:cNvPr>
          <p:cNvCxnSpPr>
            <a:cxnSpLocks/>
            <a:stCxn id="14" idx="3"/>
            <a:endCxn id="70" idx="1"/>
          </p:cNvCxnSpPr>
          <p:nvPr/>
        </p:nvCxnSpPr>
        <p:spPr>
          <a:xfrm>
            <a:off x="4726407" y="3656554"/>
            <a:ext cx="4417593" cy="0"/>
          </a:xfrm>
          <a:prstGeom prst="straightConnector1">
            <a:avLst/>
          </a:prstGeom>
          <a:ln w="285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a:extLst>
              <a:ext uri="{FF2B5EF4-FFF2-40B4-BE49-F238E27FC236}">
                <a16:creationId xmlns:a16="http://schemas.microsoft.com/office/drawing/2014/main" id="{E6CC7C66-AE14-5841-AFE8-EFE7CEE9AF26}"/>
              </a:ext>
            </a:extLst>
          </p:cNvPr>
          <p:cNvCxnSpPr>
            <a:cxnSpLocks/>
            <a:stCxn id="31" idx="3"/>
            <a:endCxn id="79" idx="1"/>
          </p:cNvCxnSpPr>
          <p:nvPr/>
        </p:nvCxnSpPr>
        <p:spPr>
          <a:xfrm>
            <a:off x="7633257" y="5124239"/>
            <a:ext cx="1553093" cy="0"/>
          </a:xfrm>
          <a:prstGeom prst="straightConnector1">
            <a:avLst/>
          </a:prstGeom>
          <a:ln w="285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a:extLst>
              <a:ext uri="{FF2B5EF4-FFF2-40B4-BE49-F238E27FC236}">
                <a16:creationId xmlns:a16="http://schemas.microsoft.com/office/drawing/2014/main" id="{A102BC43-3B89-7333-4676-F2AFAB4AD481}"/>
              </a:ext>
            </a:extLst>
          </p:cNvPr>
          <p:cNvCxnSpPr>
            <a:cxnSpLocks/>
            <a:stCxn id="32" idx="3"/>
            <a:endCxn id="80" idx="1"/>
          </p:cNvCxnSpPr>
          <p:nvPr/>
        </p:nvCxnSpPr>
        <p:spPr>
          <a:xfrm flipV="1">
            <a:off x="8231745" y="7133207"/>
            <a:ext cx="912255" cy="1"/>
          </a:xfrm>
          <a:prstGeom prst="straightConnector1">
            <a:avLst/>
          </a:prstGeom>
          <a:ln w="285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 name="文字方塊 3">
            <a:extLst>
              <a:ext uri="{FF2B5EF4-FFF2-40B4-BE49-F238E27FC236}">
                <a16:creationId xmlns:a16="http://schemas.microsoft.com/office/drawing/2014/main" id="{314A7C3B-1BA3-D9E8-0D6F-9347E7AE08C1}"/>
              </a:ext>
            </a:extLst>
          </p:cNvPr>
          <p:cNvSpPr txBox="1"/>
          <p:nvPr/>
        </p:nvSpPr>
        <p:spPr>
          <a:xfrm>
            <a:off x="1143000" y="7737080"/>
            <a:ext cx="13868400" cy="1481175"/>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altLang="zh-TW" sz="3200" dirty="0">
                <a:solidFill>
                  <a:srgbClr val="695C4A"/>
                </a:solidFill>
                <a:latin typeface="Times New Roman" panose="02020603050405020304" pitchFamily="18" charset="0"/>
                <a:ea typeface="Livvic"/>
                <a:cs typeface="Times New Roman" panose="02020603050405020304" pitchFamily="18" charset="0"/>
              </a:rPr>
              <a:t>Setup time required between </a:t>
            </a:r>
            <a:r>
              <a:rPr lang="en-US" altLang="zh-TW" sz="3200" b="1" dirty="0">
                <a:solidFill>
                  <a:srgbClr val="695C4A"/>
                </a:solidFill>
                <a:latin typeface="Times New Roman" panose="02020603050405020304" pitchFamily="18" charset="0"/>
                <a:ea typeface="Livvic"/>
                <a:cs typeface="Times New Roman" panose="02020603050405020304" pitchFamily="18" charset="0"/>
              </a:rPr>
              <a:t>two consecutive groups</a:t>
            </a:r>
            <a:r>
              <a:rPr lang="en-US" altLang="zh-TW" sz="3200" dirty="0">
                <a:solidFill>
                  <a:srgbClr val="695C4A"/>
                </a:solidFill>
                <a:latin typeface="Times New Roman" panose="02020603050405020304" pitchFamily="18" charset="0"/>
                <a:ea typeface="Livvic"/>
                <a:cs typeface="Times New Roman" panose="02020603050405020304" pitchFamily="18" charset="0"/>
              </a:rPr>
              <a:t>: </a:t>
            </a:r>
            <a:r>
              <a:rPr lang="en-US" altLang="zh-TW" sz="3200" dirty="0">
                <a:solidFill>
                  <a:srgbClr val="FF0000"/>
                </a:solidFill>
                <a:latin typeface="Times New Roman" panose="02020603050405020304" pitchFamily="18" charset="0"/>
                <a:ea typeface="Livvic"/>
                <a:cs typeface="Times New Roman" panose="02020603050405020304" pitchFamily="18" charset="0"/>
              </a:rPr>
              <a:t>Mount, Tune, Unmount</a:t>
            </a:r>
          </a:p>
          <a:p>
            <a:pPr marL="457200" indent="-457200">
              <a:lnSpc>
                <a:spcPct val="150000"/>
              </a:lnSpc>
              <a:buFont typeface="Arial" panose="020B0604020202020204" pitchFamily="34" charset="0"/>
              <a:buChar char="•"/>
            </a:pPr>
            <a:r>
              <a:rPr lang="en-US" altLang="zh-TW" sz="3200" dirty="0">
                <a:solidFill>
                  <a:srgbClr val="695C4A"/>
                </a:solidFill>
                <a:latin typeface="Times New Roman" panose="02020603050405020304" pitchFamily="18" charset="0"/>
                <a:cs typeface="Times New Roman" panose="02020603050405020304" pitchFamily="18" charset="0"/>
              </a:rPr>
              <a:t>Each group may contain one(an order itself) or multiple orders.</a:t>
            </a:r>
          </a:p>
        </p:txBody>
      </p:sp>
      <p:graphicFrame>
        <p:nvGraphicFramePr>
          <p:cNvPr id="5" name="表格 4">
            <a:extLst>
              <a:ext uri="{FF2B5EF4-FFF2-40B4-BE49-F238E27FC236}">
                <a16:creationId xmlns:a16="http://schemas.microsoft.com/office/drawing/2014/main" id="{7B12D0D6-7965-1061-BCE2-60203A5D7088}"/>
              </a:ext>
            </a:extLst>
          </p:cNvPr>
          <p:cNvGraphicFramePr>
            <a:graphicFrameLocks noGrp="1"/>
          </p:cNvGraphicFramePr>
          <p:nvPr/>
        </p:nvGraphicFramePr>
        <p:xfrm>
          <a:off x="12967304" y="3567435"/>
          <a:ext cx="4796958" cy="3238018"/>
        </p:xfrm>
        <a:graphic>
          <a:graphicData uri="http://schemas.openxmlformats.org/drawingml/2006/table">
            <a:tbl>
              <a:tblPr firstRow="1" bandRow="1">
                <a:tableStyleId>{2D5ABB26-0587-4C30-8999-92F81FD0307C}</a:tableStyleId>
              </a:tblPr>
              <a:tblGrid>
                <a:gridCol w="1773893">
                  <a:extLst>
                    <a:ext uri="{9D8B030D-6E8A-4147-A177-3AD203B41FA5}">
                      <a16:colId xmlns:a16="http://schemas.microsoft.com/office/drawing/2014/main" val="2474531545"/>
                    </a:ext>
                  </a:extLst>
                </a:gridCol>
                <a:gridCol w="3023065">
                  <a:extLst>
                    <a:ext uri="{9D8B030D-6E8A-4147-A177-3AD203B41FA5}">
                      <a16:colId xmlns:a16="http://schemas.microsoft.com/office/drawing/2014/main" val="2164255191"/>
                    </a:ext>
                  </a:extLst>
                </a:gridCol>
              </a:tblGrid>
              <a:tr h="745066">
                <a:tc>
                  <a:txBody>
                    <a:bodyPr/>
                    <a:lstStyle/>
                    <a:p>
                      <a:pPr algn="ctr">
                        <a:lnSpc>
                          <a:spcPct val="150000"/>
                        </a:lnSpc>
                      </a:pPr>
                      <a:r>
                        <a:rPr lang="en-US" altLang="zh-TW" sz="2400" kern="1200" dirty="0">
                          <a:solidFill>
                            <a:srgbClr val="695C4A"/>
                          </a:solidFill>
                          <a:latin typeface="Times New Roman" panose="02020603050405020304" pitchFamily="18" charset="0"/>
                          <a:cs typeface="Times New Roman" panose="02020603050405020304" pitchFamily="18" charset="0"/>
                        </a:rPr>
                        <a:t>Setup</a:t>
                      </a:r>
                      <a:endParaRPr lang="zh-TW" altLang="en-US" sz="2400" kern="1200" dirty="0">
                        <a:solidFill>
                          <a:srgbClr val="695C4A"/>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kern="1200" dirty="0">
                          <a:solidFill>
                            <a:srgbClr val="695C4A"/>
                          </a:solidFill>
                          <a:latin typeface="Times New Roman" panose="02020603050405020304" pitchFamily="18" charset="0"/>
                          <a:cs typeface="Times New Roman" panose="02020603050405020304" pitchFamily="18" charset="0"/>
                        </a:rPr>
                        <a:t>Processing time(min)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487628"/>
                  </a:ext>
                </a:extLst>
              </a:tr>
              <a:tr h="623238">
                <a:tc>
                  <a:txBody>
                    <a:bodyPr/>
                    <a:lstStyle/>
                    <a:p>
                      <a:pPr algn="ctr">
                        <a:lnSpc>
                          <a:spcPct val="150000"/>
                        </a:lnSpc>
                      </a:pPr>
                      <a:r>
                        <a:rPr lang="en-US" altLang="zh-TW" sz="2400" kern="1200" dirty="0">
                          <a:solidFill>
                            <a:srgbClr val="695C4A"/>
                          </a:solidFill>
                          <a:latin typeface="Times New Roman" panose="02020603050405020304" pitchFamily="18" charset="0"/>
                          <a:cs typeface="Times New Roman" panose="02020603050405020304" pitchFamily="18" charset="0"/>
                        </a:rPr>
                        <a:t>Mount</a:t>
                      </a:r>
                      <a:endParaRPr lang="zh-TW" altLang="en-US" sz="2400" kern="1200" dirty="0">
                        <a:solidFill>
                          <a:srgbClr val="695C4A"/>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mj-lt"/>
                        <a:buNone/>
                        <a:tabLst/>
                        <a:defRPr/>
                      </a:pPr>
                      <a:r>
                        <a:rPr lang="en-US" altLang="zh-TW" sz="2400" kern="1200" dirty="0">
                          <a:solidFill>
                            <a:srgbClr val="695C4A"/>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57458"/>
                  </a:ext>
                </a:extLst>
              </a:tr>
              <a:tr h="623238">
                <a:tc>
                  <a:txBody>
                    <a:bodyPr/>
                    <a:lstStyle/>
                    <a:p>
                      <a:pPr algn="ctr">
                        <a:lnSpc>
                          <a:spcPct val="150000"/>
                        </a:lnSpc>
                      </a:pPr>
                      <a:r>
                        <a:rPr lang="en-US" altLang="zh-TW" sz="2400" kern="1200" dirty="0">
                          <a:solidFill>
                            <a:srgbClr val="695C4A"/>
                          </a:solidFill>
                          <a:latin typeface="Times New Roman" panose="02020603050405020304" pitchFamily="18" charset="0"/>
                          <a:ea typeface="+mn-ea"/>
                          <a:cs typeface="Times New Roman" panose="02020603050405020304" pitchFamily="18" charset="0"/>
                        </a:rPr>
                        <a:t>Unmount</a:t>
                      </a:r>
                      <a:endParaRPr lang="zh-TW" altLang="en-US" sz="2400" kern="1200" dirty="0">
                        <a:solidFill>
                          <a:srgbClr val="695C4A"/>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mj-lt"/>
                        <a:buNone/>
                        <a:tabLst/>
                        <a:defRPr/>
                      </a:pPr>
                      <a:r>
                        <a:rPr lang="en-US" altLang="zh-TW" sz="2400" kern="1200" dirty="0">
                          <a:solidFill>
                            <a:srgbClr val="695C4A"/>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6700064"/>
                  </a:ext>
                </a:extLst>
              </a:tr>
              <a:tr h="623238">
                <a:tc>
                  <a:txBody>
                    <a:bodyPr/>
                    <a:lstStyle/>
                    <a:p>
                      <a:pPr algn="ctr">
                        <a:lnSpc>
                          <a:spcPct val="150000"/>
                        </a:lnSpc>
                      </a:pPr>
                      <a:r>
                        <a:rPr lang="en-US" altLang="zh-TW" sz="2400" kern="1200" dirty="0">
                          <a:solidFill>
                            <a:srgbClr val="695C4A"/>
                          </a:solidFill>
                          <a:latin typeface="Times New Roman" panose="02020603050405020304" pitchFamily="18" charset="0"/>
                          <a:ea typeface="+mn-ea"/>
                          <a:cs typeface="Times New Roman" panose="02020603050405020304" pitchFamily="18" charset="0"/>
                        </a:rPr>
                        <a:t>Clean</a:t>
                      </a:r>
                      <a:endParaRPr lang="zh-TW" altLang="en-US" sz="2400" kern="1200" dirty="0">
                        <a:solidFill>
                          <a:srgbClr val="695C4A"/>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mj-lt"/>
                        <a:buNone/>
                        <a:tabLst/>
                        <a:defRPr/>
                      </a:pPr>
                      <a:r>
                        <a:rPr lang="en-US" altLang="zh-TW" sz="2400" kern="1200" dirty="0">
                          <a:solidFill>
                            <a:srgbClr val="695C4A"/>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4773133"/>
                  </a:ext>
                </a:extLst>
              </a:tr>
              <a:tr h="623238">
                <a:tc>
                  <a:txBody>
                    <a:bodyPr/>
                    <a:lstStyle/>
                    <a:p>
                      <a:pPr algn="ctr">
                        <a:lnSpc>
                          <a:spcPct val="150000"/>
                        </a:lnSpc>
                      </a:pPr>
                      <a:r>
                        <a:rPr lang="en-US" altLang="zh-TW" sz="2400" kern="1200" dirty="0">
                          <a:solidFill>
                            <a:srgbClr val="695C4A"/>
                          </a:solidFill>
                          <a:latin typeface="Times New Roman" panose="02020603050405020304" pitchFamily="18" charset="0"/>
                          <a:ea typeface="+mn-ea"/>
                          <a:cs typeface="Times New Roman" panose="02020603050405020304" pitchFamily="18" charset="0"/>
                        </a:rPr>
                        <a:t>Tune</a:t>
                      </a:r>
                      <a:endParaRPr lang="zh-TW" altLang="en-US" sz="2400" kern="1200" dirty="0">
                        <a:solidFill>
                          <a:srgbClr val="695C4A"/>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mj-lt"/>
                        <a:buNone/>
                        <a:tabLst/>
                        <a:defRPr/>
                      </a:pPr>
                      <a:r>
                        <a:rPr lang="en-US" altLang="zh-TW" sz="2400" kern="1200" dirty="0">
                          <a:solidFill>
                            <a:srgbClr val="695C4A"/>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2116068"/>
                  </a:ext>
                </a:extLst>
              </a:tr>
            </a:tbl>
          </a:graphicData>
        </a:graphic>
      </p:graphicFrame>
    </p:spTree>
    <p:extLst>
      <p:ext uri="{BB962C8B-B14F-4D97-AF65-F5344CB8AC3E}">
        <p14:creationId xmlns:p14="http://schemas.microsoft.com/office/powerpoint/2010/main" val="768664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100000">
            <a:off x="10079440" y="3207230"/>
            <a:ext cx="14359719" cy="12767096"/>
          </a:xfrm>
          <a:custGeom>
            <a:avLst/>
            <a:gdLst/>
            <a:ahLst/>
            <a:cxnLst/>
            <a:rect l="l" t="t" r="r" b="b"/>
            <a:pathLst>
              <a:path w="14359719" h="12767096">
                <a:moveTo>
                  <a:pt x="0" y="0"/>
                </a:moveTo>
                <a:lnTo>
                  <a:pt x="14359720" y="0"/>
                </a:lnTo>
                <a:lnTo>
                  <a:pt x="14359720" y="12767096"/>
                </a:lnTo>
                <a:lnTo>
                  <a:pt x="0" y="12767096"/>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986877" y="104761"/>
            <a:ext cx="4905015" cy="1184940"/>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Assumptions </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8" name="TextBox 8"/>
          <p:cNvSpPr txBox="1"/>
          <p:nvPr/>
        </p:nvSpPr>
        <p:spPr>
          <a:xfrm>
            <a:off x="1524000" y="2707749"/>
            <a:ext cx="15240000" cy="5082160"/>
          </a:xfrm>
          <a:prstGeom prst="rect">
            <a:avLst/>
          </a:prstGeom>
        </p:spPr>
        <p:txBody>
          <a:bodyPr wrap="square" lIns="0" tIns="0" rIns="0" bIns="0" rtlCol="0" anchor="t">
            <a:spAutoFit/>
          </a:bodyPr>
          <a:lstStyle/>
          <a:p>
            <a:pPr marL="514350" lvl="0" indent="-514350">
              <a:lnSpc>
                <a:spcPct val="150000"/>
              </a:lnSpc>
              <a:buFont typeface="+mj-lt"/>
              <a:buAutoNum type="arabicPeriod"/>
            </a:pPr>
            <a:r>
              <a:rPr lang="en-US" sz="3200" dirty="0">
                <a:solidFill>
                  <a:srgbClr val="695C4A"/>
                </a:solidFill>
                <a:latin typeface="Times New Roman" panose="02020603050405020304" pitchFamily="18" charset="0"/>
                <a:ea typeface="Livvic"/>
                <a:cs typeface="Times New Roman" panose="02020603050405020304" pitchFamily="18" charset="0"/>
                <a:sym typeface="Livvic"/>
              </a:rPr>
              <a:t>All orders are available at time 0.</a:t>
            </a:r>
            <a:r>
              <a:rPr lang="zh-TW" altLang="en-US" sz="3200" dirty="0">
                <a:solidFill>
                  <a:srgbClr val="695C4A"/>
                </a:solidFill>
                <a:latin typeface="Times New Roman" panose="02020603050405020304" pitchFamily="18" charset="0"/>
                <a:ea typeface="Livvic"/>
                <a:cs typeface="Times New Roman" panose="02020603050405020304" pitchFamily="18" charset="0"/>
                <a:sym typeface="Livvic"/>
              </a:rPr>
              <a:t> </a:t>
            </a:r>
            <a:r>
              <a:rPr lang="en-US" altLang="zh-TW" sz="3200" dirty="0">
                <a:solidFill>
                  <a:srgbClr val="FF0000"/>
                </a:solidFill>
                <a:latin typeface="Times New Roman" panose="02020603050405020304" pitchFamily="18" charset="0"/>
                <a:ea typeface="Livvic"/>
                <a:cs typeface="Times New Roman" panose="02020603050405020304" pitchFamily="18" charset="0"/>
                <a:sym typeface="Livvic"/>
              </a:rPr>
              <a:t>(2026/5/1</a:t>
            </a:r>
            <a:r>
              <a:rPr lang="zh-TW" altLang="en-US" sz="3200" dirty="0">
                <a:solidFill>
                  <a:srgbClr val="FF0000"/>
                </a:solidFill>
                <a:latin typeface="Times New Roman" panose="02020603050405020304" pitchFamily="18" charset="0"/>
                <a:ea typeface="Livvic"/>
                <a:cs typeface="Times New Roman" panose="02020603050405020304" pitchFamily="18" charset="0"/>
                <a:sym typeface="Livvic"/>
              </a:rPr>
              <a:t> </a:t>
            </a:r>
            <a:r>
              <a:rPr lang="en-US" altLang="zh-TW" sz="3200" dirty="0">
                <a:solidFill>
                  <a:srgbClr val="FF0000"/>
                </a:solidFill>
                <a:latin typeface="Times New Roman" panose="02020603050405020304" pitchFamily="18" charset="0"/>
                <a:ea typeface="Livvic"/>
                <a:cs typeface="Times New Roman" panose="02020603050405020304" pitchFamily="18" charset="0"/>
                <a:sym typeface="Livvic"/>
              </a:rPr>
              <a:t>08:00:00)</a:t>
            </a:r>
            <a:endParaRPr lang="en-US" sz="3200" dirty="0">
              <a:solidFill>
                <a:srgbClr val="FF0000"/>
              </a:solidFill>
              <a:latin typeface="Times New Roman" panose="02020603050405020304" pitchFamily="18" charset="0"/>
              <a:ea typeface="Livvic"/>
              <a:cs typeface="Times New Roman" panose="02020603050405020304" pitchFamily="18" charset="0"/>
              <a:sym typeface="Livvic"/>
            </a:endParaRPr>
          </a:p>
          <a:p>
            <a:pPr marL="514350" lvl="0" indent="-514350">
              <a:lnSpc>
                <a:spcPct val="150000"/>
              </a:lnSpc>
              <a:buFont typeface="+mj-lt"/>
              <a:buAutoNum type="arabicPeriod"/>
            </a:pPr>
            <a:r>
              <a:rPr lang="en-US" sz="3200" dirty="0">
                <a:solidFill>
                  <a:srgbClr val="695C4A"/>
                </a:solidFill>
                <a:latin typeface="Times New Roman" panose="02020603050405020304" pitchFamily="18" charset="0"/>
                <a:cs typeface="Times New Roman" panose="02020603050405020304" pitchFamily="18" charset="0"/>
                <a:sym typeface="Livvic"/>
              </a:rPr>
              <a:t>Each order has a predefined processing time and due date.</a:t>
            </a:r>
          </a:p>
          <a:p>
            <a:pPr marL="514350" lvl="0" indent="-514350">
              <a:lnSpc>
                <a:spcPct val="150000"/>
              </a:lnSpc>
              <a:buFont typeface="+mj-lt"/>
              <a:buAutoNum type="arabicPeriod"/>
            </a:pPr>
            <a:r>
              <a:rPr lang="en-US" sz="3200" dirty="0">
                <a:solidFill>
                  <a:srgbClr val="695C4A"/>
                </a:solidFill>
                <a:latin typeface="Times New Roman" panose="02020603050405020304" pitchFamily="18" charset="0"/>
                <a:cs typeface="Times New Roman" panose="02020603050405020304" pitchFamily="18" charset="0"/>
                <a:sym typeface="Livvic"/>
              </a:rPr>
              <a:t>Once an order starts processing, it cannot be interrupted.</a:t>
            </a:r>
          </a:p>
          <a:p>
            <a:pPr marL="514350" indent="-514350">
              <a:lnSpc>
                <a:spcPct val="150000"/>
              </a:lnSpc>
              <a:buFont typeface="+mj-lt"/>
              <a:buAutoNum type="arabicPeriod"/>
            </a:pPr>
            <a:r>
              <a:rPr lang="en-US" sz="3200" dirty="0">
                <a:solidFill>
                  <a:srgbClr val="695C4A"/>
                </a:solidFill>
                <a:latin typeface="Times New Roman" panose="02020603050405020304" pitchFamily="18" charset="0"/>
                <a:cs typeface="Times New Roman" panose="02020603050405020304" pitchFamily="18" charset="0"/>
                <a:sym typeface="Livvic"/>
              </a:rPr>
              <a:t>All machines and molds are initially available.</a:t>
            </a:r>
            <a:r>
              <a:rPr lang="zh-TW" altLang="en-US" sz="3200" dirty="0">
                <a:solidFill>
                  <a:srgbClr val="695C4A"/>
                </a:solidFill>
                <a:latin typeface="Times New Roman" panose="02020603050405020304" pitchFamily="18" charset="0"/>
                <a:cs typeface="Times New Roman" panose="02020603050405020304" pitchFamily="18" charset="0"/>
                <a:sym typeface="Livvic"/>
              </a:rPr>
              <a:t> </a:t>
            </a:r>
            <a:r>
              <a:rPr lang="en-US" altLang="zh-TW" sz="3200" dirty="0">
                <a:solidFill>
                  <a:srgbClr val="FF0000"/>
                </a:solidFill>
                <a:latin typeface="Times New Roman" panose="02020603050405020304" pitchFamily="18" charset="0"/>
                <a:ea typeface="Livvic"/>
                <a:cs typeface="Times New Roman" panose="02020603050405020304" pitchFamily="18" charset="0"/>
                <a:sym typeface="Livvic"/>
              </a:rPr>
              <a:t>(2026/5/1</a:t>
            </a:r>
            <a:r>
              <a:rPr lang="zh-TW" altLang="en-US" sz="3200" dirty="0">
                <a:solidFill>
                  <a:srgbClr val="FF0000"/>
                </a:solidFill>
                <a:latin typeface="Times New Roman" panose="02020603050405020304" pitchFamily="18" charset="0"/>
                <a:ea typeface="Livvic"/>
                <a:cs typeface="Times New Roman" panose="02020603050405020304" pitchFamily="18" charset="0"/>
                <a:sym typeface="Livvic"/>
              </a:rPr>
              <a:t> </a:t>
            </a:r>
            <a:r>
              <a:rPr lang="en-US" altLang="zh-TW" sz="3200" dirty="0">
                <a:solidFill>
                  <a:srgbClr val="FF0000"/>
                </a:solidFill>
                <a:latin typeface="Times New Roman" panose="02020603050405020304" pitchFamily="18" charset="0"/>
                <a:ea typeface="Livvic"/>
                <a:cs typeface="Times New Roman" panose="02020603050405020304" pitchFamily="18" charset="0"/>
                <a:sym typeface="Livvic"/>
              </a:rPr>
              <a:t>08:00:00)</a:t>
            </a:r>
            <a:endParaRPr lang="en-US" sz="3200" dirty="0">
              <a:solidFill>
                <a:srgbClr val="FF0000"/>
              </a:solidFill>
              <a:latin typeface="Times New Roman" panose="02020603050405020304" pitchFamily="18" charset="0"/>
              <a:cs typeface="Times New Roman" panose="02020603050405020304" pitchFamily="18" charset="0"/>
              <a:sym typeface="Livvic"/>
            </a:endParaRPr>
          </a:p>
          <a:p>
            <a:pPr marL="514350" lvl="0" indent="-514350">
              <a:lnSpc>
                <a:spcPct val="150000"/>
              </a:lnSpc>
              <a:buFont typeface="+mj-lt"/>
              <a:buAutoNum type="arabicPeriod"/>
            </a:pPr>
            <a:r>
              <a:rPr lang="en-US" altLang="zh-TW" sz="3200" dirty="0">
                <a:solidFill>
                  <a:srgbClr val="695C4A"/>
                </a:solidFill>
                <a:latin typeface="Times New Roman" panose="02020603050405020304" pitchFamily="18" charset="0"/>
                <a:cs typeface="Times New Roman" panose="02020603050405020304" pitchFamily="18" charset="0"/>
              </a:rPr>
              <a:t>Each order uses one fixed mold type and a fixed required mold quantity.</a:t>
            </a:r>
          </a:p>
          <a:p>
            <a:pPr marL="514350" indent="-514350">
              <a:lnSpc>
                <a:spcPct val="150000"/>
              </a:lnSpc>
              <a:buFont typeface="+mj-lt"/>
              <a:buAutoNum type="arabicPeriod"/>
            </a:pPr>
            <a:r>
              <a:rPr lang="en-US" altLang="zh-TW" sz="3200" dirty="0">
                <a:solidFill>
                  <a:srgbClr val="695C4A"/>
                </a:solidFill>
                <a:latin typeface="Times New Roman" panose="02020603050405020304" pitchFamily="18" charset="0"/>
                <a:cs typeface="Times New Roman" panose="02020603050405020304" pitchFamily="18" charset="0"/>
              </a:rPr>
              <a:t>Each mold used during processing occupies one cavity of the assigned machine.</a:t>
            </a:r>
          </a:p>
          <a:p>
            <a:pPr marL="514350" indent="-514350">
              <a:lnSpc>
                <a:spcPct val="150000"/>
              </a:lnSpc>
              <a:buFont typeface="+mj-lt"/>
              <a:buAutoNum type="arabicPeriod"/>
            </a:pPr>
            <a:r>
              <a:rPr lang="en-US" altLang="zh-TW" sz="3200" dirty="0">
                <a:solidFill>
                  <a:srgbClr val="695C4A"/>
                </a:solidFill>
                <a:latin typeface="Times New Roman" panose="02020603050405020304" pitchFamily="18" charset="0"/>
                <a:cs typeface="Times New Roman" panose="02020603050405020304" pitchFamily="18" charset="0"/>
              </a:rPr>
              <a:t>Partial cavity production is optional, not mandatory.</a:t>
            </a:r>
          </a:p>
        </p:txBody>
      </p:sp>
      <p:grpSp>
        <p:nvGrpSpPr>
          <p:cNvPr id="5" name="群組 4">
            <a:extLst>
              <a:ext uri="{FF2B5EF4-FFF2-40B4-BE49-F238E27FC236}">
                <a16:creationId xmlns:a16="http://schemas.microsoft.com/office/drawing/2014/main" id="{5CE2E944-1185-E25A-779D-429F6999082F}"/>
              </a:ext>
            </a:extLst>
          </p:cNvPr>
          <p:cNvGrpSpPr/>
          <p:nvPr/>
        </p:nvGrpSpPr>
        <p:grpSpPr>
          <a:xfrm>
            <a:off x="-8244" y="0"/>
            <a:ext cx="11688724" cy="2404560"/>
            <a:chOff x="-8244" y="0"/>
            <a:chExt cx="11688724" cy="2404560"/>
          </a:xfrm>
        </p:grpSpPr>
        <p:sp>
          <p:nvSpPr>
            <p:cNvPr id="4" name="AutoShape 4"/>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1" name="AutoShape 11"/>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Freeform 12"/>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pSp>
    </p:spTree>
    <p:extLst>
      <p:ext uri="{BB962C8B-B14F-4D97-AF65-F5344CB8AC3E}">
        <p14:creationId xmlns:p14="http://schemas.microsoft.com/office/powerpoint/2010/main" val="683326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FBBF9-E504-3BB3-B11B-15F23B22D69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006A2E1-A5BF-6E20-4AAC-B4967F950908}"/>
              </a:ext>
            </a:extLst>
          </p:cNvPr>
          <p:cNvSpPr/>
          <p:nvPr/>
        </p:nvSpPr>
        <p:spPr>
          <a:xfrm rot="-8100000">
            <a:off x="10079440" y="3207230"/>
            <a:ext cx="14359719" cy="12767096"/>
          </a:xfrm>
          <a:custGeom>
            <a:avLst/>
            <a:gdLst/>
            <a:ahLst/>
            <a:cxnLst/>
            <a:rect l="l" t="t" r="r" b="b"/>
            <a:pathLst>
              <a:path w="14359719" h="12767096">
                <a:moveTo>
                  <a:pt x="0" y="0"/>
                </a:moveTo>
                <a:lnTo>
                  <a:pt x="14359720" y="0"/>
                </a:lnTo>
                <a:lnTo>
                  <a:pt x="14359720" y="12767096"/>
                </a:lnTo>
                <a:lnTo>
                  <a:pt x="0" y="12767096"/>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a:extLst>
              <a:ext uri="{FF2B5EF4-FFF2-40B4-BE49-F238E27FC236}">
                <a16:creationId xmlns:a16="http://schemas.microsoft.com/office/drawing/2014/main" id="{2FC31ADE-E298-8AA7-BCB4-FDF14CDA5FFE}"/>
              </a:ext>
            </a:extLst>
          </p:cNvPr>
          <p:cNvSpPr txBox="1"/>
          <p:nvPr/>
        </p:nvSpPr>
        <p:spPr>
          <a:xfrm>
            <a:off x="986877" y="104761"/>
            <a:ext cx="4905015" cy="1184940"/>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Assumptions </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8" name="TextBox 8">
            <a:extLst>
              <a:ext uri="{FF2B5EF4-FFF2-40B4-BE49-F238E27FC236}">
                <a16:creationId xmlns:a16="http://schemas.microsoft.com/office/drawing/2014/main" id="{F7550E36-C619-6CA0-1AA4-152D9CD09587}"/>
              </a:ext>
            </a:extLst>
          </p:cNvPr>
          <p:cNvSpPr txBox="1"/>
          <p:nvPr/>
        </p:nvSpPr>
        <p:spPr>
          <a:xfrm>
            <a:off x="1600200" y="2404560"/>
            <a:ext cx="15240000" cy="6559488"/>
          </a:xfrm>
          <a:prstGeom prst="rect">
            <a:avLst/>
          </a:prstGeom>
        </p:spPr>
        <p:txBody>
          <a:bodyPr wrap="square" lIns="0" tIns="0" rIns="0" bIns="0" rtlCol="0" anchor="t">
            <a:spAutoFit/>
          </a:bodyPr>
          <a:lstStyle/>
          <a:p>
            <a:pPr marL="514350" lvl="0" indent="-514350">
              <a:lnSpc>
                <a:spcPct val="150000"/>
              </a:lnSpc>
              <a:buFont typeface="+mj-lt"/>
              <a:buAutoNum type="arabicPeriod" startAt="8"/>
            </a:pPr>
            <a:r>
              <a:rPr lang="en-US" altLang="zh-TW" sz="3200" dirty="0">
                <a:solidFill>
                  <a:srgbClr val="695C4A"/>
                </a:solidFill>
                <a:latin typeface="Times New Roman" panose="02020603050405020304" pitchFamily="18" charset="0"/>
                <a:cs typeface="Times New Roman" panose="02020603050405020304" pitchFamily="18" charset="0"/>
              </a:rPr>
              <a:t>If partial cavity production is used, the processing time of each order in the group is increased according to the number of orders in that group.</a:t>
            </a:r>
          </a:p>
          <a:p>
            <a:pPr marL="514350" lvl="0" indent="-514350">
              <a:lnSpc>
                <a:spcPct val="150000"/>
              </a:lnSpc>
              <a:buFont typeface="+mj-lt"/>
              <a:buAutoNum type="arabicPeriod" startAt="8"/>
            </a:pPr>
            <a:r>
              <a:rPr lang="en-US" altLang="zh-TW" sz="3200" dirty="0">
                <a:solidFill>
                  <a:srgbClr val="695C4A"/>
                </a:solidFill>
                <a:latin typeface="Times New Roman" panose="02020603050405020304" pitchFamily="18" charset="0"/>
                <a:cs typeface="Times New Roman" panose="02020603050405020304" pitchFamily="18" charset="0"/>
              </a:rPr>
              <a:t>Setup time is sequence-dependent and determined by the type, and material between consecutive orders.</a:t>
            </a:r>
          </a:p>
          <a:p>
            <a:pPr marL="514350" lvl="0" indent="-514350">
              <a:lnSpc>
                <a:spcPct val="150000"/>
              </a:lnSpc>
              <a:buFont typeface="+mj-lt"/>
              <a:buAutoNum type="arabicPeriod" startAt="8"/>
            </a:pPr>
            <a:r>
              <a:rPr lang="en-US" sz="3200" dirty="0">
                <a:solidFill>
                  <a:srgbClr val="695C4A"/>
                </a:solidFill>
                <a:latin typeface="Times New Roman" panose="02020603050405020304" pitchFamily="18" charset="0"/>
                <a:cs typeface="Times New Roman" panose="02020603050405020304" pitchFamily="18" charset="0"/>
                <a:sym typeface="Livvic"/>
              </a:rPr>
              <a:t>For the first production group assigned to a machine, mount and tune setup operations are required before processing starts.</a:t>
            </a:r>
          </a:p>
          <a:p>
            <a:pPr marL="514350" lvl="0" indent="-514350">
              <a:lnSpc>
                <a:spcPct val="150000"/>
              </a:lnSpc>
              <a:buFont typeface="+mj-lt"/>
              <a:buAutoNum type="arabicPeriod" startAt="8"/>
            </a:pPr>
            <a:r>
              <a:rPr lang="en-US" sz="3200" dirty="0">
                <a:solidFill>
                  <a:srgbClr val="695C4A"/>
                </a:solidFill>
                <a:latin typeface="Times New Roman" panose="02020603050405020304" pitchFamily="18" charset="0"/>
                <a:cs typeface="Times New Roman" panose="02020603050405020304" pitchFamily="18" charset="0"/>
                <a:sym typeface="Livvic"/>
              </a:rPr>
              <a:t>For the last production group assigned to a machine, an unmount setup operation is required after processing is completed.</a:t>
            </a:r>
          </a:p>
          <a:p>
            <a:pPr marL="514350" lvl="0" indent="-514350">
              <a:lnSpc>
                <a:spcPct val="150000"/>
              </a:lnSpc>
              <a:buFont typeface="+mj-lt"/>
              <a:buAutoNum type="arabicPeriod" startAt="8"/>
            </a:pPr>
            <a:endParaRPr lang="en-US" sz="3200" dirty="0">
              <a:solidFill>
                <a:srgbClr val="695C4A"/>
              </a:solidFill>
              <a:latin typeface="Times New Roman" panose="02020603050405020304" pitchFamily="18" charset="0"/>
              <a:cs typeface="Times New Roman" panose="02020603050405020304" pitchFamily="18" charset="0"/>
              <a:sym typeface="Livvic"/>
            </a:endParaRPr>
          </a:p>
        </p:txBody>
      </p:sp>
      <p:grpSp>
        <p:nvGrpSpPr>
          <p:cNvPr id="5" name="群組 4">
            <a:extLst>
              <a:ext uri="{FF2B5EF4-FFF2-40B4-BE49-F238E27FC236}">
                <a16:creationId xmlns:a16="http://schemas.microsoft.com/office/drawing/2014/main" id="{9D935821-1F7A-6CF9-F4AC-F7FF140B7D89}"/>
              </a:ext>
            </a:extLst>
          </p:cNvPr>
          <p:cNvGrpSpPr/>
          <p:nvPr/>
        </p:nvGrpSpPr>
        <p:grpSpPr>
          <a:xfrm>
            <a:off x="-8244" y="0"/>
            <a:ext cx="11688724" cy="2404560"/>
            <a:chOff x="-8244" y="0"/>
            <a:chExt cx="11688724" cy="2404560"/>
          </a:xfrm>
        </p:grpSpPr>
        <p:sp>
          <p:nvSpPr>
            <p:cNvPr id="4" name="AutoShape 4">
              <a:extLst>
                <a:ext uri="{FF2B5EF4-FFF2-40B4-BE49-F238E27FC236}">
                  <a16:creationId xmlns:a16="http://schemas.microsoft.com/office/drawing/2014/main" id="{D767469A-2354-EEE4-5A0C-3715FD2407CF}"/>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1" name="AutoShape 11">
              <a:extLst>
                <a:ext uri="{FF2B5EF4-FFF2-40B4-BE49-F238E27FC236}">
                  <a16:creationId xmlns:a16="http://schemas.microsoft.com/office/drawing/2014/main" id="{6E71770B-4DC5-DFEA-7B88-17465E6633A8}"/>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Freeform 12">
              <a:extLst>
                <a:ext uri="{FF2B5EF4-FFF2-40B4-BE49-F238E27FC236}">
                  <a16:creationId xmlns:a16="http://schemas.microsoft.com/office/drawing/2014/main" id="{9906B713-59B7-59FC-FA20-C3B15EDBD18F}"/>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pSp>
    </p:spTree>
    <p:extLst>
      <p:ext uri="{BB962C8B-B14F-4D97-AF65-F5344CB8AC3E}">
        <p14:creationId xmlns:p14="http://schemas.microsoft.com/office/powerpoint/2010/main" val="3036629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253411" y="-1276484"/>
            <a:ext cx="16841122" cy="14973289"/>
          </a:xfrm>
          <a:custGeom>
            <a:avLst/>
            <a:gdLst/>
            <a:ahLst/>
            <a:cxnLst/>
            <a:rect l="l" t="t" r="r" b="b"/>
            <a:pathLst>
              <a:path w="16841122" h="14973289">
                <a:moveTo>
                  <a:pt x="0" y="0"/>
                </a:moveTo>
                <a:lnTo>
                  <a:pt x="16841122" y="0"/>
                </a:lnTo>
                <a:lnTo>
                  <a:pt x="16841122" y="14973289"/>
                </a:lnTo>
                <a:lnTo>
                  <a:pt x="0" y="14973289"/>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zh-TW" altLang="en-US"/>
          </a:p>
        </p:txBody>
      </p:sp>
      <p:sp>
        <p:nvSpPr>
          <p:cNvPr id="9" name="TextBox 7">
            <a:extLst>
              <a:ext uri="{FF2B5EF4-FFF2-40B4-BE49-F238E27FC236}">
                <a16:creationId xmlns:a16="http://schemas.microsoft.com/office/drawing/2014/main" id="{93FBCDDE-E83A-CBEE-BCF2-47011CFF971C}"/>
              </a:ext>
            </a:extLst>
          </p:cNvPr>
          <p:cNvSpPr txBox="1"/>
          <p:nvPr/>
        </p:nvSpPr>
        <p:spPr>
          <a:xfrm>
            <a:off x="986877" y="104761"/>
            <a:ext cx="4905015" cy="1184940"/>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Constraints </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grpSp>
        <p:nvGrpSpPr>
          <p:cNvPr id="10" name="群組 9">
            <a:extLst>
              <a:ext uri="{FF2B5EF4-FFF2-40B4-BE49-F238E27FC236}">
                <a16:creationId xmlns:a16="http://schemas.microsoft.com/office/drawing/2014/main" id="{CD4BAF42-3136-5732-C604-23C9941025DB}"/>
              </a:ext>
            </a:extLst>
          </p:cNvPr>
          <p:cNvGrpSpPr/>
          <p:nvPr/>
        </p:nvGrpSpPr>
        <p:grpSpPr>
          <a:xfrm>
            <a:off x="-8244" y="0"/>
            <a:ext cx="11688724" cy="2404560"/>
            <a:chOff x="-8244" y="0"/>
            <a:chExt cx="11688724" cy="2404560"/>
          </a:xfrm>
        </p:grpSpPr>
        <p:sp>
          <p:nvSpPr>
            <p:cNvPr id="11" name="AutoShape 4">
              <a:extLst>
                <a:ext uri="{FF2B5EF4-FFF2-40B4-BE49-F238E27FC236}">
                  <a16:creationId xmlns:a16="http://schemas.microsoft.com/office/drawing/2014/main" id="{F125E96E-9684-85B5-4847-BC2E6E8613D8}"/>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AutoShape 11">
              <a:extLst>
                <a:ext uri="{FF2B5EF4-FFF2-40B4-BE49-F238E27FC236}">
                  <a16:creationId xmlns:a16="http://schemas.microsoft.com/office/drawing/2014/main" id="{BAA0826C-CA60-C36C-A9F0-93E7E093D944}"/>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3" name="Freeform 12">
              <a:extLst>
                <a:ext uri="{FF2B5EF4-FFF2-40B4-BE49-F238E27FC236}">
                  <a16:creationId xmlns:a16="http://schemas.microsoft.com/office/drawing/2014/main" id="{63AD2135-E8BD-AD9C-226E-50753C606A64}"/>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pSp>
      <p:sp>
        <p:nvSpPr>
          <p:cNvPr id="15" name="TextBox 8">
            <a:extLst>
              <a:ext uri="{FF2B5EF4-FFF2-40B4-BE49-F238E27FC236}">
                <a16:creationId xmlns:a16="http://schemas.microsoft.com/office/drawing/2014/main" id="{2F083BB2-D2AC-8EF3-C925-8E6B4FC69AD5}"/>
              </a:ext>
            </a:extLst>
          </p:cNvPr>
          <p:cNvSpPr txBox="1"/>
          <p:nvPr/>
        </p:nvSpPr>
        <p:spPr>
          <a:xfrm>
            <a:off x="1447800" y="2019300"/>
            <a:ext cx="16069680" cy="5759269"/>
          </a:xfrm>
          <a:prstGeom prst="rect">
            <a:avLst/>
          </a:prstGeom>
        </p:spPr>
        <p:txBody>
          <a:bodyPr wrap="square" lIns="0" tIns="0" rIns="0" bIns="0" rtlCol="0" anchor="t">
            <a:spAutoFit/>
          </a:bodyPr>
          <a:lstStyle/>
          <a:p>
            <a:pPr marL="514350" lvl="0" indent="-514350">
              <a:lnSpc>
                <a:spcPct val="200000"/>
              </a:lnSpc>
              <a:buFont typeface="+mj-lt"/>
              <a:buAutoNum type="arabicPeriod"/>
            </a:pPr>
            <a:r>
              <a:rPr lang="en-US" altLang="zh-TW" sz="3200" dirty="0">
                <a:solidFill>
                  <a:srgbClr val="695C4A"/>
                </a:solidFill>
                <a:latin typeface="Times New Roman" panose="02020603050405020304" pitchFamily="18" charset="0"/>
                <a:cs typeface="Times New Roman" panose="02020603050405020304" pitchFamily="18" charset="0"/>
              </a:rPr>
              <a:t>Each scheduled order must be assigned to exactly one feasible machine–mold combination.</a:t>
            </a:r>
          </a:p>
          <a:p>
            <a:pPr marL="514350" lvl="0" indent="-514350">
              <a:lnSpc>
                <a:spcPct val="200000"/>
              </a:lnSpc>
              <a:buFont typeface="+mj-lt"/>
              <a:buAutoNum type="arabicPeriod"/>
            </a:pPr>
            <a:r>
              <a:rPr lang="en-US" altLang="zh-TW" sz="3200" dirty="0">
                <a:solidFill>
                  <a:srgbClr val="695C4A"/>
                </a:solidFill>
                <a:latin typeface="Times New Roman" panose="02020603050405020304" pitchFamily="18" charset="0"/>
                <a:cs typeface="Times New Roman" panose="02020603050405020304" pitchFamily="18" charset="0"/>
              </a:rPr>
              <a:t>Unscheduled orders are not assigned to any machine or mold.</a:t>
            </a:r>
          </a:p>
          <a:p>
            <a:pPr marL="514350" lvl="0" indent="-514350">
              <a:lnSpc>
                <a:spcPct val="200000"/>
              </a:lnSpc>
              <a:buFont typeface="+mj-lt"/>
              <a:buAutoNum type="arabicPeriod"/>
            </a:pPr>
            <a:r>
              <a:rPr lang="en-US" altLang="zh-TW" sz="3200" dirty="0">
                <a:solidFill>
                  <a:srgbClr val="695C4A"/>
                </a:solidFill>
                <a:latin typeface="Times New Roman" panose="02020603050405020304" pitchFamily="18" charset="0"/>
                <a:cs typeface="Times New Roman" panose="02020603050405020304" pitchFamily="18" charset="0"/>
              </a:rPr>
              <a:t>Each scheduled order must be completed before or at its due date.</a:t>
            </a:r>
          </a:p>
          <a:p>
            <a:pPr marL="514350" lvl="0" indent="-514350">
              <a:lnSpc>
                <a:spcPct val="200000"/>
              </a:lnSpc>
              <a:buFont typeface="+mj-lt"/>
              <a:buAutoNum type="arabicPeriod"/>
            </a:pPr>
            <a:r>
              <a:rPr lang="en-US" altLang="zh-TW" sz="3200" dirty="0">
                <a:solidFill>
                  <a:srgbClr val="695C4A"/>
                </a:solidFill>
                <a:latin typeface="Times New Roman" panose="02020603050405020304" pitchFamily="18" charset="0"/>
                <a:cs typeface="Times New Roman" panose="02020603050405020304" pitchFamily="18" charset="0"/>
              </a:rPr>
              <a:t>The batch quantity of a scheduled order cannot exceed the capacity of the assigned machine. </a:t>
            </a:r>
          </a:p>
          <a:p>
            <a:pPr marL="514350" lvl="0" indent="-514350">
              <a:lnSpc>
                <a:spcPct val="200000"/>
              </a:lnSpc>
              <a:buFont typeface="+mj-lt"/>
              <a:buAutoNum type="arabicPeriod"/>
            </a:pPr>
            <a:r>
              <a:rPr lang="en-US" altLang="zh-TW" sz="3200" dirty="0">
                <a:solidFill>
                  <a:srgbClr val="695C4A"/>
                </a:solidFill>
                <a:latin typeface="Times New Roman" panose="02020603050405020304" pitchFamily="18" charset="0"/>
                <a:cs typeface="Times New Roman" panose="02020603050405020304" pitchFamily="18" charset="0"/>
              </a:rPr>
              <a:t>A machine can process at most one production group at any time. </a:t>
            </a:r>
          </a:p>
          <a:p>
            <a:pPr marL="514350" indent="-514350">
              <a:lnSpc>
                <a:spcPct val="200000"/>
              </a:lnSpc>
              <a:buFont typeface="+mj-lt"/>
              <a:buAutoNum type="arabicPeriod"/>
            </a:pPr>
            <a:r>
              <a:rPr lang="en-US" altLang="zh-TW" sz="3200" dirty="0">
                <a:solidFill>
                  <a:srgbClr val="695C4A"/>
                </a:solidFill>
                <a:latin typeface="Times New Roman" panose="02020603050405020304" pitchFamily="18" charset="0"/>
                <a:cs typeface="Times New Roman" panose="02020603050405020304" pitchFamily="18" charset="0"/>
              </a:rPr>
              <a:t>Processing times of production groups assigned to the same machine cannot overlap.</a:t>
            </a:r>
          </a:p>
        </p:txBody>
      </p:sp>
    </p:spTree>
    <p:extLst>
      <p:ext uri="{BB962C8B-B14F-4D97-AF65-F5344CB8AC3E}">
        <p14:creationId xmlns:p14="http://schemas.microsoft.com/office/powerpoint/2010/main" val="2309813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3EC34-4895-DBB0-DF9C-88456CF2260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16B889C-AE27-E714-6FDD-8C8D5441E500}"/>
              </a:ext>
            </a:extLst>
          </p:cNvPr>
          <p:cNvSpPr/>
          <p:nvPr/>
        </p:nvSpPr>
        <p:spPr>
          <a:xfrm>
            <a:off x="5253411" y="-1276484"/>
            <a:ext cx="16841122" cy="14973289"/>
          </a:xfrm>
          <a:custGeom>
            <a:avLst/>
            <a:gdLst/>
            <a:ahLst/>
            <a:cxnLst/>
            <a:rect l="l" t="t" r="r" b="b"/>
            <a:pathLst>
              <a:path w="16841122" h="14973289">
                <a:moveTo>
                  <a:pt x="0" y="0"/>
                </a:moveTo>
                <a:lnTo>
                  <a:pt x="16841122" y="0"/>
                </a:lnTo>
                <a:lnTo>
                  <a:pt x="16841122" y="14973289"/>
                </a:lnTo>
                <a:lnTo>
                  <a:pt x="0" y="14973289"/>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zh-TW" altLang="en-US"/>
          </a:p>
        </p:txBody>
      </p:sp>
      <p:sp>
        <p:nvSpPr>
          <p:cNvPr id="9" name="TextBox 7">
            <a:extLst>
              <a:ext uri="{FF2B5EF4-FFF2-40B4-BE49-F238E27FC236}">
                <a16:creationId xmlns:a16="http://schemas.microsoft.com/office/drawing/2014/main" id="{09B53CE9-46AB-5069-8C13-7DE3DA3613B0}"/>
              </a:ext>
            </a:extLst>
          </p:cNvPr>
          <p:cNvSpPr txBox="1"/>
          <p:nvPr/>
        </p:nvSpPr>
        <p:spPr>
          <a:xfrm>
            <a:off x="986877" y="104761"/>
            <a:ext cx="4905015" cy="1184940"/>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Constraints </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grpSp>
        <p:nvGrpSpPr>
          <p:cNvPr id="10" name="群組 9">
            <a:extLst>
              <a:ext uri="{FF2B5EF4-FFF2-40B4-BE49-F238E27FC236}">
                <a16:creationId xmlns:a16="http://schemas.microsoft.com/office/drawing/2014/main" id="{FA84A6DA-ECF2-7F5D-96CA-133A61C4CDF3}"/>
              </a:ext>
            </a:extLst>
          </p:cNvPr>
          <p:cNvGrpSpPr/>
          <p:nvPr/>
        </p:nvGrpSpPr>
        <p:grpSpPr>
          <a:xfrm>
            <a:off x="-8244" y="0"/>
            <a:ext cx="11688724" cy="2404560"/>
            <a:chOff x="-8244" y="0"/>
            <a:chExt cx="11688724" cy="2404560"/>
          </a:xfrm>
        </p:grpSpPr>
        <p:sp>
          <p:nvSpPr>
            <p:cNvPr id="11" name="AutoShape 4">
              <a:extLst>
                <a:ext uri="{FF2B5EF4-FFF2-40B4-BE49-F238E27FC236}">
                  <a16:creationId xmlns:a16="http://schemas.microsoft.com/office/drawing/2014/main" id="{CFC14034-5AFE-3E86-FDB5-B0D4E70CCF7C}"/>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AutoShape 11">
              <a:extLst>
                <a:ext uri="{FF2B5EF4-FFF2-40B4-BE49-F238E27FC236}">
                  <a16:creationId xmlns:a16="http://schemas.microsoft.com/office/drawing/2014/main" id="{822B1BBD-2710-B723-F95C-B45304EC2415}"/>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3" name="Freeform 12">
              <a:extLst>
                <a:ext uri="{FF2B5EF4-FFF2-40B4-BE49-F238E27FC236}">
                  <a16:creationId xmlns:a16="http://schemas.microsoft.com/office/drawing/2014/main" id="{74FC577C-2D1B-59A0-393A-4F0CCDD9739A}"/>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pSp>
      <p:sp>
        <p:nvSpPr>
          <p:cNvPr id="15" name="TextBox 8">
            <a:extLst>
              <a:ext uri="{FF2B5EF4-FFF2-40B4-BE49-F238E27FC236}">
                <a16:creationId xmlns:a16="http://schemas.microsoft.com/office/drawing/2014/main" id="{875D73DC-FC7B-057E-A3C9-2A142A490BF7}"/>
              </a:ext>
            </a:extLst>
          </p:cNvPr>
          <p:cNvSpPr txBox="1"/>
          <p:nvPr/>
        </p:nvSpPr>
        <p:spPr>
          <a:xfrm>
            <a:off x="1015608" y="2404560"/>
            <a:ext cx="16832602" cy="5759269"/>
          </a:xfrm>
          <a:prstGeom prst="rect">
            <a:avLst/>
          </a:prstGeom>
        </p:spPr>
        <p:txBody>
          <a:bodyPr wrap="square" lIns="0" tIns="0" rIns="0" bIns="0" rtlCol="0" anchor="t">
            <a:spAutoFit/>
          </a:bodyPr>
          <a:lstStyle/>
          <a:p>
            <a:pPr marL="514350" lvl="0" indent="-514350">
              <a:lnSpc>
                <a:spcPct val="200000"/>
              </a:lnSpc>
              <a:buFont typeface="+mj-lt"/>
              <a:buAutoNum type="arabicPeriod" startAt="7"/>
            </a:pPr>
            <a:r>
              <a:rPr lang="en-US" altLang="zh-TW" sz="3200" dirty="0">
                <a:solidFill>
                  <a:srgbClr val="695C4A"/>
                </a:solidFill>
                <a:latin typeface="Times New Roman" panose="02020603050405020304" pitchFamily="18" charset="0"/>
                <a:cs typeface="Times New Roman" panose="02020603050405020304" pitchFamily="18" charset="0"/>
              </a:rPr>
              <a:t>A machine cannot be used during its maintenance period, including processing and setup operations. </a:t>
            </a:r>
          </a:p>
          <a:p>
            <a:pPr marL="514350" indent="-514350">
              <a:lnSpc>
                <a:spcPct val="200000"/>
              </a:lnSpc>
              <a:buFont typeface="+mj-lt"/>
              <a:buAutoNum type="arabicPeriod" startAt="8"/>
            </a:pPr>
            <a:r>
              <a:rPr lang="en-US" altLang="zh-TW" sz="3200" dirty="0">
                <a:solidFill>
                  <a:srgbClr val="695C4A"/>
                </a:solidFill>
                <a:latin typeface="Times New Roman" panose="02020603050405020304" pitchFamily="18" charset="0"/>
                <a:cs typeface="Times New Roman" panose="02020603050405020304" pitchFamily="18" charset="0"/>
              </a:rPr>
              <a:t>The number of molds of the same type used at the same time cannot exceed the available quantity of that mold.  </a:t>
            </a:r>
          </a:p>
          <a:p>
            <a:pPr marL="514350" lvl="0" indent="-514350">
              <a:lnSpc>
                <a:spcPct val="200000"/>
              </a:lnSpc>
              <a:buFont typeface="+mj-lt"/>
              <a:buAutoNum type="arabicPeriod" startAt="8"/>
            </a:pPr>
            <a:r>
              <a:rPr lang="en-US" altLang="zh-TW" sz="3200" dirty="0">
                <a:solidFill>
                  <a:srgbClr val="695C4A"/>
                </a:solidFill>
                <a:latin typeface="Times New Roman" panose="02020603050405020304" pitchFamily="18" charset="0"/>
                <a:cs typeface="Times New Roman" panose="02020603050405020304" pitchFamily="18" charset="0"/>
              </a:rPr>
              <a:t>For each production group, the total required mold quantity cannot exceed the number of cavities of the assigned machine. </a:t>
            </a:r>
          </a:p>
          <a:p>
            <a:pPr marL="514350" lvl="0" indent="-514350">
              <a:lnSpc>
                <a:spcPct val="200000"/>
              </a:lnSpc>
              <a:buFont typeface="+mj-lt"/>
              <a:buAutoNum type="arabicPeriod" startAt="8"/>
            </a:pPr>
            <a:r>
              <a:rPr lang="en-US" altLang="zh-TW" sz="3200" dirty="0">
                <a:solidFill>
                  <a:srgbClr val="695C4A"/>
                </a:solidFill>
                <a:latin typeface="Times New Roman" panose="02020603050405020304" pitchFamily="18" charset="0"/>
                <a:cs typeface="Times New Roman" panose="02020603050405020304" pitchFamily="18" charset="0"/>
              </a:rPr>
              <a:t>Orders using the same mold type cannot be assigned to the same partial cavity production group. </a:t>
            </a:r>
          </a:p>
        </p:txBody>
      </p:sp>
    </p:spTree>
    <p:extLst>
      <p:ext uri="{BB962C8B-B14F-4D97-AF65-F5344CB8AC3E}">
        <p14:creationId xmlns:p14="http://schemas.microsoft.com/office/powerpoint/2010/main" val="996543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9071F-DF16-5648-808C-48F24CB82CC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9B016E0-EC8D-C4AE-906A-4E12F87A110E}"/>
              </a:ext>
            </a:extLst>
          </p:cNvPr>
          <p:cNvSpPr/>
          <p:nvPr/>
        </p:nvSpPr>
        <p:spPr>
          <a:xfrm>
            <a:off x="5253411" y="-1276484"/>
            <a:ext cx="16841122" cy="14973289"/>
          </a:xfrm>
          <a:custGeom>
            <a:avLst/>
            <a:gdLst/>
            <a:ahLst/>
            <a:cxnLst/>
            <a:rect l="l" t="t" r="r" b="b"/>
            <a:pathLst>
              <a:path w="16841122" h="14973289">
                <a:moveTo>
                  <a:pt x="0" y="0"/>
                </a:moveTo>
                <a:lnTo>
                  <a:pt x="16841122" y="0"/>
                </a:lnTo>
                <a:lnTo>
                  <a:pt x="16841122" y="14973289"/>
                </a:lnTo>
                <a:lnTo>
                  <a:pt x="0" y="14973289"/>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zh-TW" altLang="en-US"/>
          </a:p>
        </p:txBody>
      </p:sp>
      <p:sp>
        <p:nvSpPr>
          <p:cNvPr id="9" name="TextBox 7">
            <a:extLst>
              <a:ext uri="{FF2B5EF4-FFF2-40B4-BE49-F238E27FC236}">
                <a16:creationId xmlns:a16="http://schemas.microsoft.com/office/drawing/2014/main" id="{53C07C62-E43B-6791-FB2D-8487218F3FE3}"/>
              </a:ext>
            </a:extLst>
          </p:cNvPr>
          <p:cNvSpPr txBox="1"/>
          <p:nvPr/>
        </p:nvSpPr>
        <p:spPr>
          <a:xfrm>
            <a:off x="986877" y="104761"/>
            <a:ext cx="4905015" cy="1184940"/>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Constraints </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grpSp>
        <p:nvGrpSpPr>
          <p:cNvPr id="10" name="群組 9">
            <a:extLst>
              <a:ext uri="{FF2B5EF4-FFF2-40B4-BE49-F238E27FC236}">
                <a16:creationId xmlns:a16="http://schemas.microsoft.com/office/drawing/2014/main" id="{E3E03B11-476A-9ACE-A046-A7D339418FF5}"/>
              </a:ext>
            </a:extLst>
          </p:cNvPr>
          <p:cNvGrpSpPr/>
          <p:nvPr/>
        </p:nvGrpSpPr>
        <p:grpSpPr>
          <a:xfrm>
            <a:off x="-8244" y="0"/>
            <a:ext cx="11688724" cy="2404560"/>
            <a:chOff x="-8244" y="0"/>
            <a:chExt cx="11688724" cy="2404560"/>
          </a:xfrm>
        </p:grpSpPr>
        <p:sp>
          <p:nvSpPr>
            <p:cNvPr id="11" name="AutoShape 4">
              <a:extLst>
                <a:ext uri="{FF2B5EF4-FFF2-40B4-BE49-F238E27FC236}">
                  <a16:creationId xmlns:a16="http://schemas.microsoft.com/office/drawing/2014/main" id="{F69B779B-639A-5CD7-4757-8C33DAD71126}"/>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AutoShape 11">
              <a:extLst>
                <a:ext uri="{FF2B5EF4-FFF2-40B4-BE49-F238E27FC236}">
                  <a16:creationId xmlns:a16="http://schemas.microsoft.com/office/drawing/2014/main" id="{EECF975B-7F6A-1830-3D11-EAB0EABC12AD}"/>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3" name="Freeform 12">
              <a:extLst>
                <a:ext uri="{FF2B5EF4-FFF2-40B4-BE49-F238E27FC236}">
                  <a16:creationId xmlns:a16="http://schemas.microsoft.com/office/drawing/2014/main" id="{2541498F-3684-0A58-A0A7-1913F9B7728A}"/>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pSp>
      <p:sp>
        <p:nvSpPr>
          <p:cNvPr id="15" name="TextBox 8">
            <a:extLst>
              <a:ext uri="{FF2B5EF4-FFF2-40B4-BE49-F238E27FC236}">
                <a16:creationId xmlns:a16="http://schemas.microsoft.com/office/drawing/2014/main" id="{5DD865AD-2631-C0CD-AFCD-07237DDF5E84}"/>
              </a:ext>
            </a:extLst>
          </p:cNvPr>
          <p:cNvSpPr txBox="1"/>
          <p:nvPr/>
        </p:nvSpPr>
        <p:spPr>
          <a:xfrm>
            <a:off x="986877" y="2169508"/>
            <a:ext cx="16302003" cy="6744154"/>
          </a:xfrm>
          <a:prstGeom prst="rect">
            <a:avLst/>
          </a:prstGeom>
        </p:spPr>
        <p:txBody>
          <a:bodyPr wrap="square" lIns="0" tIns="0" rIns="0" bIns="0" rtlCol="0" anchor="t">
            <a:spAutoFit/>
          </a:bodyPr>
          <a:lstStyle/>
          <a:p>
            <a:pPr marL="514350" lvl="0" indent="-514350">
              <a:lnSpc>
                <a:spcPct val="200000"/>
              </a:lnSpc>
              <a:buFont typeface="+mj-lt"/>
              <a:buAutoNum type="arabicPeriod" startAt="11"/>
            </a:pPr>
            <a:r>
              <a:rPr lang="en-US" altLang="zh-TW" sz="3200" dirty="0">
                <a:solidFill>
                  <a:srgbClr val="695C4A"/>
                </a:solidFill>
                <a:latin typeface="Times New Roman" panose="02020603050405020304" pitchFamily="18" charset="0"/>
                <a:cs typeface="Times New Roman" panose="02020603050405020304" pitchFamily="18" charset="0"/>
              </a:rPr>
              <a:t>Between two consecutive production groups on the same machine, unmount, tune and mount setup operations are required. </a:t>
            </a:r>
          </a:p>
          <a:p>
            <a:pPr marL="514350" lvl="0" indent="-514350">
              <a:lnSpc>
                <a:spcPct val="200000"/>
              </a:lnSpc>
              <a:buFont typeface="+mj-lt"/>
              <a:buAutoNum type="arabicPeriod" startAt="11"/>
            </a:pPr>
            <a:r>
              <a:rPr lang="en-US" altLang="zh-TW" sz="3200" dirty="0">
                <a:solidFill>
                  <a:srgbClr val="695C4A"/>
                </a:solidFill>
                <a:latin typeface="Times New Roman" panose="02020603050405020304" pitchFamily="18" charset="0"/>
                <a:cs typeface="Times New Roman" panose="02020603050405020304" pitchFamily="18" charset="0"/>
              </a:rPr>
              <a:t>If a maintenance is occurred between two consecutive production groups</a:t>
            </a:r>
            <a:r>
              <a:rPr lang="zh-TW" altLang="en-US" sz="3200" dirty="0">
                <a:solidFill>
                  <a:srgbClr val="695C4A"/>
                </a:solidFill>
                <a:latin typeface="Times New Roman" panose="02020603050405020304" pitchFamily="18" charset="0"/>
                <a:cs typeface="Times New Roman" panose="02020603050405020304" pitchFamily="18" charset="0"/>
              </a:rPr>
              <a:t> </a:t>
            </a:r>
            <a:r>
              <a:rPr lang="en-US" altLang="zh-TW" sz="3200" dirty="0">
                <a:solidFill>
                  <a:srgbClr val="695C4A"/>
                </a:solidFill>
                <a:latin typeface="Times New Roman" panose="02020603050405020304" pitchFamily="18" charset="0"/>
                <a:cs typeface="Times New Roman" panose="02020603050405020304" pitchFamily="18" charset="0"/>
              </a:rPr>
              <a:t>on the same machine, unmount and tune operations need to be operated before maintenance, and mount operation needs to be operated after maintenance.</a:t>
            </a:r>
          </a:p>
          <a:p>
            <a:pPr marL="514350" lvl="0" indent="-514350">
              <a:lnSpc>
                <a:spcPct val="200000"/>
              </a:lnSpc>
              <a:buFont typeface="+mj-lt"/>
              <a:buAutoNum type="arabicPeriod" startAt="11"/>
            </a:pPr>
            <a:r>
              <a:rPr lang="en-US" altLang="zh-TW" sz="3200" dirty="0">
                <a:solidFill>
                  <a:srgbClr val="695C4A"/>
                </a:solidFill>
                <a:latin typeface="Times New Roman" panose="02020603050405020304" pitchFamily="18" charset="0"/>
                <a:cs typeface="Times New Roman" panose="02020603050405020304" pitchFamily="18" charset="0"/>
              </a:rPr>
              <a:t>Each machine has a maximum limit on the number of mold change operations. </a:t>
            </a:r>
          </a:p>
          <a:p>
            <a:pPr marL="514350" lvl="0" indent="-514350">
              <a:lnSpc>
                <a:spcPct val="200000"/>
              </a:lnSpc>
              <a:buFont typeface="+mj-lt"/>
              <a:buAutoNum type="arabicPeriod" startAt="11"/>
            </a:pPr>
            <a:r>
              <a:rPr lang="en-US" altLang="zh-TW" sz="3200" dirty="0">
                <a:solidFill>
                  <a:srgbClr val="695C4A"/>
                </a:solidFill>
                <a:latin typeface="Times New Roman" panose="02020603050405020304" pitchFamily="18" charset="0"/>
                <a:cs typeface="Times New Roman" panose="02020603050405020304" pitchFamily="18" charset="0"/>
              </a:rPr>
              <a:t>One complete mount and unmount operation is counted as one mold change operation.</a:t>
            </a:r>
            <a:endParaRPr lang="en-US" altLang="zh-TW" sz="3200" dirty="0">
              <a:solidFill>
                <a:srgbClr val="695C4A"/>
              </a:solidFill>
              <a:latin typeface="Times New Roman" panose="02020603050405020304" pitchFamily="18" charset="0"/>
              <a:cs typeface="Times New Roman" panose="02020603050405020304" pitchFamily="18" charset="0"/>
              <a:sym typeface="Livvic"/>
            </a:endParaRPr>
          </a:p>
        </p:txBody>
      </p:sp>
    </p:spTree>
    <p:extLst>
      <p:ext uri="{BB962C8B-B14F-4D97-AF65-F5344CB8AC3E}">
        <p14:creationId xmlns:p14="http://schemas.microsoft.com/office/powerpoint/2010/main" val="3805717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p:cNvSpPr>
          <p:nvPr/>
        </p:nvSpPr>
        <p:spPr>
          <a:xfrm rot="634158">
            <a:off x="-2604617" y="-1000841"/>
            <a:ext cx="23926799" cy="12863671"/>
          </a:xfrm>
          <a:custGeom>
            <a:avLst/>
            <a:gdLst/>
            <a:ahLst/>
            <a:cxnLst/>
            <a:rect l="l" t="t" r="r" b="b"/>
            <a:pathLst>
              <a:path w="18930865" h="18758766">
                <a:moveTo>
                  <a:pt x="0" y="0"/>
                </a:moveTo>
                <a:lnTo>
                  <a:pt x="18930865" y="0"/>
                </a:lnTo>
                <a:lnTo>
                  <a:pt x="18930865" y="18758767"/>
                </a:lnTo>
                <a:lnTo>
                  <a:pt x="0" y="18758767"/>
                </a:lnTo>
                <a:lnTo>
                  <a:pt x="0" y="0"/>
                </a:lnTo>
                <a:close/>
              </a:path>
            </a:pathLst>
          </a:custGeom>
          <a:blipFill>
            <a:blip>
              <a:alphaModFix amt="7999"/>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8" name="TextBox 7">
            <a:extLst>
              <a:ext uri="{FF2B5EF4-FFF2-40B4-BE49-F238E27FC236}">
                <a16:creationId xmlns:a16="http://schemas.microsoft.com/office/drawing/2014/main" id="{EA0FBDF6-BA51-C1E3-BE0B-D50B8340A3F8}"/>
              </a:ext>
            </a:extLst>
          </p:cNvPr>
          <p:cNvSpPr txBox="1"/>
          <p:nvPr/>
        </p:nvSpPr>
        <p:spPr>
          <a:xfrm>
            <a:off x="986877" y="104761"/>
            <a:ext cx="7038208" cy="1144544"/>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Input Data (ORDER.csv)</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9" name="AutoShape 4">
            <a:extLst>
              <a:ext uri="{FF2B5EF4-FFF2-40B4-BE49-F238E27FC236}">
                <a16:creationId xmlns:a16="http://schemas.microsoft.com/office/drawing/2014/main" id="{7F898C3E-2F19-66AC-D9C5-CEBE2A88482F}"/>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0" name="AutoShape 11">
            <a:extLst>
              <a:ext uri="{FF2B5EF4-FFF2-40B4-BE49-F238E27FC236}">
                <a16:creationId xmlns:a16="http://schemas.microsoft.com/office/drawing/2014/main" id="{40B1DC51-D2A5-A06B-05D6-CAB59536E3CB}"/>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1" name="Freeform 12">
            <a:extLst>
              <a:ext uri="{FF2B5EF4-FFF2-40B4-BE49-F238E27FC236}">
                <a16:creationId xmlns:a16="http://schemas.microsoft.com/office/drawing/2014/main" id="{1A4EC29C-273E-E730-5D1A-B2E3E4D6FEEA}"/>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pSp>
        <p:nvGrpSpPr>
          <p:cNvPr id="6" name="群組 5">
            <a:extLst>
              <a:ext uri="{FF2B5EF4-FFF2-40B4-BE49-F238E27FC236}">
                <a16:creationId xmlns:a16="http://schemas.microsoft.com/office/drawing/2014/main" id="{C3C1E9D5-8060-F62B-48B1-5DA2C5EA8325}"/>
              </a:ext>
            </a:extLst>
          </p:cNvPr>
          <p:cNvGrpSpPr/>
          <p:nvPr/>
        </p:nvGrpSpPr>
        <p:grpSpPr>
          <a:xfrm>
            <a:off x="4648200" y="5729866"/>
            <a:ext cx="7467600" cy="3162671"/>
            <a:chOff x="11506200" y="3467101"/>
            <a:chExt cx="6284728" cy="2407924"/>
          </a:xfrm>
        </p:grpSpPr>
        <p:pic>
          <p:nvPicPr>
            <p:cNvPr id="3" name="圖片 2">
              <a:extLst>
                <a:ext uri="{FF2B5EF4-FFF2-40B4-BE49-F238E27FC236}">
                  <a16:creationId xmlns:a16="http://schemas.microsoft.com/office/drawing/2014/main" id="{F7F5CD7C-620E-D842-0B93-6E837989BCA8}"/>
                </a:ext>
              </a:extLst>
            </p:cNvPr>
            <p:cNvPicPr>
              <a:picLocks noChangeAspect="1"/>
            </p:cNvPicPr>
            <p:nvPr/>
          </p:nvPicPr>
          <p:blipFill>
            <a:blip r:embed="rId5">
              <a:alphaModFix/>
              <a:extLst>
                <a:ext uri="{28A0092B-C50C-407E-A947-70E740481C1C}">
                  <a14:useLocalDpi xmlns:a14="http://schemas.microsoft.com/office/drawing/2010/main" val="0"/>
                </a:ext>
              </a:extLst>
            </a:blip>
            <a:srcRect t="12742" b="48531"/>
            <a:stretch>
              <a:fillRect/>
            </a:stretch>
          </p:blipFill>
          <p:spPr>
            <a:xfrm>
              <a:off x="11506200" y="3467101"/>
              <a:ext cx="6284728" cy="2407924"/>
            </a:xfrm>
            <a:prstGeom prst="rect">
              <a:avLst/>
            </a:prstGeom>
            <a:ln>
              <a:noFill/>
            </a:ln>
            <a:effectLst>
              <a:softEdge rad="112500"/>
            </a:effectLst>
          </p:spPr>
        </p:pic>
        <p:sp>
          <p:nvSpPr>
            <p:cNvPr id="4" name="矩形: 圓角 3">
              <a:extLst>
                <a:ext uri="{FF2B5EF4-FFF2-40B4-BE49-F238E27FC236}">
                  <a16:creationId xmlns:a16="http://schemas.microsoft.com/office/drawing/2014/main" id="{3460DFA5-0CAE-E0D9-0761-65245E2EDAE4}"/>
                </a:ext>
              </a:extLst>
            </p:cNvPr>
            <p:cNvSpPr/>
            <p:nvPr/>
          </p:nvSpPr>
          <p:spPr>
            <a:xfrm>
              <a:off x="13061074" y="4170172"/>
              <a:ext cx="1994837" cy="695034"/>
            </a:xfrm>
            <a:prstGeom prst="round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pic>
        <p:nvPicPr>
          <p:cNvPr id="5" name="圖片 4">
            <a:extLst>
              <a:ext uri="{FF2B5EF4-FFF2-40B4-BE49-F238E27FC236}">
                <a16:creationId xmlns:a16="http://schemas.microsoft.com/office/drawing/2014/main" id="{BCF48F91-D923-C1CC-744C-66751D82D82C}"/>
              </a:ext>
            </a:extLst>
          </p:cNvPr>
          <p:cNvPicPr>
            <a:picLocks noChangeAspect="1"/>
          </p:cNvPicPr>
          <p:nvPr/>
        </p:nvPicPr>
        <p:blipFill>
          <a:blip r:embed="rId6"/>
          <a:stretch>
            <a:fillRect/>
          </a:stretch>
        </p:blipFill>
        <p:spPr>
          <a:xfrm>
            <a:off x="922654" y="2511060"/>
            <a:ext cx="16442692" cy="2919934"/>
          </a:xfrm>
          <a:prstGeom prst="rect">
            <a:avLst/>
          </a:prstGeom>
        </p:spPr>
      </p:pic>
    </p:spTree>
    <p:extLst>
      <p:ext uri="{BB962C8B-B14F-4D97-AF65-F5344CB8AC3E}">
        <p14:creationId xmlns:p14="http://schemas.microsoft.com/office/powerpoint/2010/main" val="1661288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D145F-6F57-9ED8-0AB7-009CC6535CA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B044521-155D-8270-7422-AE938A4F5AD5}"/>
              </a:ext>
            </a:extLst>
          </p:cNvPr>
          <p:cNvSpPr>
            <a:spLocks/>
          </p:cNvSpPr>
          <p:nvPr/>
        </p:nvSpPr>
        <p:spPr>
          <a:xfrm rot="634158">
            <a:off x="-2604617" y="-1000841"/>
            <a:ext cx="23926799" cy="12863671"/>
          </a:xfrm>
          <a:custGeom>
            <a:avLst/>
            <a:gdLst/>
            <a:ahLst/>
            <a:cxnLst/>
            <a:rect l="l" t="t" r="r" b="b"/>
            <a:pathLst>
              <a:path w="18930865" h="18758766">
                <a:moveTo>
                  <a:pt x="0" y="0"/>
                </a:moveTo>
                <a:lnTo>
                  <a:pt x="18930865" y="0"/>
                </a:lnTo>
                <a:lnTo>
                  <a:pt x="18930865" y="18758767"/>
                </a:lnTo>
                <a:lnTo>
                  <a:pt x="0" y="18758767"/>
                </a:lnTo>
                <a:lnTo>
                  <a:pt x="0" y="0"/>
                </a:lnTo>
                <a:close/>
              </a:path>
            </a:pathLst>
          </a:custGeom>
          <a:blipFill>
            <a:blip>
              <a:alphaModFix amt="7999"/>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8" name="TextBox 7">
            <a:extLst>
              <a:ext uri="{FF2B5EF4-FFF2-40B4-BE49-F238E27FC236}">
                <a16:creationId xmlns:a16="http://schemas.microsoft.com/office/drawing/2014/main" id="{9A2455EF-21F3-811C-7656-0A7FC772D0F2}"/>
              </a:ext>
            </a:extLst>
          </p:cNvPr>
          <p:cNvSpPr txBox="1"/>
          <p:nvPr/>
        </p:nvSpPr>
        <p:spPr>
          <a:xfrm>
            <a:off x="986877" y="104761"/>
            <a:ext cx="7038208" cy="1144544"/>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Input Data (MOLD.csv)</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9" name="AutoShape 4">
            <a:extLst>
              <a:ext uri="{FF2B5EF4-FFF2-40B4-BE49-F238E27FC236}">
                <a16:creationId xmlns:a16="http://schemas.microsoft.com/office/drawing/2014/main" id="{15ED4EF2-B2B0-EE89-EC0E-A1060B268D4E}"/>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0" name="AutoShape 11">
            <a:extLst>
              <a:ext uri="{FF2B5EF4-FFF2-40B4-BE49-F238E27FC236}">
                <a16:creationId xmlns:a16="http://schemas.microsoft.com/office/drawing/2014/main" id="{4198AF7C-B3E6-73B8-EC4B-1BB84073D8CF}"/>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1" name="Freeform 12">
            <a:extLst>
              <a:ext uri="{FF2B5EF4-FFF2-40B4-BE49-F238E27FC236}">
                <a16:creationId xmlns:a16="http://schemas.microsoft.com/office/drawing/2014/main" id="{BA7A78C7-0B8D-4961-0381-E73B7F1EE587}"/>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pic>
        <p:nvPicPr>
          <p:cNvPr id="6" name="圖片 5">
            <a:extLst>
              <a:ext uri="{FF2B5EF4-FFF2-40B4-BE49-F238E27FC236}">
                <a16:creationId xmlns:a16="http://schemas.microsoft.com/office/drawing/2014/main" id="{197C03DD-5348-561D-0E3D-636AFAF932A6}"/>
              </a:ext>
            </a:extLst>
          </p:cNvPr>
          <p:cNvPicPr>
            <a:picLocks noChangeAspect="1"/>
          </p:cNvPicPr>
          <p:nvPr/>
        </p:nvPicPr>
        <p:blipFill>
          <a:blip r:embed="rId5"/>
          <a:stretch>
            <a:fillRect/>
          </a:stretch>
        </p:blipFill>
        <p:spPr>
          <a:xfrm>
            <a:off x="1828800" y="3709911"/>
            <a:ext cx="5110291" cy="3442165"/>
          </a:xfrm>
          <a:prstGeom prst="rect">
            <a:avLst/>
          </a:prstGeom>
        </p:spPr>
      </p:pic>
      <p:graphicFrame>
        <p:nvGraphicFramePr>
          <p:cNvPr id="3" name="表格 2">
            <a:extLst>
              <a:ext uri="{FF2B5EF4-FFF2-40B4-BE49-F238E27FC236}">
                <a16:creationId xmlns:a16="http://schemas.microsoft.com/office/drawing/2014/main" id="{E66974B6-D5B4-0BCE-8F92-9B35C4DD8730}"/>
              </a:ext>
            </a:extLst>
          </p:cNvPr>
          <p:cNvGraphicFramePr>
            <a:graphicFrameLocks noGrp="1"/>
          </p:cNvGraphicFramePr>
          <p:nvPr>
            <p:extLst>
              <p:ext uri="{D42A27DB-BD31-4B8C-83A1-F6EECF244321}">
                <p14:modId xmlns:p14="http://schemas.microsoft.com/office/powerpoint/2010/main" val="2091043286"/>
              </p:ext>
            </p:extLst>
          </p:nvPr>
        </p:nvGraphicFramePr>
        <p:xfrm>
          <a:off x="8839200" y="4686300"/>
          <a:ext cx="7239000" cy="1918134"/>
        </p:xfrm>
        <a:graphic>
          <a:graphicData uri="http://schemas.openxmlformats.org/drawingml/2006/table">
            <a:tbl>
              <a:tblPr firstRow="1" bandRow="1">
                <a:tableStyleId>{2D5ABB26-0587-4C30-8999-92F81FD0307C}</a:tableStyleId>
              </a:tblPr>
              <a:tblGrid>
                <a:gridCol w="1806855">
                  <a:extLst>
                    <a:ext uri="{9D8B030D-6E8A-4147-A177-3AD203B41FA5}">
                      <a16:colId xmlns:a16="http://schemas.microsoft.com/office/drawing/2014/main" val="2474531545"/>
                    </a:ext>
                  </a:extLst>
                </a:gridCol>
                <a:gridCol w="5432145">
                  <a:extLst>
                    <a:ext uri="{9D8B030D-6E8A-4147-A177-3AD203B41FA5}">
                      <a16:colId xmlns:a16="http://schemas.microsoft.com/office/drawing/2014/main" val="2164255191"/>
                    </a:ext>
                  </a:extLst>
                </a:gridCol>
              </a:tblGrid>
              <a:tr h="1044458">
                <a:tc>
                  <a:txBody>
                    <a:bodyPr/>
                    <a:lstStyle/>
                    <a:p>
                      <a:pPr algn="ctr">
                        <a:lnSpc>
                          <a:spcPct val="150000"/>
                        </a:lnSpc>
                      </a:pPr>
                      <a:r>
                        <a:rPr lang="en-US" altLang="zh-TW" sz="2400" dirty="0">
                          <a:solidFill>
                            <a:srgbClr val="695C4A"/>
                          </a:solidFill>
                          <a:latin typeface="Times New Roman" panose="02020603050405020304" pitchFamily="18" charset="0"/>
                          <a:cs typeface="Times New Roman" panose="02020603050405020304" pitchFamily="18" charset="0"/>
                        </a:rPr>
                        <a:t>MOLD_NO</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solidFill>
                            <a:srgbClr val="695C4A"/>
                          </a:solidFill>
                          <a:latin typeface="Times New Roman" panose="02020603050405020304" pitchFamily="18" charset="0"/>
                          <a:cs typeface="Times New Roman" panose="02020603050405020304" pitchFamily="18" charset="0"/>
                        </a:rPr>
                        <a:t>The identifier</a:t>
                      </a:r>
                      <a:r>
                        <a:rPr lang="zh-TW" altLang="en-US" sz="2400" dirty="0">
                          <a:solidFill>
                            <a:srgbClr val="695C4A"/>
                          </a:solidFill>
                          <a:latin typeface="Times New Roman" panose="02020603050405020304" pitchFamily="18" charset="0"/>
                          <a:cs typeface="Times New Roman" panose="02020603050405020304" pitchFamily="18" charset="0"/>
                        </a:rPr>
                        <a:t> </a:t>
                      </a:r>
                      <a:r>
                        <a:rPr lang="en-US" altLang="zh-TW" sz="2400" dirty="0">
                          <a:solidFill>
                            <a:srgbClr val="695C4A"/>
                          </a:solidFill>
                          <a:latin typeface="Times New Roman" panose="02020603050405020304" pitchFamily="18" charset="0"/>
                          <a:cs typeface="Times New Roman" panose="02020603050405020304" pitchFamily="18" charset="0"/>
                        </a:rPr>
                        <a:t>of mold.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487628"/>
                  </a:ext>
                </a:extLst>
              </a:tr>
              <a:tr h="873676">
                <a:tc>
                  <a:txBody>
                    <a:bodyPr/>
                    <a:lstStyle/>
                    <a:p>
                      <a:pPr algn="ctr">
                        <a:lnSpc>
                          <a:spcPct val="150000"/>
                        </a:lnSpc>
                      </a:pPr>
                      <a:r>
                        <a:rPr lang="en-US" altLang="zh-TW" sz="2400" dirty="0">
                          <a:solidFill>
                            <a:srgbClr val="695C4A"/>
                          </a:solidFill>
                          <a:latin typeface="Times New Roman" panose="02020603050405020304" pitchFamily="18" charset="0"/>
                          <a:cs typeface="Times New Roman" panose="02020603050405020304" pitchFamily="18" charset="0"/>
                        </a:rPr>
                        <a:t>QTY</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zh-TW" sz="2400" dirty="0">
                          <a:solidFill>
                            <a:srgbClr val="695C4A"/>
                          </a:solidFill>
                          <a:latin typeface="Times New Roman" panose="02020603050405020304" pitchFamily="18" charset="0"/>
                          <a:cs typeface="Times New Roman" panose="02020603050405020304" pitchFamily="18" charset="0"/>
                        </a:rPr>
                        <a:t>The number of available mold.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57458"/>
                  </a:ext>
                </a:extLst>
              </a:tr>
            </a:tbl>
          </a:graphicData>
        </a:graphic>
      </p:graphicFrame>
    </p:spTree>
    <p:extLst>
      <p:ext uri="{BB962C8B-B14F-4D97-AF65-F5344CB8AC3E}">
        <p14:creationId xmlns:p14="http://schemas.microsoft.com/office/powerpoint/2010/main" val="2525028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050C0-DF93-E77E-E0BD-4953C48B02D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2CB4D6-2765-CDF9-54E1-E89CA037D8FA}"/>
              </a:ext>
            </a:extLst>
          </p:cNvPr>
          <p:cNvSpPr>
            <a:spLocks/>
          </p:cNvSpPr>
          <p:nvPr/>
        </p:nvSpPr>
        <p:spPr>
          <a:xfrm rot="634158">
            <a:off x="-2604617" y="-1000841"/>
            <a:ext cx="23926799" cy="12863671"/>
          </a:xfrm>
          <a:custGeom>
            <a:avLst/>
            <a:gdLst/>
            <a:ahLst/>
            <a:cxnLst/>
            <a:rect l="l" t="t" r="r" b="b"/>
            <a:pathLst>
              <a:path w="18930865" h="18758766">
                <a:moveTo>
                  <a:pt x="0" y="0"/>
                </a:moveTo>
                <a:lnTo>
                  <a:pt x="18930865" y="0"/>
                </a:lnTo>
                <a:lnTo>
                  <a:pt x="18930865" y="18758767"/>
                </a:lnTo>
                <a:lnTo>
                  <a:pt x="0" y="18758767"/>
                </a:lnTo>
                <a:lnTo>
                  <a:pt x="0" y="0"/>
                </a:lnTo>
                <a:close/>
              </a:path>
            </a:pathLst>
          </a:custGeom>
          <a:blipFill>
            <a:blip>
              <a:alphaModFix amt="7999"/>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8" name="TextBox 7">
            <a:extLst>
              <a:ext uri="{FF2B5EF4-FFF2-40B4-BE49-F238E27FC236}">
                <a16:creationId xmlns:a16="http://schemas.microsoft.com/office/drawing/2014/main" id="{2D7705B7-A9E2-AE28-4DD0-193752ED5DBD}"/>
              </a:ext>
            </a:extLst>
          </p:cNvPr>
          <p:cNvSpPr txBox="1"/>
          <p:nvPr/>
        </p:nvSpPr>
        <p:spPr>
          <a:xfrm>
            <a:off x="986876" y="104761"/>
            <a:ext cx="8438403" cy="1144544"/>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Input Data (MACHINE.csv)</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9" name="AutoShape 4">
            <a:extLst>
              <a:ext uri="{FF2B5EF4-FFF2-40B4-BE49-F238E27FC236}">
                <a16:creationId xmlns:a16="http://schemas.microsoft.com/office/drawing/2014/main" id="{9E3187B0-6C9D-F3EA-BC24-872A95177BF7}"/>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0" name="AutoShape 11">
            <a:extLst>
              <a:ext uri="{FF2B5EF4-FFF2-40B4-BE49-F238E27FC236}">
                <a16:creationId xmlns:a16="http://schemas.microsoft.com/office/drawing/2014/main" id="{3A4C6DC5-1828-7DF1-A541-5D4541BDBE7D}"/>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1" name="Freeform 12">
            <a:extLst>
              <a:ext uri="{FF2B5EF4-FFF2-40B4-BE49-F238E27FC236}">
                <a16:creationId xmlns:a16="http://schemas.microsoft.com/office/drawing/2014/main" id="{C7F64960-A0B9-8ED9-7373-BE620F2EACC0}"/>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aphicFrame>
        <p:nvGraphicFramePr>
          <p:cNvPr id="7" name="表格 6">
            <a:extLst>
              <a:ext uri="{FF2B5EF4-FFF2-40B4-BE49-F238E27FC236}">
                <a16:creationId xmlns:a16="http://schemas.microsoft.com/office/drawing/2014/main" id="{D838C578-8439-1695-0711-3702726E26F9}"/>
              </a:ext>
            </a:extLst>
          </p:cNvPr>
          <p:cNvGraphicFramePr>
            <a:graphicFrameLocks noGrp="1"/>
          </p:cNvGraphicFramePr>
          <p:nvPr>
            <p:extLst>
              <p:ext uri="{D42A27DB-BD31-4B8C-83A1-F6EECF244321}">
                <p14:modId xmlns:p14="http://schemas.microsoft.com/office/powerpoint/2010/main" val="3739650864"/>
              </p:ext>
            </p:extLst>
          </p:nvPr>
        </p:nvGraphicFramePr>
        <p:xfrm>
          <a:off x="2270374" y="5883817"/>
          <a:ext cx="13747251" cy="3665486"/>
        </p:xfrm>
        <a:graphic>
          <a:graphicData uri="http://schemas.openxmlformats.org/drawingml/2006/table">
            <a:tbl>
              <a:tblPr firstRow="1" bandRow="1">
                <a:tableStyleId>{2D5ABB26-0587-4C30-8999-92F81FD0307C}</a:tableStyleId>
              </a:tblPr>
              <a:tblGrid>
                <a:gridCol w="4405996">
                  <a:extLst>
                    <a:ext uri="{9D8B030D-6E8A-4147-A177-3AD203B41FA5}">
                      <a16:colId xmlns:a16="http://schemas.microsoft.com/office/drawing/2014/main" val="2474531545"/>
                    </a:ext>
                  </a:extLst>
                </a:gridCol>
                <a:gridCol w="9341255">
                  <a:extLst>
                    <a:ext uri="{9D8B030D-6E8A-4147-A177-3AD203B41FA5}">
                      <a16:colId xmlns:a16="http://schemas.microsoft.com/office/drawing/2014/main" val="2164255191"/>
                    </a:ext>
                  </a:extLst>
                </a:gridCol>
              </a:tblGrid>
              <a:tr h="1044458">
                <a:tc>
                  <a:txBody>
                    <a:bodyPr/>
                    <a:lstStyle/>
                    <a:p>
                      <a:pPr algn="ctr">
                        <a:lnSpc>
                          <a:spcPct val="150000"/>
                        </a:lnSpc>
                      </a:pPr>
                      <a:r>
                        <a:rPr lang="en-US" altLang="zh-TW" sz="2400" dirty="0">
                          <a:solidFill>
                            <a:srgbClr val="695C4A"/>
                          </a:solidFill>
                          <a:latin typeface="Times New Roman" panose="02020603050405020304" pitchFamily="18" charset="0"/>
                          <a:cs typeface="Times New Roman" panose="02020603050405020304" pitchFamily="18" charset="0"/>
                        </a:rPr>
                        <a:t>MACHINE_NO</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solidFill>
                            <a:srgbClr val="695C4A"/>
                          </a:solidFill>
                          <a:latin typeface="Times New Roman" panose="02020603050405020304" pitchFamily="18" charset="0"/>
                          <a:cs typeface="Times New Roman" panose="02020603050405020304" pitchFamily="18" charset="0"/>
                        </a:rPr>
                        <a:t>The identifier</a:t>
                      </a:r>
                      <a:r>
                        <a:rPr lang="zh-TW" altLang="en-US" sz="2400" dirty="0">
                          <a:solidFill>
                            <a:srgbClr val="695C4A"/>
                          </a:solidFill>
                          <a:latin typeface="Times New Roman" panose="02020603050405020304" pitchFamily="18" charset="0"/>
                          <a:cs typeface="Times New Roman" panose="02020603050405020304" pitchFamily="18" charset="0"/>
                        </a:rPr>
                        <a:t> </a:t>
                      </a:r>
                      <a:r>
                        <a:rPr lang="en-US" altLang="zh-TW" sz="2400" dirty="0">
                          <a:solidFill>
                            <a:srgbClr val="695C4A"/>
                          </a:solidFill>
                          <a:latin typeface="Times New Roman" panose="02020603050405020304" pitchFamily="18" charset="0"/>
                          <a:cs typeface="Times New Roman" panose="02020603050405020304" pitchFamily="18" charset="0"/>
                        </a:rPr>
                        <a:t>of machine.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487628"/>
                  </a:ext>
                </a:extLst>
              </a:tr>
              <a:tr h="873676">
                <a:tc>
                  <a:txBody>
                    <a:bodyPr/>
                    <a:lstStyle/>
                    <a:p>
                      <a:pPr algn="ctr">
                        <a:lnSpc>
                          <a:spcPct val="150000"/>
                        </a:lnSpc>
                      </a:pPr>
                      <a:r>
                        <a:rPr lang="en-US" altLang="zh-TW" sz="2400" dirty="0">
                          <a:solidFill>
                            <a:srgbClr val="695C4A"/>
                          </a:solidFill>
                          <a:latin typeface="Times New Roman" panose="02020603050405020304" pitchFamily="18" charset="0"/>
                          <a:cs typeface="Times New Roman" panose="02020603050405020304" pitchFamily="18" charset="0"/>
                        </a:rPr>
                        <a:t>CAPACITY</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zh-TW" sz="2400" dirty="0">
                          <a:solidFill>
                            <a:srgbClr val="695C4A"/>
                          </a:solidFill>
                          <a:latin typeface="Times New Roman" panose="02020603050405020304" pitchFamily="18" charset="0"/>
                          <a:cs typeface="Times New Roman" panose="02020603050405020304" pitchFamily="18" charset="0"/>
                        </a:rPr>
                        <a:t>The number of available capacity of machine.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57458"/>
                  </a:ext>
                </a:extLst>
              </a:tr>
              <a:tr h="873676">
                <a:tc>
                  <a:txBody>
                    <a:bodyPr/>
                    <a:lstStyle/>
                    <a:p>
                      <a:pPr algn="ctr">
                        <a:lnSpc>
                          <a:spcPct val="150000"/>
                        </a:lnSpc>
                      </a:pPr>
                      <a:r>
                        <a:rPr lang="en-US" altLang="zh-TW" sz="2400" kern="1200" dirty="0">
                          <a:solidFill>
                            <a:srgbClr val="695C4A"/>
                          </a:solidFill>
                          <a:latin typeface="Times New Roman" panose="02020603050405020304" pitchFamily="18" charset="0"/>
                          <a:ea typeface="+mn-ea"/>
                          <a:cs typeface="Times New Roman" panose="02020603050405020304" pitchFamily="18" charset="0"/>
                        </a:rPr>
                        <a:t>CAVITY</a:t>
                      </a:r>
                      <a:endParaRPr lang="zh-TW" altLang="en-US" sz="2400" kern="1200" dirty="0">
                        <a:solidFill>
                          <a:srgbClr val="695C4A"/>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zh-TW" sz="2400" dirty="0">
                          <a:solidFill>
                            <a:srgbClr val="695C4A"/>
                          </a:solidFill>
                          <a:latin typeface="Times New Roman" panose="02020603050405020304" pitchFamily="18" charset="0"/>
                          <a:cs typeface="Times New Roman" panose="02020603050405020304" pitchFamily="18" charset="0"/>
                        </a:rPr>
                        <a:t>The number of available cavity of machine.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6700064"/>
                  </a:ext>
                </a:extLst>
              </a:tr>
              <a:tr h="873676">
                <a:tc>
                  <a:txBody>
                    <a:bodyPr/>
                    <a:lstStyle/>
                    <a:p>
                      <a:pPr algn="ctr">
                        <a:lnSpc>
                          <a:spcPct val="150000"/>
                        </a:lnSpc>
                      </a:pPr>
                      <a:r>
                        <a:rPr lang="en-US" altLang="zh-TW" sz="2400" kern="1200" dirty="0">
                          <a:solidFill>
                            <a:srgbClr val="695C4A"/>
                          </a:solidFill>
                          <a:latin typeface="Times New Roman" panose="02020603050405020304" pitchFamily="18" charset="0"/>
                          <a:ea typeface="+mn-ea"/>
                          <a:cs typeface="Times New Roman" panose="02020603050405020304" pitchFamily="18" charset="0"/>
                        </a:rPr>
                        <a:t>MOLD_CHANGE_LIMIT</a:t>
                      </a:r>
                      <a:endParaRPr lang="zh-TW" altLang="en-US" sz="2400" kern="1200" dirty="0">
                        <a:solidFill>
                          <a:srgbClr val="695C4A"/>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zh-TW" sz="2400" dirty="0">
                          <a:solidFill>
                            <a:srgbClr val="695C4A"/>
                          </a:solidFill>
                          <a:latin typeface="Times New Roman" panose="02020603050405020304" pitchFamily="18" charset="0"/>
                          <a:cs typeface="Times New Roman" panose="02020603050405020304" pitchFamily="18" charset="0"/>
                        </a:rPr>
                        <a:t>The limitation of mold changing setup. (mount + unmount count as once)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4773133"/>
                  </a:ext>
                </a:extLst>
              </a:tr>
            </a:tbl>
          </a:graphicData>
        </a:graphic>
      </p:graphicFrame>
      <p:pic>
        <p:nvPicPr>
          <p:cNvPr id="14" name="圖片 13">
            <a:extLst>
              <a:ext uri="{FF2B5EF4-FFF2-40B4-BE49-F238E27FC236}">
                <a16:creationId xmlns:a16="http://schemas.microsoft.com/office/drawing/2014/main" id="{EF376C74-5CBD-AEBF-C498-0D3A2221EB75}"/>
              </a:ext>
            </a:extLst>
          </p:cNvPr>
          <p:cNvPicPr>
            <a:picLocks noChangeAspect="1"/>
          </p:cNvPicPr>
          <p:nvPr/>
        </p:nvPicPr>
        <p:blipFill>
          <a:blip r:embed="rId5"/>
          <a:stretch>
            <a:fillRect/>
          </a:stretch>
        </p:blipFill>
        <p:spPr>
          <a:xfrm>
            <a:off x="2886765" y="2019300"/>
            <a:ext cx="12514470" cy="3357539"/>
          </a:xfrm>
          <a:prstGeom prst="rect">
            <a:avLst/>
          </a:prstGeom>
        </p:spPr>
      </p:pic>
    </p:spTree>
    <p:extLst>
      <p:ext uri="{BB962C8B-B14F-4D97-AF65-F5344CB8AC3E}">
        <p14:creationId xmlns:p14="http://schemas.microsoft.com/office/powerpoint/2010/main" val="2515784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p:cNvSpPr>
          <p:nvPr/>
        </p:nvSpPr>
        <p:spPr>
          <a:xfrm rot="634158">
            <a:off x="-2604617" y="-1000841"/>
            <a:ext cx="23926799" cy="12863671"/>
          </a:xfrm>
          <a:custGeom>
            <a:avLst/>
            <a:gdLst/>
            <a:ahLst/>
            <a:cxnLst/>
            <a:rect l="l" t="t" r="r" b="b"/>
            <a:pathLst>
              <a:path w="18930865" h="18758766">
                <a:moveTo>
                  <a:pt x="0" y="0"/>
                </a:moveTo>
                <a:lnTo>
                  <a:pt x="18930865" y="0"/>
                </a:lnTo>
                <a:lnTo>
                  <a:pt x="18930865" y="18758767"/>
                </a:lnTo>
                <a:lnTo>
                  <a:pt x="0" y="18758767"/>
                </a:lnTo>
                <a:lnTo>
                  <a:pt x="0" y="0"/>
                </a:lnTo>
                <a:close/>
              </a:path>
            </a:pathLst>
          </a:custGeom>
          <a:blipFill>
            <a:blip>
              <a:alphaModFix amt="7999"/>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8" name="TextBox 7">
            <a:extLst>
              <a:ext uri="{FF2B5EF4-FFF2-40B4-BE49-F238E27FC236}">
                <a16:creationId xmlns:a16="http://schemas.microsoft.com/office/drawing/2014/main" id="{EA0FBDF6-BA51-C1E3-BE0B-D50B8340A3F8}"/>
              </a:ext>
            </a:extLst>
          </p:cNvPr>
          <p:cNvSpPr txBox="1"/>
          <p:nvPr/>
        </p:nvSpPr>
        <p:spPr>
          <a:xfrm>
            <a:off x="986877" y="104761"/>
            <a:ext cx="11268543" cy="1144544"/>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Input Data (MATERIAL_ROUTE.csv)</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9" name="AutoShape 4">
            <a:extLst>
              <a:ext uri="{FF2B5EF4-FFF2-40B4-BE49-F238E27FC236}">
                <a16:creationId xmlns:a16="http://schemas.microsoft.com/office/drawing/2014/main" id="{7F898C3E-2F19-66AC-D9C5-CEBE2A88482F}"/>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0" name="AutoShape 11">
            <a:extLst>
              <a:ext uri="{FF2B5EF4-FFF2-40B4-BE49-F238E27FC236}">
                <a16:creationId xmlns:a16="http://schemas.microsoft.com/office/drawing/2014/main" id="{40B1DC51-D2A5-A06B-05D6-CAB59536E3CB}"/>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1" name="Freeform 12">
            <a:extLst>
              <a:ext uri="{FF2B5EF4-FFF2-40B4-BE49-F238E27FC236}">
                <a16:creationId xmlns:a16="http://schemas.microsoft.com/office/drawing/2014/main" id="{1A4EC29C-273E-E730-5D1A-B2E3E4D6FEEA}"/>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aphicFrame>
        <p:nvGraphicFramePr>
          <p:cNvPr id="14" name="表格 13">
            <a:extLst>
              <a:ext uri="{FF2B5EF4-FFF2-40B4-BE49-F238E27FC236}">
                <a16:creationId xmlns:a16="http://schemas.microsoft.com/office/drawing/2014/main" id="{C99F02CE-AC4A-5183-4557-C128F59B9270}"/>
              </a:ext>
            </a:extLst>
          </p:cNvPr>
          <p:cNvGraphicFramePr>
            <a:graphicFrameLocks noGrp="1"/>
          </p:cNvGraphicFramePr>
          <p:nvPr>
            <p:extLst>
              <p:ext uri="{D42A27DB-BD31-4B8C-83A1-F6EECF244321}">
                <p14:modId xmlns:p14="http://schemas.microsoft.com/office/powerpoint/2010/main" val="3402891490"/>
              </p:ext>
            </p:extLst>
          </p:nvPr>
        </p:nvGraphicFramePr>
        <p:xfrm>
          <a:off x="2500782" y="6896100"/>
          <a:ext cx="13716000" cy="2415060"/>
        </p:xfrm>
        <a:graphic>
          <a:graphicData uri="http://schemas.openxmlformats.org/drawingml/2006/table">
            <a:tbl>
              <a:tblPr firstRow="1" bandRow="1">
                <a:tableStyleId>{2D5ABB26-0587-4C30-8999-92F81FD0307C}</a:tableStyleId>
              </a:tblPr>
              <a:tblGrid>
                <a:gridCol w="4343400">
                  <a:extLst>
                    <a:ext uri="{9D8B030D-6E8A-4147-A177-3AD203B41FA5}">
                      <a16:colId xmlns:a16="http://schemas.microsoft.com/office/drawing/2014/main" val="2474531545"/>
                    </a:ext>
                  </a:extLst>
                </a:gridCol>
                <a:gridCol w="9372600">
                  <a:extLst>
                    <a:ext uri="{9D8B030D-6E8A-4147-A177-3AD203B41FA5}">
                      <a16:colId xmlns:a16="http://schemas.microsoft.com/office/drawing/2014/main" val="2164255191"/>
                    </a:ext>
                  </a:extLst>
                </a:gridCol>
              </a:tblGrid>
              <a:tr h="805020">
                <a:tc>
                  <a:txBody>
                    <a:bodyPr/>
                    <a:lstStyle/>
                    <a:p>
                      <a:pPr algn="ctr">
                        <a:lnSpc>
                          <a:spcPct val="150000"/>
                        </a:lnSpc>
                      </a:pPr>
                      <a:r>
                        <a:rPr lang="en-US" altLang="zh-TW" sz="2400" dirty="0">
                          <a:solidFill>
                            <a:srgbClr val="695C4A"/>
                          </a:solidFill>
                          <a:latin typeface="Times New Roman" panose="02020603050405020304" pitchFamily="18" charset="0"/>
                          <a:cs typeface="Times New Roman" panose="02020603050405020304" pitchFamily="18" charset="0"/>
                        </a:rPr>
                        <a:t>MATERIAL_NO</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solidFill>
                            <a:srgbClr val="695C4A"/>
                          </a:solidFill>
                          <a:latin typeface="Times New Roman" panose="02020603050405020304" pitchFamily="18" charset="0"/>
                          <a:cs typeface="Times New Roman" panose="02020603050405020304" pitchFamily="18" charset="0"/>
                        </a:rPr>
                        <a:t>The identifier of the material.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487628"/>
                  </a:ext>
                </a:extLst>
              </a:tr>
              <a:tr h="805020">
                <a:tc>
                  <a:txBody>
                    <a:bodyPr/>
                    <a:lstStyle/>
                    <a:p>
                      <a:pPr algn="ctr">
                        <a:lnSpc>
                          <a:spcPct val="150000"/>
                        </a:lnSpc>
                      </a:pPr>
                      <a:r>
                        <a:rPr lang="en-US" altLang="zh-TW" sz="2400" dirty="0">
                          <a:solidFill>
                            <a:srgbClr val="695C4A"/>
                          </a:solidFill>
                          <a:latin typeface="Times New Roman" panose="02020603050405020304" pitchFamily="18" charset="0"/>
                          <a:cs typeface="Times New Roman" panose="02020603050405020304" pitchFamily="18" charset="0"/>
                        </a:rPr>
                        <a:t>MACHINE_NO</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solidFill>
                            <a:srgbClr val="695C4A"/>
                          </a:solidFill>
                          <a:latin typeface="Times New Roman" panose="02020603050405020304" pitchFamily="18" charset="0"/>
                          <a:cs typeface="Times New Roman" panose="02020603050405020304" pitchFamily="18" charset="0"/>
                        </a:rPr>
                        <a:t>The identifier of the feasible machine of the corresponding material.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57458"/>
                  </a:ext>
                </a:extLst>
              </a:tr>
              <a:tr h="805020">
                <a:tc>
                  <a:txBody>
                    <a:bodyPr/>
                    <a:lstStyle/>
                    <a:p>
                      <a:pPr algn="ctr">
                        <a:lnSpc>
                          <a:spcPct val="150000"/>
                        </a:lnSpc>
                      </a:pPr>
                      <a:r>
                        <a:rPr lang="en-US" altLang="zh-TW" sz="2400" dirty="0">
                          <a:solidFill>
                            <a:srgbClr val="695C4A"/>
                          </a:solidFill>
                          <a:latin typeface="Times New Roman" panose="02020603050405020304" pitchFamily="18" charset="0"/>
                          <a:cs typeface="Times New Roman" panose="02020603050405020304" pitchFamily="18" charset="0"/>
                        </a:rPr>
                        <a:t>MOLD_NO</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solidFill>
                            <a:srgbClr val="695C4A"/>
                          </a:solidFill>
                          <a:latin typeface="Times New Roman" panose="02020603050405020304" pitchFamily="18" charset="0"/>
                          <a:cs typeface="Times New Roman" panose="02020603050405020304" pitchFamily="18" charset="0"/>
                        </a:rPr>
                        <a:t>The identifier of the feasible mold of the corresponding material.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979340"/>
                  </a:ext>
                </a:extLst>
              </a:tr>
            </a:tbl>
          </a:graphicData>
        </a:graphic>
      </p:graphicFrame>
      <p:pic>
        <p:nvPicPr>
          <p:cNvPr id="3" name="圖片 2">
            <a:extLst>
              <a:ext uri="{FF2B5EF4-FFF2-40B4-BE49-F238E27FC236}">
                <a16:creationId xmlns:a16="http://schemas.microsoft.com/office/drawing/2014/main" id="{41BAFD41-3F19-AF13-5A47-ED0D5B415894}"/>
              </a:ext>
            </a:extLst>
          </p:cNvPr>
          <p:cNvPicPr>
            <a:picLocks noChangeAspect="1"/>
          </p:cNvPicPr>
          <p:nvPr/>
        </p:nvPicPr>
        <p:blipFill>
          <a:blip r:embed="rId5"/>
          <a:srcRect t="1" b="40147"/>
          <a:stretch>
            <a:fillRect/>
          </a:stretch>
        </p:blipFill>
        <p:spPr>
          <a:xfrm>
            <a:off x="4638811" y="2422607"/>
            <a:ext cx="9439941" cy="3586852"/>
          </a:xfrm>
          <a:prstGeom prst="rect">
            <a:avLst/>
          </a:prstGeom>
        </p:spPr>
      </p:pic>
    </p:spTree>
    <p:extLst>
      <p:ext uri="{BB962C8B-B14F-4D97-AF65-F5344CB8AC3E}">
        <p14:creationId xmlns:p14="http://schemas.microsoft.com/office/powerpoint/2010/main" val="2581101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F4C64-456B-DB4D-EB89-98A857E615F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A18A45F-AD9C-EF9A-7396-FBCF8E896851}"/>
              </a:ext>
            </a:extLst>
          </p:cNvPr>
          <p:cNvSpPr>
            <a:spLocks/>
          </p:cNvSpPr>
          <p:nvPr/>
        </p:nvSpPr>
        <p:spPr>
          <a:xfrm rot="634158">
            <a:off x="-2604617" y="-1000841"/>
            <a:ext cx="23926799" cy="12863671"/>
          </a:xfrm>
          <a:custGeom>
            <a:avLst/>
            <a:gdLst/>
            <a:ahLst/>
            <a:cxnLst/>
            <a:rect l="l" t="t" r="r" b="b"/>
            <a:pathLst>
              <a:path w="18930865" h="18758766">
                <a:moveTo>
                  <a:pt x="0" y="0"/>
                </a:moveTo>
                <a:lnTo>
                  <a:pt x="18930865" y="0"/>
                </a:lnTo>
                <a:lnTo>
                  <a:pt x="18930865" y="18758767"/>
                </a:lnTo>
                <a:lnTo>
                  <a:pt x="0" y="18758767"/>
                </a:lnTo>
                <a:lnTo>
                  <a:pt x="0" y="0"/>
                </a:lnTo>
                <a:close/>
              </a:path>
            </a:pathLst>
          </a:custGeom>
          <a:blipFill>
            <a:blip>
              <a:alphaModFix amt="7999"/>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8" name="TextBox 7">
            <a:extLst>
              <a:ext uri="{FF2B5EF4-FFF2-40B4-BE49-F238E27FC236}">
                <a16:creationId xmlns:a16="http://schemas.microsoft.com/office/drawing/2014/main" id="{A67D21A3-ECA4-D7E9-E63A-8E7CB699E792}"/>
              </a:ext>
            </a:extLst>
          </p:cNvPr>
          <p:cNvSpPr txBox="1"/>
          <p:nvPr/>
        </p:nvSpPr>
        <p:spPr>
          <a:xfrm>
            <a:off x="986876" y="104761"/>
            <a:ext cx="9376323" cy="1144544"/>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Input Data (MAINTENANCE.csv)</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9" name="AutoShape 4">
            <a:extLst>
              <a:ext uri="{FF2B5EF4-FFF2-40B4-BE49-F238E27FC236}">
                <a16:creationId xmlns:a16="http://schemas.microsoft.com/office/drawing/2014/main" id="{67B464C5-98B5-F362-11AE-D8D63330429D}"/>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0" name="AutoShape 11">
            <a:extLst>
              <a:ext uri="{FF2B5EF4-FFF2-40B4-BE49-F238E27FC236}">
                <a16:creationId xmlns:a16="http://schemas.microsoft.com/office/drawing/2014/main" id="{8572B2B8-0CA8-5918-923B-FFDC299A0547}"/>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1" name="Freeform 12">
            <a:extLst>
              <a:ext uri="{FF2B5EF4-FFF2-40B4-BE49-F238E27FC236}">
                <a16:creationId xmlns:a16="http://schemas.microsoft.com/office/drawing/2014/main" id="{0F30201B-47C1-1F5C-3F25-B0C282067595}"/>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aphicFrame>
        <p:nvGraphicFramePr>
          <p:cNvPr id="7" name="表格 6">
            <a:extLst>
              <a:ext uri="{FF2B5EF4-FFF2-40B4-BE49-F238E27FC236}">
                <a16:creationId xmlns:a16="http://schemas.microsoft.com/office/drawing/2014/main" id="{F45D8BA3-0689-2CBB-E182-3E1CECC2FF4A}"/>
              </a:ext>
            </a:extLst>
          </p:cNvPr>
          <p:cNvGraphicFramePr>
            <a:graphicFrameLocks noGrp="1"/>
          </p:cNvGraphicFramePr>
          <p:nvPr>
            <p:extLst>
              <p:ext uri="{D42A27DB-BD31-4B8C-83A1-F6EECF244321}">
                <p14:modId xmlns:p14="http://schemas.microsoft.com/office/powerpoint/2010/main" val="517893593"/>
              </p:ext>
            </p:extLst>
          </p:nvPr>
        </p:nvGraphicFramePr>
        <p:xfrm>
          <a:off x="5139580" y="6057900"/>
          <a:ext cx="8438404" cy="2621028"/>
        </p:xfrm>
        <a:graphic>
          <a:graphicData uri="http://schemas.openxmlformats.org/drawingml/2006/table">
            <a:tbl>
              <a:tblPr firstRow="1" bandRow="1">
                <a:tableStyleId>{2D5ABB26-0587-4C30-8999-92F81FD0307C}</a:tableStyleId>
              </a:tblPr>
              <a:tblGrid>
                <a:gridCol w="2390869">
                  <a:extLst>
                    <a:ext uri="{9D8B030D-6E8A-4147-A177-3AD203B41FA5}">
                      <a16:colId xmlns:a16="http://schemas.microsoft.com/office/drawing/2014/main" val="2474531545"/>
                    </a:ext>
                  </a:extLst>
                </a:gridCol>
                <a:gridCol w="6047535">
                  <a:extLst>
                    <a:ext uri="{9D8B030D-6E8A-4147-A177-3AD203B41FA5}">
                      <a16:colId xmlns:a16="http://schemas.microsoft.com/office/drawing/2014/main" val="2164255191"/>
                    </a:ext>
                  </a:extLst>
                </a:gridCol>
              </a:tblGrid>
              <a:tr h="873676">
                <a:tc>
                  <a:txBody>
                    <a:bodyPr/>
                    <a:lstStyle/>
                    <a:p>
                      <a:pPr algn="ctr">
                        <a:lnSpc>
                          <a:spcPct val="150000"/>
                        </a:lnSpc>
                      </a:pPr>
                      <a:r>
                        <a:rPr lang="en-US" altLang="zh-TW" sz="2400" dirty="0">
                          <a:solidFill>
                            <a:srgbClr val="695C4A"/>
                          </a:solidFill>
                          <a:latin typeface="Times New Roman" panose="02020603050405020304" pitchFamily="18" charset="0"/>
                          <a:cs typeface="Times New Roman" panose="02020603050405020304" pitchFamily="18" charset="0"/>
                        </a:rPr>
                        <a:t>MACHINE_NO</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solidFill>
                            <a:srgbClr val="695C4A"/>
                          </a:solidFill>
                          <a:latin typeface="Times New Roman" panose="02020603050405020304" pitchFamily="18" charset="0"/>
                          <a:cs typeface="Times New Roman" panose="02020603050405020304" pitchFamily="18" charset="0"/>
                        </a:rPr>
                        <a:t>The identifier</a:t>
                      </a:r>
                      <a:r>
                        <a:rPr lang="zh-TW" altLang="en-US" sz="2400" dirty="0">
                          <a:solidFill>
                            <a:srgbClr val="695C4A"/>
                          </a:solidFill>
                          <a:latin typeface="Times New Roman" panose="02020603050405020304" pitchFamily="18" charset="0"/>
                          <a:cs typeface="Times New Roman" panose="02020603050405020304" pitchFamily="18" charset="0"/>
                        </a:rPr>
                        <a:t> </a:t>
                      </a:r>
                      <a:r>
                        <a:rPr lang="en-US" altLang="zh-TW" sz="2400" dirty="0">
                          <a:solidFill>
                            <a:srgbClr val="695C4A"/>
                          </a:solidFill>
                          <a:latin typeface="Times New Roman" panose="02020603050405020304" pitchFamily="18" charset="0"/>
                          <a:cs typeface="Times New Roman" panose="02020603050405020304" pitchFamily="18" charset="0"/>
                        </a:rPr>
                        <a:t>of machine.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487628"/>
                  </a:ext>
                </a:extLst>
              </a:tr>
              <a:tr h="873676">
                <a:tc>
                  <a:txBody>
                    <a:bodyPr/>
                    <a:lstStyle/>
                    <a:p>
                      <a:pPr algn="ctr">
                        <a:lnSpc>
                          <a:spcPct val="150000"/>
                        </a:lnSpc>
                      </a:pPr>
                      <a:r>
                        <a:rPr lang="en-US" altLang="zh-TW" sz="2400" dirty="0">
                          <a:solidFill>
                            <a:srgbClr val="695C4A"/>
                          </a:solidFill>
                          <a:latin typeface="Times New Roman" panose="02020603050405020304" pitchFamily="18" charset="0"/>
                          <a:cs typeface="Times New Roman" panose="02020603050405020304" pitchFamily="18" charset="0"/>
                        </a:rPr>
                        <a:t>START_TIME</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zh-TW" sz="2400" dirty="0">
                          <a:solidFill>
                            <a:srgbClr val="695C4A"/>
                          </a:solidFill>
                          <a:latin typeface="Times New Roman" panose="02020603050405020304" pitchFamily="18" charset="0"/>
                          <a:cs typeface="Times New Roman" panose="02020603050405020304" pitchFamily="18" charset="0"/>
                        </a:rPr>
                        <a:t>Start time of the maintenance.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57458"/>
                  </a:ext>
                </a:extLst>
              </a:tr>
              <a:tr h="873676">
                <a:tc>
                  <a:txBody>
                    <a:bodyPr/>
                    <a:lstStyle/>
                    <a:p>
                      <a:pPr algn="ctr">
                        <a:lnSpc>
                          <a:spcPct val="150000"/>
                        </a:lnSpc>
                      </a:pPr>
                      <a:r>
                        <a:rPr lang="en-US" altLang="zh-TW" sz="2400" dirty="0">
                          <a:solidFill>
                            <a:srgbClr val="695C4A"/>
                          </a:solidFill>
                          <a:latin typeface="Times New Roman" panose="02020603050405020304" pitchFamily="18" charset="0"/>
                          <a:cs typeface="Times New Roman" panose="02020603050405020304" pitchFamily="18" charset="0"/>
                        </a:rPr>
                        <a:t>END_TIME</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zh-TW" sz="2400" dirty="0">
                          <a:solidFill>
                            <a:srgbClr val="695C4A"/>
                          </a:solidFill>
                          <a:latin typeface="Times New Roman" panose="02020603050405020304" pitchFamily="18" charset="0"/>
                          <a:cs typeface="Times New Roman" panose="02020603050405020304" pitchFamily="18" charset="0"/>
                        </a:rPr>
                        <a:t>End time of the maintenance.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389406"/>
                  </a:ext>
                </a:extLst>
              </a:tr>
            </a:tbl>
          </a:graphicData>
        </a:graphic>
      </p:graphicFrame>
      <p:pic>
        <p:nvPicPr>
          <p:cNvPr id="3" name="圖片 2">
            <a:extLst>
              <a:ext uri="{FF2B5EF4-FFF2-40B4-BE49-F238E27FC236}">
                <a16:creationId xmlns:a16="http://schemas.microsoft.com/office/drawing/2014/main" id="{663BD297-56FD-85B8-B4EF-9125D09CE161}"/>
              </a:ext>
            </a:extLst>
          </p:cNvPr>
          <p:cNvPicPr>
            <a:picLocks noChangeAspect="1"/>
          </p:cNvPicPr>
          <p:nvPr/>
        </p:nvPicPr>
        <p:blipFill>
          <a:blip r:embed="rId5"/>
          <a:stretch>
            <a:fillRect/>
          </a:stretch>
        </p:blipFill>
        <p:spPr>
          <a:xfrm>
            <a:off x="4214281" y="2009693"/>
            <a:ext cx="9859438" cy="3133807"/>
          </a:xfrm>
          <a:prstGeom prst="rect">
            <a:avLst/>
          </a:prstGeom>
        </p:spPr>
      </p:pic>
    </p:spTree>
    <p:extLst>
      <p:ext uri="{BB962C8B-B14F-4D97-AF65-F5344CB8AC3E}">
        <p14:creationId xmlns:p14="http://schemas.microsoft.com/office/powerpoint/2010/main" val="305453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noGrp="1" noRot="1" noMove="1" noResize="1" noEditPoints="1" noAdjustHandles="1" noChangeArrowheads="1" noChangeShapeType="1"/>
          </p:cNvSpPr>
          <p:nvPr/>
        </p:nvSpPr>
        <p:spPr>
          <a:xfrm rot="634158">
            <a:off x="-2604617" y="-1000841"/>
            <a:ext cx="23926799" cy="12863671"/>
          </a:xfrm>
          <a:custGeom>
            <a:avLst/>
            <a:gdLst/>
            <a:ahLst/>
            <a:cxnLst/>
            <a:rect l="l" t="t" r="r" b="b"/>
            <a:pathLst>
              <a:path w="18930865" h="18758766">
                <a:moveTo>
                  <a:pt x="0" y="0"/>
                </a:moveTo>
                <a:lnTo>
                  <a:pt x="18930865" y="0"/>
                </a:lnTo>
                <a:lnTo>
                  <a:pt x="18930865" y="18758767"/>
                </a:lnTo>
                <a:lnTo>
                  <a:pt x="0" y="18758767"/>
                </a:lnTo>
                <a:lnTo>
                  <a:pt x="0" y="0"/>
                </a:lnTo>
                <a:close/>
              </a:path>
            </a:pathLst>
          </a:custGeom>
          <a:blipFill>
            <a:blip>
              <a:alphaModFix amt="7999"/>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8" name="TextBox 7">
            <a:extLst>
              <a:ext uri="{FF2B5EF4-FFF2-40B4-BE49-F238E27FC236}">
                <a16:creationId xmlns:a16="http://schemas.microsoft.com/office/drawing/2014/main" id="{EA0FBDF6-BA51-C1E3-BE0B-D50B8340A3F8}"/>
              </a:ext>
            </a:extLst>
          </p:cNvPr>
          <p:cNvSpPr txBox="1"/>
          <p:nvPr/>
        </p:nvSpPr>
        <p:spPr>
          <a:xfrm>
            <a:off x="986877" y="104761"/>
            <a:ext cx="7852323" cy="1144544"/>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Output File (result.csv)</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9" name="AutoShape 4">
            <a:extLst>
              <a:ext uri="{FF2B5EF4-FFF2-40B4-BE49-F238E27FC236}">
                <a16:creationId xmlns:a16="http://schemas.microsoft.com/office/drawing/2014/main" id="{7F898C3E-2F19-66AC-D9C5-CEBE2A88482F}"/>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0" name="AutoShape 11">
            <a:extLst>
              <a:ext uri="{FF2B5EF4-FFF2-40B4-BE49-F238E27FC236}">
                <a16:creationId xmlns:a16="http://schemas.microsoft.com/office/drawing/2014/main" id="{40B1DC51-D2A5-A06B-05D6-CAB59536E3CB}"/>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1" name="Freeform 12">
            <a:extLst>
              <a:ext uri="{FF2B5EF4-FFF2-40B4-BE49-F238E27FC236}">
                <a16:creationId xmlns:a16="http://schemas.microsoft.com/office/drawing/2014/main" id="{1A4EC29C-273E-E730-5D1A-B2E3E4D6FEEA}"/>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3" name="TextBox 8">
            <a:extLst>
              <a:ext uri="{FF2B5EF4-FFF2-40B4-BE49-F238E27FC236}">
                <a16:creationId xmlns:a16="http://schemas.microsoft.com/office/drawing/2014/main" id="{BEBDE372-E99D-FC52-5A49-1A8B30C35BDC}"/>
              </a:ext>
            </a:extLst>
          </p:cNvPr>
          <p:cNvSpPr txBox="1"/>
          <p:nvPr/>
        </p:nvSpPr>
        <p:spPr>
          <a:xfrm>
            <a:off x="2133600" y="7546559"/>
            <a:ext cx="14554200" cy="1215204"/>
          </a:xfrm>
          <a:prstGeom prst="rect">
            <a:avLst/>
          </a:prstGeom>
        </p:spPr>
        <p:txBody>
          <a:bodyPr wrap="square" lIns="0" tIns="0" rIns="0" bIns="0" rtlCol="0" anchor="t">
            <a:spAutoFit/>
          </a:bodyPr>
          <a:lstStyle/>
          <a:p>
            <a:pPr marL="457200" lvl="0" indent="-457200">
              <a:lnSpc>
                <a:spcPct val="150000"/>
              </a:lnSpc>
              <a:buFont typeface="Arial" panose="020B0604020202020204" pitchFamily="34" charset="0"/>
              <a:buChar char="•"/>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Output the runtime, objective value and the schedule result.</a:t>
            </a:r>
          </a:p>
          <a:p>
            <a:pPr marL="457200" lvl="0" indent="-457200">
              <a:lnSpc>
                <a:spcPct val="150000"/>
              </a:lnSpc>
              <a:buFont typeface="Arial" panose="020B0604020202020204" pitchFamily="34" charset="0"/>
              <a:buChar char="•"/>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If </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IS_SCHEDULED</a:t>
            </a:r>
            <a:r>
              <a:rPr lang="en-US" sz="2800" dirty="0">
                <a:solidFill>
                  <a:srgbClr val="695C4A"/>
                </a:solidFill>
                <a:latin typeface="Times New Roman" panose="02020603050405020304" pitchFamily="18" charset="0"/>
                <a:ea typeface="Livvic"/>
                <a:cs typeface="Times New Roman" panose="02020603050405020304" pitchFamily="18" charset="0"/>
                <a:sym typeface="Livvic"/>
              </a:rPr>
              <a:t> = 0, then column B to column F should not be output.</a:t>
            </a:r>
          </a:p>
        </p:txBody>
      </p:sp>
      <p:pic>
        <p:nvPicPr>
          <p:cNvPr id="6" name="圖片 5">
            <a:extLst>
              <a:ext uri="{FF2B5EF4-FFF2-40B4-BE49-F238E27FC236}">
                <a16:creationId xmlns:a16="http://schemas.microsoft.com/office/drawing/2014/main" id="{E2A88C17-7F6F-32FF-69EA-3FDDB6B5FCCC}"/>
              </a:ext>
            </a:extLst>
          </p:cNvPr>
          <p:cNvPicPr>
            <a:picLocks noChangeAspect="1"/>
          </p:cNvPicPr>
          <p:nvPr/>
        </p:nvPicPr>
        <p:blipFill>
          <a:blip r:embed="rId5"/>
          <a:stretch>
            <a:fillRect/>
          </a:stretch>
        </p:blipFill>
        <p:spPr>
          <a:xfrm>
            <a:off x="986877" y="2291392"/>
            <a:ext cx="16716738" cy="4582782"/>
          </a:xfrm>
          <a:prstGeom prst="rect">
            <a:avLst/>
          </a:prstGeom>
        </p:spPr>
      </p:pic>
      <p:sp>
        <p:nvSpPr>
          <p:cNvPr id="4" name="矩形: 圓角 3">
            <a:extLst>
              <a:ext uri="{FF2B5EF4-FFF2-40B4-BE49-F238E27FC236}">
                <a16:creationId xmlns:a16="http://schemas.microsoft.com/office/drawing/2014/main" id="{B7804630-E10D-A1F6-EC96-CB0708C5D3EF}"/>
              </a:ext>
            </a:extLst>
          </p:cNvPr>
          <p:cNvSpPr/>
          <p:nvPr/>
        </p:nvSpPr>
        <p:spPr>
          <a:xfrm>
            <a:off x="1447800" y="2728686"/>
            <a:ext cx="8305800" cy="357414"/>
          </a:xfrm>
          <a:prstGeom prst="round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911473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100000">
            <a:off x="10079440" y="3207230"/>
            <a:ext cx="14359719" cy="12767096"/>
          </a:xfrm>
          <a:custGeom>
            <a:avLst/>
            <a:gdLst/>
            <a:ahLst/>
            <a:cxnLst/>
            <a:rect l="l" t="t" r="r" b="b"/>
            <a:pathLst>
              <a:path w="14359719" h="12767096">
                <a:moveTo>
                  <a:pt x="0" y="0"/>
                </a:moveTo>
                <a:lnTo>
                  <a:pt x="14359720" y="0"/>
                </a:lnTo>
                <a:lnTo>
                  <a:pt x="14359720" y="12767096"/>
                </a:lnTo>
                <a:lnTo>
                  <a:pt x="0" y="12767096"/>
                </a:lnTo>
                <a:lnTo>
                  <a:pt x="0" y="0"/>
                </a:lnTo>
                <a:close/>
              </a:path>
            </a:pathLst>
          </a:custGeom>
          <a:blipFill>
            <a:blip>
              <a:alphaModFix amt="12000"/>
              <a:extLst>
                <a:ext uri="{96DAC541-7B7A-43D3-8B79-37D633B846F1}">
                  <asvg:svgBlip xmlns:asvg="http://schemas.microsoft.com/office/drawing/2016/SVG/main" r:embed="rId2"/>
                </a:ext>
              </a:extLst>
            </a:blip>
            <a:stretch>
              <a:fillRect/>
            </a:stretch>
          </a:blipFill>
        </p:spPr>
        <p:txBody>
          <a:bodyPr/>
          <a:lstStyle/>
          <a:p>
            <a:endParaRPr lang="zh-TW" altLang="en-US"/>
          </a:p>
        </p:txBody>
      </p:sp>
      <p:sp>
        <p:nvSpPr>
          <p:cNvPr id="4" name="AutoShape 4"/>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7" name="TextBox 7"/>
          <p:cNvSpPr txBox="1"/>
          <p:nvPr/>
        </p:nvSpPr>
        <p:spPr>
          <a:xfrm>
            <a:off x="986877" y="104761"/>
            <a:ext cx="4905015" cy="1184940"/>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Grading policy</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11" name="AutoShape 11"/>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Freeform 12"/>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9" name="TextBox 8">
            <a:extLst>
              <a:ext uri="{FF2B5EF4-FFF2-40B4-BE49-F238E27FC236}">
                <a16:creationId xmlns:a16="http://schemas.microsoft.com/office/drawing/2014/main" id="{DD457895-F3F2-45EF-91B9-68F886B92201}"/>
              </a:ext>
            </a:extLst>
          </p:cNvPr>
          <p:cNvSpPr txBox="1"/>
          <p:nvPr/>
        </p:nvSpPr>
        <p:spPr>
          <a:xfrm>
            <a:off x="2133600" y="1758751"/>
            <a:ext cx="13276943" cy="7790594"/>
          </a:xfrm>
          <a:prstGeom prst="rect">
            <a:avLst/>
          </a:prstGeom>
        </p:spPr>
        <p:txBody>
          <a:bodyPr wrap="square" lIns="0" tIns="0" rIns="0" bIns="0" rtlCol="0" anchor="t">
            <a:spAutoFit/>
          </a:bodyPr>
          <a:lstStyle/>
          <a:p>
            <a:pPr marL="457200" lvl="0" indent="-457200">
              <a:lnSpc>
                <a:spcPct val="200000"/>
              </a:lnSpc>
              <a:buFont typeface="Arial" panose="020B0604020202020204" pitchFamily="34" charset="0"/>
              <a:buChar char="•"/>
            </a:pPr>
            <a:r>
              <a:rPr lang="en-US" sz="3200" dirty="0">
                <a:solidFill>
                  <a:srgbClr val="695C4A"/>
                </a:solidFill>
                <a:latin typeface="Times New Roman" panose="02020603050405020304" pitchFamily="18" charset="0"/>
                <a:ea typeface="Livvic"/>
                <a:cs typeface="Times New Roman" panose="02020603050405020304" pitchFamily="18" charset="0"/>
                <a:sym typeface="Livvic"/>
              </a:rPr>
              <a:t>Presentation (30%):</a:t>
            </a:r>
          </a:p>
          <a:p>
            <a:pPr marL="914400" lvl="1" indent="-457200">
              <a:lnSpc>
                <a:spcPct val="150000"/>
              </a:lnSpc>
              <a:buFont typeface="Wingdings" panose="05000000000000000000" pitchFamily="2" charset="2"/>
              <a:buChar char="ü"/>
            </a:pPr>
            <a:r>
              <a:rPr lang="en-US" sz="3200" dirty="0">
                <a:solidFill>
                  <a:srgbClr val="695C4A"/>
                </a:solidFill>
                <a:latin typeface="Times New Roman" panose="02020603050405020304" pitchFamily="18" charset="0"/>
                <a:ea typeface="Livvic"/>
                <a:cs typeface="Times New Roman" panose="02020603050405020304" pitchFamily="18" charset="0"/>
                <a:sym typeface="Livvic"/>
              </a:rPr>
              <a:t>Content (model design, result analysis, PPT layout): 18%</a:t>
            </a:r>
          </a:p>
          <a:p>
            <a:pPr marL="914400" lvl="1" indent="-457200">
              <a:lnSpc>
                <a:spcPct val="150000"/>
              </a:lnSpc>
              <a:buFont typeface="Wingdings" panose="05000000000000000000" pitchFamily="2" charset="2"/>
              <a:buChar char="ü"/>
            </a:pPr>
            <a:r>
              <a:rPr lang="en-US" sz="3200" dirty="0">
                <a:solidFill>
                  <a:srgbClr val="695C4A"/>
                </a:solidFill>
                <a:latin typeface="Times New Roman" panose="02020603050405020304" pitchFamily="18" charset="0"/>
                <a:ea typeface="Livvic"/>
                <a:cs typeface="Times New Roman" panose="02020603050405020304" pitchFamily="18" charset="0"/>
                <a:sym typeface="Livvic"/>
              </a:rPr>
              <a:t>Oral presentation: 9%</a:t>
            </a:r>
          </a:p>
          <a:p>
            <a:pPr marL="914400" lvl="1" indent="-457200">
              <a:lnSpc>
                <a:spcPct val="150000"/>
              </a:lnSpc>
              <a:buFont typeface="Wingdings" panose="05000000000000000000" pitchFamily="2" charset="2"/>
              <a:buChar char="ü"/>
            </a:pPr>
            <a:r>
              <a:rPr lang="en-US" sz="3200" dirty="0">
                <a:solidFill>
                  <a:srgbClr val="695C4A"/>
                </a:solidFill>
                <a:latin typeface="Times New Roman" panose="02020603050405020304" pitchFamily="18" charset="0"/>
                <a:ea typeface="Livvic"/>
                <a:cs typeface="Times New Roman" panose="02020603050405020304" pitchFamily="18" charset="0"/>
                <a:sym typeface="Livvic"/>
              </a:rPr>
              <a:t>Time control (10 min presentation + 3 min QA): 3%</a:t>
            </a:r>
          </a:p>
          <a:p>
            <a:pPr marL="457200" lvl="0" indent="-457200">
              <a:lnSpc>
                <a:spcPct val="200000"/>
              </a:lnSpc>
              <a:buFont typeface="Arial" panose="020B0604020202020204" pitchFamily="34" charset="0"/>
              <a:buChar char="•"/>
            </a:pPr>
            <a:r>
              <a:rPr lang="en-US" sz="3200" dirty="0">
                <a:solidFill>
                  <a:srgbClr val="695C4A"/>
                </a:solidFill>
                <a:latin typeface="Times New Roman" panose="02020603050405020304" pitchFamily="18" charset="0"/>
                <a:ea typeface="Livvic"/>
                <a:cs typeface="Times New Roman" panose="02020603050405020304" pitchFamily="18" charset="0"/>
                <a:sym typeface="Livvic"/>
              </a:rPr>
              <a:t>Solution quality (70%):</a:t>
            </a:r>
          </a:p>
          <a:p>
            <a:pPr marL="914400" lvl="1" indent="-457200">
              <a:lnSpc>
                <a:spcPct val="150000"/>
              </a:lnSpc>
              <a:buFont typeface="Wingdings" panose="05000000000000000000" pitchFamily="2" charset="2"/>
              <a:buChar char="ü"/>
            </a:pPr>
            <a:r>
              <a:rPr lang="en-US" sz="3200" dirty="0">
                <a:solidFill>
                  <a:srgbClr val="695C4A"/>
                </a:solidFill>
                <a:latin typeface="Times New Roman" panose="02020603050405020304" pitchFamily="18" charset="0"/>
                <a:ea typeface="Livvic"/>
                <a:cs typeface="Times New Roman" panose="02020603050405020304" pitchFamily="18" charset="0"/>
                <a:sym typeface="Livvic"/>
              </a:rPr>
              <a:t>We will test 3 instances for your computing times and objective values.</a:t>
            </a:r>
          </a:p>
          <a:p>
            <a:pPr marL="914400" lvl="1" indent="-457200">
              <a:lnSpc>
                <a:spcPct val="150000"/>
              </a:lnSpc>
              <a:buFont typeface="Wingdings" panose="05000000000000000000" pitchFamily="2" charset="2"/>
              <a:buChar char="ü"/>
            </a:pPr>
            <a:r>
              <a:rPr lang="en-US" sz="3200" dirty="0">
                <a:solidFill>
                  <a:srgbClr val="695C4A"/>
                </a:solidFill>
                <a:latin typeface="Times New Roman" panose="02020603050405020304" pitchFamily="18" charset="0"/>
                <a:ea typeface="Livvic"/>
                <a:cs typeface="Times New Roman" panose="02020603050405020304" pitchFamily="18" charset="0"/>
                <a:sym typeface="Livvic"/>
              </a:rPr>
              <a:t>Small data: 30%,  Medium data: 20%,  Big data:20%</a:t>
            </a:r>
          </a:p>
          <a:p>
            <a:pPr marL="457200" indent="-457200">
              <a:lnSpc>
                <a:spcPct val="150000"/>
              </a:lnSpc>
              <a:buFont typeface="Arial" panose="020B0604020202020204" pitchFamily="34" charset="0"/>
              <a:buChar char="•"/>
            </a:pPr>
            <a:r>
              <a:rPr lang="en-US" sz="3200" dirty="0">
                <a:solidFill>
                  <a:srgbClr val="695C4A"/>
                </a:solidFill>
                <a:latin typeface="Times New Roman" panose="02020603050405020304" pitchFamily="18" charset="0"/>
                <a:ea typeface="Livvic"/>
                <a:cs typeface="Times New Roman" panose="02020603050405020304" pitchFamily="18" charset="0"/>
                <a:sym typeface="Livvic"/>
              </a:rPr>
              <a:t>Bonus: efficient algorithm designed by your team (</a:t>
            </a:r>
            <a:r>
              <a:rPr lang="en-US" sz="3200" b="1" dirty="0">
                <a:solidFill>
                  <a:srgbClr val="695C4A"/>
                </a:solidFill>
                <a:latin typeface="Times New Roman" panose="02020603050405020304" pitchFamily="18" charset="0"/>
                <a:ea typeface="Livvic"/>
                <a:cs typeface="Times New Roman" panose="02020603050405020304" pitchFamily="18" charset="0"/>
                <a:sym typeface="Livvic"/>
              </a:rPr>
              <a:t>optional</a:t>
            </a:r>
            <a:r>
              <a:rPr lang="en-US" sz="3200" dirty="0">
                <a:solidFill>
                  <a:srgbClr val="695C4A"/>
                </a:solidFill>
                <a:latin typeface="Times New Roman" panose="02020603050405020304" pitchFamily="18" charset="0"/>
                <a:ea typeface="Livvic"/>
                <a:cs typeface="Times New Roman" panose="02020603050405020304" pitchFamily="18" charset="0"/>
                <a:sym typeface="Livvic"/>
              </a:rPr>
              <a:t>)</a:t>
            </a:r>
          </a:p>
          <a:p>
            <a:pPr marL="914400" lvl="1" indent="-457200">
              <a:lnSpc>
                <a:spcPct val="150000"/>
              </a:lnSpc>
              <a:buFont typeface="Wingdings" panose="05000000000000000000" pitchFamily="2" charset="2"/>
              <a:buChar char="ü"/>
            </a:pPr>
            <a:r>
              <a:rPr lang="en-US" sz="3200" dirty="0">
                <a:solidFill>
                  <a:srgbClr val="695C4A"/>
                </a:solidFill>
                <a:latin typeface="Times New Roman" panose="02020603050405020304" pitchFamily="18" charset="0"/>
                <a:ea typeface="Livvic"/>
                <a:cs typeface="Times New Roman" panose="02020603050405020304" pitchFamily="18" charset="0"/>
                <a:sym typeface="Livvic"/>
              </a:rPr>
              <a:t>The limit of computing time is 2 minutes.</a:t>
            </a:r>
          </a:p>
          <a:p>
            <a:pPr marL="914400" lvl="1" indent="-457200">
              <a:lnSpc>
                <a:spcPct val="150000"/>
              </a:lnSpc>
              <a:buFont typeface="Wingdings" panose="05000000000000000000" pitchFamily="2" charset="2"/>
              <a:buChar char="ü"/>
            </a:pPr>
            <a:r>
              <a:rPr lang="en-US" sz="3200" dirty="0">
                <a:solidFill>
                  <a:srgbClr val="695C4A"/>
                </a:solidFill>
                <a:latin typeface="Times New Roman" panose="02020603050405020304" pitchFamily="18" charset="0"/>
                <a:ea typeface="Livvic"/>
                <a:cs typeface="Times New Roman" panose="02020603050405020304" pitchFamily="18" charset="0"/>
                <a:sym typeface="Livvic"/>
              </a:rPr>
              <a:t>Your results will be ranked for grading.</a:t>
            </a:r>
          </a:p>
        </p:txBody>
      </p:sp>
    </p:spTree>
    <p:extLst>
      <p:ext uri="{BB962C8B-B14F-4D97-AF65-F5344CB8AC3E}">
        <p14:creationId xmlns:p14="http://schemas.microsoft.com/office/powerpoint/2010/main" val="2384168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100000">
            <a:off x="10079440" y="3207230"/>
            <a:ext cx="14359719" cy="12767096"/>
          </a:xfrm>
          <a:custGeom>
            <a:avLst/>
            <a:gdLst/>
            <a:ahLst/>
            <a:cxnLst/>
            <a:rect l="l" t="t" r="r" b="b"/>
            <a:pathLst>
              <a:path w="14359719" h="12767096">
                <a:moveTo>
                  <a:pt x="0" y="0"/>
                </a:moveTo>
                <a:lnTo>
                  <a:pt x="14359720" y="0"/>
                </a:lnTo>
                <a:lnTo>
                  <a:pt x="14359720" y="12767096"/>
                </a:lnTo>
                <a:lnTo>
                  <a:pt x="0" y="12767096"/>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4" name="AutoShape 4"/>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7" name="TextBox 7"/>
          <p:cNvSpPr txBox="1"/>
          <p:nvPr/>
        </p:nvSpPr>
        <p:spPr>
          <a:xfrm>
            <a:off x="986877" y="104761"/>
            <a:ext cx="4905015" cy="1184940"/>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Grading (Input 1)</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11" name="AutoShape 11"/>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Freeform 12"/>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aphicFrame>
        <p:nvGraphicFramePr>
          <p:cNvPr id="5" name="表格 4">
            <a:extLst>
              <a:ext uri="{FF2B5EF4-FFF2-40B4-BE49-F238E27FC236}">
                <a16:creationId xmlns:a16="http://schemas.microsoft.com/office/drawing/2014/main" id="{38B68692-7846-F151-FE1A-3E181659C9DB}"/>
              </a:ext>
            </a:extLst>
          </p:cNvPr>
          <p:cNvGraphicFramePr>
            <a:graphicFrameLocks noGrp="1"/>
          </p:cNvGraphicFramePr>
          <p:nvPr>
            <p:extLst>
              <p:ext uri="{D42A27DB-BD31-4B8C-83A1-F6EECF244321}">
                <p14:modId xmlns:p14="http://schemas.microsoft.com/office/powerpoint/2010/main" val="3104399233"/>
              </p:ext>
            </p:extLst>
          </p:nvPr>
        </p:nvGraphicFramePr>
        <p:xfrm>
          <a:off x="1752600" y="2095500"/>
          <a:ext cx="7772400" cy="4036566"/>
        </p:xfrm>
        <a:graphic>
          <a:graphicData uri="http://schemas.openxmlformats.org/drawingml/2006/table">
            <a:tbl>
              <a:tblPr firstRow="1" bandRow="1">
                <a:tableStyleId>{2D5ABB26-0587-4C30-8999-92F81FD0307C}</a:tableStyleId>
              </a:tblPr>
              <a:tblGrid>
                <a:gridCol w="2514600">
                  <a:extLst>
                    <a:ext uri="{9D8B030D-6E8A-4147-A177-3AD203B41FA5}">
                      <a16:colId xmlns:a16="http://schemas.microsoft.com/office/drawing/2014/main" val="2474531545"/>
                    </a:ext>
                  </a:extLst>
                </a:gridCol>
                <a:gridCol w="2514600">
                  <a:extLst>
                    <a:ext uri="{9D8B030D-6E8A-4147-A177-3AD203B41FA5}">
                      <a16:colId xmlns:a16="http://schemas.microsoft.com/office/drawing/2014/main" val="3064054545"/>
                    </a:ext>
                  </a:extLst>
                </a:gridCol>
                <a:gridCol w="2743200">
                  <a:extLst>
                    <a:ext uri="{9D8B030D-6E8A-4147-A177-3AD203B41FA5}">
                      <a16:colId xmlns:a16="http://schemas.microsoft.com/office/drawing/2014/main" val="2164255191"/>
                    </a:ext>
                  </a:extLst>
                </a:gridCol>
              </a:tblGrid>
              <a:tr h="572165">
                <a:tc gridSpan="2">
                  <a:txBody>
                    <a:bodyPr/>
                    <a:lstStyle/>
                    <a:p>
                      <a:pPr algn="ctr"/>
                      <a:r>
                        <a:rPr lang="it-IT" altLang="zh-TW" sz="2800" b="1" dirty="0">
                          <a:latin typeface="Times New Roman" panose="02020603050405020304" pitchFamily="18" charset="0"/>
                          <a:cs typeface="Times New Roman" panose="02020603050405020304" pitchFamily="18" charset="0"/>
                        </a:rPr>
                        <a:t>Computing time</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hMerge="1">
                  <a:txBody>
                    <a:bodyPr/>
                    <a:lstStyle/>
                    <a:p>
                      <a:endParaRPr lang="zh-TW" altLang="en-US"/>
                    </a:p>
                  </a:txBody>
                  <a:tcPr/>
                </a:tc>
                <a:tc rowSpan="2">
                  <a:txBody>
                    <a:bodyPr/>
                    <a:lstStyle/>
                    <a:p>
                      <a:pPr algn="ctr"/>
                      <a:r>
                        <a:rPr lang="it-IT" altLang="zh-TW" sz="2800" b="1" dirty="0">
                          <a:latin typeface="Times New Roman" panose="02020603050405020304" pitchFamily="18" charset="0"/>
                          <a:cs typeface="Times New Roman" panose="02020603050405020304" pitchFamily="18" charset="0"/>
                        </a:rPr>
                        <a:t>Grade (10%)</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extLst>
                  <a:ext uri="{0D108BD9-81ED-4DB2-BD59-A6C34878D82A}">
                    <a16:rowId xmlns:a16="http://schemas.microsoft.com/office/drawing/2014/main" val="2957526936"/>
                  </a:ext>
                </a:extLst>
              </a:tr>
              <a:tr h="572165">
                <a:tc>
                  <a:txBody>
                    <a:bodyPr/>
                    <a:lstStyle/>
                    <a:p>
                      <a:pPr algn="ctr"/>
                      <a:r>
                        <a:rPr lang="en-US" altLang="zh-TW" sz="2800" b="1" dirty="0">
                          <a:latin typeface="Times New Roman" panose="02020603050405020304" pitchFamily="18" charset="0"/>
                          <a:cs typeface="Times New Roman" panose="02020603050405020304" pitchFamily="18" charset="0"/>
                        </a:rPr>
                        <a:t>CPLEX</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a:txBody>
                    <a:bodyPr/>
                    <a:lstStyle/>
                    <a:p>
                      <a:pPr algn="ctr"/>
                      <a:r>
                        <a:rPr lang="en-US" altLang="zh-TW" sz="2800" b="1" dirty="0" err="1">
                          <a:latin typeface="Times New Roman" panose="02020603050405020304" pitchFamily="18" charset="0"/>
                          <a:cs typeface="Times New Roman" panose="02020603050405020304" pitchFamily="18" charset="0"/>
                        </a:rPr>
                        <a:t>Gurobi</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vMerge="1">
                  <a:txBody>
                    <a:bodyPr/>
                    <a:lstStyle/>
                    <a:p>
                      <a:endParaRPr lang="zh-TW" altLang="en-US"/>
                    </a:p>
                  </a:txBody>
                  <a:tcPr/>
                </a:tc>
                <a:extLst>
                  <a:ext uri="{0D108BD9-81ED-4DB2-BD59-A6C34878D82A}">
                    <a16:rowId xmlns:a16="http://schemas.microsoft.com/office/drawing/2014/main" val="1146584660"/>
                  </a:ext>
                </a:extLst>
              </a:tr>
              <a:tr h="723059">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&lt; 5s</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&lt; 5s</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10%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487628"/>
                  </a:ext>
                </a:extLst>
              </a:tr>
              <a:tr h="723059">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5 ~ 20s</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5 ~ 20s</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8%</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57458"/>
                  </a:ext>
                </a:extLst>
              </a:tr>
              <a:tr h="723059">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20 ~ 40s</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20 ~ 40s</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7%</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979340"/>
                  </a:ext>
                </a:extLst>
              </a:tr>
              <a:tr h="723059">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&gt; 40s</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&gt; 40s</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5%</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876416"/>
                  </a:ext>
                </a:extLst>
              </a:tr>
            </a:tbl>
          </a:graphicData>
        </a:graphic>
      </p:graphicFrame>
      <p:graphicFrame>
        <p:nvGraphicFramePr>
          <p:cNvPr id="6" name="表格 5">
            <a:extLst>
              <a:ext uri="{FF2B5EF4-FFF2-40B4-BE49-F238E27FC236}">
                <a16:creationId xmlns:a16="http://schemas.microsoft.com/office/drawing/2014/main" id="{A9C3EAD3-92C1-21F1-FC41-EAD38E6F1618}"/>
              </a:ext>
            </a:extLst>
          </p:cNvPr>
          <p:cNvGraphicFramePr>
            <a:graphicFrameLocks noGrp="1"/>
          </p:cNvGraphicFramePr>
          <p:nvPr/>
        </p:nvGraphicFramePr>
        <p:xfrm>
          <a:off x="1752600" y="6319012"/>
          <a:ext cx="7772400" cy="3167888"/>
        </p:xfrm>
        <a:graphic>
          <a:graphicData uri="http://schemas.openxmlformats.org/drawingml/2006/table">
            <a:tbl>
              <a:tblPr firstRow="1" bandRow="1">
                <a:tableStyleId>{2D5ABB26-0587-4C30-8999-92F81FD0307C}</a:tableStyleId>
              </a:tblPr>
              <a:tblGrid>
                <a:gridCol w="5029200">
                  <a:extLst>
                    <a:ext uri="{9D8B030D-6E8A-4147-A177-3AD203B41FA5}">
                      <a16:colId xmlns:a16="http://schemas.microsoft.com/office/drawing/2014/main" val="2474531545"/>
                    </a:ext>
                  </a:extLst>
                </a:gridCol>
                <a:gridCol w="2743200">
                  <a:extLst>
                    <a:ext uri="{9D8B030D-6E8A-4147-A177-3AD203B41FA5}">
                      <a16:colId xmlns:a16="http://schemas.microsoft.com/office/drawing/2014/main" val="2164255191"/>
                    </a:ext>
                  </a:extLst>
                </a:gridCol>
              </a:tblGrid>
              <a:tr h="548640">
                <a:tc>
                  <a:txBody>
                    <a:bodyPr/>
                    <a:lstStyle/>
                    <a:p>
                      <a:pPr algn="ctr"/>
                      <a:r>
                        <a:rPr lang="it-IT" altLang="zh-TW" sz="2800" b="1" dirty="0" err="1">
                          <a:latin typeface="Times New Roman" panose="02020603050405020304" pitchFamily="18" charset="0"/>
                          <a:cs typeface="Times New Roman" panose="02020603050405020304" pitchFamily="18" charset="0"/>
                        </a:rPr>
                        <a:t>Objective</a:t>
                      </a:r>
                      <a:r>
                        <a:rPr lang="it-IT" altLang="zh-TW" sz="2800" b="1" dirty="0">
                          <a:latin typeface="Times New Roman" panose="02020603050405020304" pitchFamily="18" charset="0"/>
                          <a:cs typeface="Times New Roman" panose="02020603050405020304" pitchFamily="18" charset="0"/>
                        </a:rPr>
                        <a:t> </a:t>
                      </a:r>
                      <a:r>
                        <a:rPr lang="it-IT" altLang="zh-TW" sz="2800" b="1" dirty="0" err="1">
                          <a:latin typeface="Times New Roman" panose="02020603050405020304" pitchFamily="18" charset="0"/>
                          <a:cs typeface="Times New Roman" panose="02020603050405020304" pitchFamily="18" charset="0"/>
                        </a:rPr>
                        <a:t>value</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a:txBody>
                    <a:bodyPr/>
                    <a:lstStyle/>
                    <a:p>
                      <a:pPr algn="ctr"/>
                      <a:r>
                        <a:rPr lang="it-IT" altLang="zh-TW" sz="2800" b="1" dirty="0">
                          <a:latin typeface="Times New Roman" panose="02020603050405020304" pitchFamily="18" charset="0"/>
                          <a:cs typeface="Times New Roman" panose="02020603050405020304" pitchFamily="18" charset="0"/>
                        </a:rPr>
                        <a:t>Grade (20%)</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extLst>
                  <a:ext uri="{0D108BD9-81ED-4DB2-BD59-A6C34878D82A}">
                    <a16:rowId xmlns:a16="http://schemas.microsoft.com/office/drawing/2014/main" val="2957526936"/>
                  </a:ext>
                </a:extLst>
              </a:tr>
              <a:tr h="548640">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Reach optimality</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20%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487628"/>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Top 25% if not optimality</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16%</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57458"/>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26% - 50% if not optimality</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13%</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979340"/>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51% - 100% if not optimality</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10%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876416"/>
                  </a:ext>
                </a:extLst>
              </a:tr>
            </a:tbl>
          </a:graphicData>
        </a:graphic>
      </p:graphicFrame>
      <p:pic>
        <p:nvPicPr>
          <p:cNvPr id="9" name="圖片 8" descr="一張含有 黑色, 黑暗 的圖片&#10;&#10;AI 產生的內容可能不正確。">
            <a:extLst>
              <a:ext uri="{FF2B5EF4-FFF2-40B4-BE49-F238E27FC236}">
                <a16:creationId xmlns:a16="http://schemas.microsoft.com/office/drawing/2014/main" id="{32C73FC1-F511-A16C-21D4-9F1B2C28A181}"/>
              </a:ext>
            </a:extLst>
          </p:cNvPr>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9906000" y="6915010"/>
            <a:ext cx="1975892" cy="1975892"/>
          </a:xfrm>
          <a:prstGeom prst="rect">
            <a:avLst/>
          </a:prstGeom>
        </p:spPr>
      </p:pic>
      <p:sp>
        <p:nvSpPr>
          <p:cNvPr id="16" name="TextBox 8">
            <a:extLst>
              <a:ext uri="{FF2B5EF4-FFF2-40B4-BE49-F238E27FC236}">
                <a16:creationId xmlns:a16="http://schemas.microsoft.com/office/drawing/2014/main" id="{D6B5C56C-212A-920A-B8BB-6E897F18A569}"/>
              </a:ext>
            </a:extLst>
          </p:cNvPr>
          <p:cNvSpPr txBox="1"/>
          <p:nvPr/>
        </p:nvSpPr>
        <p:spPr>
          <a:xfrm>
            <a:off x="12268200" y="6649023"/>
            <a:ext cx="5791200" cy="2507866"/>
          </a:xfrm>
          <a:prstGeom prst="rect">
            <a:avLst/>
          </a:prstGeom>
        </p:spPr>
        <p:txBody>
          <a:bodyPr wrap="square" lIns="0" tIns="0" rIns="0" bIns="0" rtlCol="0" anchor="t">
            <a:spAutoFit/>
          </a:bodyPr>
          <a:lstStyle/>
          <a:p>
            <a:pPr lvl="0">
              <a:lnSpc>
                <a:spcPct val="150000"/>
              </a:lnSpc>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Your source code will be run at the following environment: Windows, </a:t>
            </a:r>
            <a:r>
              <a:rPr lang="zh-TW" altLang="en-US" sz="2800" dirty="0">
                <a:solidFill>
                  <a:srgbClr val="695C4A"/>
                </a:solidFill>
                <a:latin typeface="Times New Roman" panose="02020603050405020304" pitchFamily="18" charset="0"/>
                <a:ea typeface="Livvic"/>
                <a:cs typeface="Times New Roman" panose="02020603050405020304" pitchFamily="18" charset="0"/>
                <a:sym typeface="Livvic"/>
              </a:rPr>
              <a:t> </a:t>
            </a:r>
            <a:r>
              <a:rPr lang="en-US" sz="2800" dirty="0">
                <a:solidFill>
                  <a:srgbClr val="695C4A"/>
                </a:solidFill>
                <a:latin typeface="Times New Roman" panose="02020603050405020304" pitchFamily="18" charset="0"/>
                <a:ea typeface="Livvic"/>
                <a:cs typeface="Times New Roman" panose="02020603050405020304" pitchFamily="18" charset="0"/>
                <a:sym typeface="Livvic"/>
              </a:rPr>
              <a:t>AMD Ryzen 9 5950X</a:t>
            </a:r>
            <a:r>
              <a:rPr lang="zh-TW" altLang="en-US" sz="2800" dirty="0">
                <a:solidFill>
                  <a:srgbClr val="695C4A"/>
                </a:solidFill>
                <a:latin typeface="Times New Roman" panose="02020603050405020304" pitchFamily="18" charset="0"/>
                <a:ea typeface="Livvic"/>
                <a:cs typeface="Times New Roman" panose="02020603050405020304" pitchFamily="18" charset="0"/>
                <a:sym typeface="Livvic"/>
              </a:rPr>
              <a:t> </a:t>
            </a:r>
            <a:r>
              <a:rPr lang="pt-BR" sz="2800" dirty="0">
                <a:solidFill>
                  <a:srgbClr val="695C4A"/>
                </a:solidFill>
                <a:latin typeface="Times New Roman" panose="02020603050405020304" pitchFamily="18" charset="0"/>
                <a:ea typeface="Livvic"/>
                <a:cs typeface="Times New Roman" panose="02020603050405020304" pitchFamily="18" charset="0"/>
                <a:sym typeface="Livvic"/>
              </a:rPr>
              <a:t>CPU @ </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4.0</a:t>
            </a:r>
            <a:r>
              <a:rPr lang="pt-BR" sz="2800" dirty="0">
                <a:solidFill>
                  <a:srgbClr val="695C4A"/>
                </a:solidFill>
                <a:latin typeface="Times New Roman" panose="02020603050405020304" pitchFamily="18" charset="0"/>
                <a:ea typeface="Livvic"/>
                <a:cs typeface="Times New Roman" panose="02020603050405020304" pitchFamily="18" charset="0"/>
                <a:sym typeface="Livvic"/>
              </a:rPr>
              <a:t>0GHz  and </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64</a:t>
            </a:r>
            <a:r>
              <a:rPr lang="pt-BR" sz="2800" dirty="0">
                <a:solidFill>
                  <a:srgbClr val="695C4A"/>
                </a:solidFill>
                <a:latin typeface="Times New Roman" panose="02020603050405020304" pitchFamily="18" charset="0"/>
                <a:ea typeface="Livvic"/>
                <a:cs typeface="Times New Roman" panose="02020603050405020304" pitchFamily="18" charset="0"/>
                <a:sym typeface="Livvic"/>
              </a:rPr>
              <a:t> GB of memory</a:t>
            </a:r>
          </a:p>
        </p:txBody>
      </p:sp>
      <p:sp>
        <p:nvSpPr>
          <p:cNvPr id="18" name="TextBox 8">
            <a:extLst>
              <a:ext uri="{FF2B5EF4-FFF2-40B4-BE49-F238E27FC236}">
                <a16:creationId xmlns:a16="http://schemas.microsoft.com/office/drawing/2014/main" id="{F18F95EA-2691-7261-961C-C1885D2EE407}"/>
              </a:ext>
            </a:extLst>
          </p:cNvPr>
          <p:cNvSpPr txBox="1"/>
          <p:nvPr/>
        </p:nvSpPr>
        <p:spPr>
          <a:xfrm>
            <a:off x="10599654" y="3030884"/>
            <a:ext cx="5935746" cy="1215204"/>
          </a:xfrm>
          <a:prstGeom prst="rect">
            <a:avLst/>
          </a:prstGeom>
        </p:spPr>
        <p:txBody>
          <a:bodyPr wrap="square" lIns="0" tIns="0" rIns="0" bIns="0" rtlCol="0" anchor="t">
            <a:spAutoFit/>
          </a:bodyPr>
          <a:lstStyle/>
          <a:p>
            <a:pPr lvl="0">
              <a:lnSpc>
                <a:spcPct val="150000"/>
              </a:lnSpc>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We achieved the above solution by C#</a:t>
            </a:r>
          </a:p>
          <a:p>
            <a:pPr lvl="0">
              <a:lnSpc>
                <a:spcPct val="150000"/>
              </a:lnSpc>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Objective value: </a:t>
            </a:r>
            <a:r>
              <a:rPr lang="zh-TW" altLang="en-US" sz="2800" dirty="0">
                <a:solidFill>
                  <a:srgbClr val="695C4A"/>
                </a:solidFill>
                <a:latin typeface="Times New Roman" panose="02020603050405020304" pitchFamily="18" charset="0"/>
                <a:ea typeface="Livvic"/>
                <a:cs typeface="Times New Roman" panose="02020603050405020304" pitchFamily="18" charset="0"/>
                <a:sym typeface="Livvic"/>
              </a:rPr>
              <a:t> </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12</a:t>
            </a:r>
            <a:r>
              <a:rPr lang="zh-TW" altLang="en-US" sz="2800" dirty="0">
                <a:solidFill>
                  <a:srgbClr val="695C4A"/>
                </a:solidFill>
                <a:latin typeface="Times New Roman" panose="02020603050405020304" pitchFamily="18" charset="0"/>
                <a:ea typeface="Livvic"/>
                <a:cs typeface="Times New Roman" panose="02020603050405020304" pitchFamily="18" charset="0"/>
                <a:sym typeface="Livvic"/>
              </a:rPr>
              <a:t> </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 12</a:t>
            </a:r>
            <a:endParaRPr lang="en-US" sz="2800" dirty="0">
              <a:solidFill>
                <a:srgbClr val="695C4A"/>
              </a:solidFill>
              <a:latin typeface="Times New Roman" panose="02020603050405020304" pitchFamily="18" charset="0"/>
              <a:ea typeface="Livvic"/>
              <a:cs typeface="Times New Roman" panose="02020603050405020304" pitchFamily="18" charset="0"/>
              <a:sym typeface="Livvic"/>
            </a:endParaRPr>
          </a:p>
        </p:txBody>
      </p:sp>
    </p:spTree>
    <p:extLst>
      <p:ext uri="{BB962C8B-B14F-4D97-AF65-F5344CB8AC3E}">
        <p14:creationId xmlns:p14="http://schemas.microsoft.com/office/powerpoint/2010/main" val="4094401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100000">
            <a:off x="10079440" y="3169130"/>
            <a:ext cx="14359719" cy="12767096"/>
          </a:xfrm>
          <a:custGeom>
            <a:avLst/>
            <a:gdLst/>
            <a:ahLst/>
            <a:cxnLst/>
            <a:rect l="l" t="t" r="r" b="b"/>
            <a:pathLst>
              <a:path w="14359719" h="12767096">
                <a:moveTo>
                  <a:pt x="0" y="0"/>
                </a:moveTo>
                <a:lnTo>
                  <a:pt x="14359720" y="0"/>
                </a:lnTo>
                <a:lnTo>
                  <a:pt x="14359720" y="12767096"/>
                </a:lnTo>
                <a:lnTo>
                  <a:pt x="0" y="12767096"/>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4" name="AutoShape 4"/>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7" name="TextBox 7"/>
          <p:cNvSpPr txBox="1"/>
          <p:nvPr/>
        </p:nvSpPr>
        <p:spPr>
          <a:xfrm>
            <a:off x="986877" y="104761"/>
            <a:ext cx="4905015" cy="1184940"/>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Grading (Input 2)</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11" name="AutoShape 11"/>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Freeform 12"/>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aphicFrame>
        <p:nvGraphicFramePr>
          <p:cNvPr id="6" name="表格 5">
            <a:extLst>
              <a:ext uri="{FF2B5EF4-FFF2-40B4-BE49-F238E27FC236}">
                <a16:creationId xmlns:a16="http://schemas.microsoft.com/office/drawing/2014/main" id="{A9C3EAD3-92C1-21F1-FC41-EAD38E6F1618}"/>
              </a:ext>
            </a:extLst>
          </p:cNvPr>
          <p:cNvGraphicFramePr>
            <a:graphicFrameLocks noGrp="1"/>
          </p:cNvGraphicFramePr>
          <p:nvPr/>
        </p:nvGraphicFramePr>
        <p:xfrm>
          <a:off x="1752600" y="6319012"/>
          <a:ext cx="7772400" cy="3167888"/>
        </p:xfrm>
        <a:graphic>
          <a:graphicData uri="http://schemas.openxmlformats.org/drawingml/2006/table">
            <a:tbl>
              <a:tblPr firstRow="1" bandRow="1">
                <a:tableStyleId>{2D5ABB26-0587-4C30-8999-92F81FD0307C}</a:tableStyleId>
              </a:tblPr>
              <a:tblGrid>
                <a:gridCol w="5029200">
                  <a:extLst>
                    <a:ext uri="{9D8B030D-6E8A-4147-A177-3AD203B41FA5}">
                      <a16:colId xmlns:a16="http://schemas.microsoft.com/office/drawing/2014/main" val="2474531545"/>
                    </a:ext>
                  </a:extLst>
                </a:gridCol>
                <a:gridCol w="2743200">
                  <a:extLst>
                    <a:ext uri="{9D8B030D-6E8A-4147-A177-3AD203B41FA5}">
                      <a16:colId xmlns:a16="http://schemas.microsoft.com/office/drawing/2014/main" val="2164255191"/>
                    </a:ext>
                  </a:extLst>
                </a:gridCol>
              </a:tblGrid>
              <a:tr h="548640">
                <a:tc>
                  <a:txBody>
                    <a:bodyPr/>
                    <a:lstStyle/>
                    <a:p>
                      <a:pPr algn="ctr"/>
                      <a:r>
                        <a:rPr lang="it-IT" altLang="zh-TW" sz="2800" b="1" dirty="0" err="1">
                          <a:latin typeface="Times New Roman" panose="02020603050405020304" pitchFamily="18" charset="0"/>
                          <a:cs typeface="Times New Roman" panose="02020603050405020304" pitchFamily="18" charset="0"/>
                        </a:rPr>
                        <a:t>Objective</a:t>
                      </a:r>
                      <a:r>
                        <a:rPr lang="it-IT" altLang="zh-TW" sz="2800" b="1" dirty="0">
                          <a:latin typeface="Times New Roman" panose="02020603050405020304" pitchFamily="18" charset="0"/>
                          <a:cs typeface="Times New Roman" panose="02020603050405020304" pitchFamily="18" charset="0"/>
                        </a:rPr>
                        <a:t> </a:t>
                      </a:r>
                      <a:r>
                        <a:rPr lang="it-IT" altLang="zh-TW" sz="2800" b="1" dirty="0" err="1">
                          <a:latin typeface="Times New Roman" panose="02020603050405020304" pitchFamily="18" charset="0"/>
                          <a:cs typeface="Times New Roman" panose="02020603050405020304" pitchFamily="18" charset="0"/>
                        </a:rPr>
                        <a:t>value</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a:txBody>
                    <a:bodyPr/>
                    <a:lstStyle/>
                    <a:p>
                      <a:pPr algn="ctr"/>
                      <a:r>
                        <a:rPr lang="it-IT" altLang="zh-TW" sz="2800" b="1" dirty="0">
                          <a:latin typeface="Times New Roman" panose="02020603050405020304" pitchFamily="18" charset="0"/>
                          <a:cs typeface="Times New Roman" panose="02020603050405020304" pitchFamily="18" charset="0"/>
                        </a:rPr>
                        <a:t>Grade (</a:t>
                      </a:r>
                      <a:r>
                        <a:rPr lang="en-US" altLang="zh-TW" sz="2800" b="1" dirty="0">
                          <a:latin typeface="Times New Roman" panose="02020603050405020304" pitchFamily="18" charset="0"/>
                          <a:cs typeface="Times New Roman" panose="02020603050405020304" pitchFamily="18" charset="0"/>
                        </a:rPr>
                        <a:t>1</a:t>
                      </a:r>
                      <a:r>
                        <a:rPr lang="it-IT" altLang="zh-TW" sz="2800" b="1" dirty="0">
                          <a:latin typeface="Times New Roman" panose="02020603050405020304" pitchFamily="18" charset="0"/>
                          <a:cs typeface="Times New Roman" panose="02020603050405020304" pitchFamily="18" charset="0"/>
                        </a:rPr>
                        <a:t>0%)</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extLst>
                  <a:ext uri="{0D108BD9-81ED-4DB2-BD59-A6C34878D82A}">
                    <a16:rowId xmlns:a16="http://schemas.microsoft.com/office/drawing/2014/main" val="2957526936"/>
                  </a:ext>
                </a:extLst>
              </a:tr>
              <a:tr h="548640">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Reach optimality</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10%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487628"/>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Top 25% if not optimality</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7%</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57458"/>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26% - 50% if not optimality</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6%</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979340"/>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51% - 100% if not optimality</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5%</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876416"/>
                  </a:ext>
                </a:extLst>
              </a:tr>
            </a:tbl>
          </a:graphicData>
        </a:graphic>
      </p:graphicFrame>
      <p:sp>
        <p:nvSpPr>
          <p:cNvPr id="18" name="TextBox 8">
            <a:extLst>
              <a:ext uri="{FF2B5EF4-FFF2-40B4-BE49-F238E27FC236}">
                <a16:creationId xmlns:a16="http://schemas.microsoft.com/office/drawing/2014/main" id="{F18F95EA-2691-7261-961C-C1885D2EE407}"/>
              </a:ext>
            </a:extLst>
          </p:cNvPr>
          <p:cNvSpPr txBox="1"/>
          <p:nvPr/>
        </p:nvSpPr>
        <p:spPr>
          <a:xfrm>
            <a:off x="10599654" y="3030884"/>
            <a:ext cx="5935746" cy="1215204"/>
          </a:xfrm>
          <a:prstGeom prst="rect">
            <a:avLst/>
          </a:prstGeom>
        </p:spPr>
        <p:txBody>
          <a:bodyPr wrap="square" lIns="0" tIns="0" rIns="0" bIns="0" rtlCol="0" anchor="t">
            <a:spAutoFit/>
          </a:bodyPr>
          <a:lstStyle/>
          <a:p>
            <a:pPr lvl="0">
              <a:lnSpc>
                <a:spcPct val="150000"/>
              </a:lnSpc>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We achieved the above solution by C#</a:t>
            </a:r>
          </a:p>
          <a:p>
            <a:pPr lvl="0">
              <a:lnSpc>
                <a:spcPct val="150000"/>
              </a:lnSpc>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Objective value:</a:t>
            </a:r>
            <a:r>
              <a:rPr lang="zh-TW" altLang="en-US" sz="2800" dirty="0">
                <a:solidFill>
                  <a:srgbClr val="695C4A"/>
                </a:solidFill>
                <a:latin typeface="Times New Roman" panose="02020603050405020304" pitchFamily="18" charset="0"/>
                <a:ea typeface="Livvic"/>
                <a:cs typeface="Times New Roman" panose="02020603050405020304" pitchFamily="18" charset="0"/>
                <a:sym typeface="Livvic"/>
              </a:rPr>
              <a:t> </a:t>
            </a:r>
            <a:r>
              <a:rPr lang="en-US" sz="2800" dirty="0">
                <a:solidFill>
                  <a:srgbClr val="695C4A"/>
                </a:solidFill>
                <a:latin typeface="Times New Roman" panose="02020603050405020304" pitchFamily="18" charset="0"/>
                <a:ea typeface="Livvic"/>
                <a:cs typeface="Times New Roman" panose="02020603050405020304" pitchFamily="18" charset="0"/>
                <a:sym typeface="Livvic"/>
              </a:rPr>
              <a:t> 21 / 21</a:t>
            </a:r>
          </a:p>
        </p:txBody>
      </p:sp>
      <p:pic>
        <p:nvPicPr>
          <p:cNvPr id="3" name="圖片 2" descr="一張含有 黑色, 黑暗 的圖片&#10;&#10;AI 產生的內容可能不正確。">
            <a:extLst>
              <a:ext uri="{FF2B5EF4-FFF2-40B4-BE49-F238E27FC236}">
                <a16:creationId xmlns:a16="http://schemas.microsoft.com/office/drawing/2014/main" id="{D64B8069-2B49-C5B6-2409-19481AD6A993}"/>
              </a:ext>
            </a:extLst>
          </p:cNvPr>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9906000" y="6915010"/>
            <a:ext cx="1975892" cy="1975892"/>
          </a:xfrm>
          <a:prstGeom prst="rect">
            <a:avLst/>
          </a:prstGeom>
        </p:spPr>
      </p:pic>
      <p:graphicFrame>
        <p:nvGraphicFramePr>
          <p:cNvPr id="8" name="表格 7">
            <a:extLst>
              <a:ext uri="{FF2B5EF4-FFF2-40B4-BE49-F238E27FC236}">
                <a16:creationId xmlns:a16="http://schemas.microsoft.com/office/drawing/2014/main" id="{A99BEF02-0F9C-012B-64A3-80CDAC9CC2C4}"/>
              </a:ext>
            </a:extLst>
          </p:cNvPr>
          <p:cNvGraphicFramePr>
            <a:graphicFrameLocks noGrp="1"/>
          </p:cNvGraphicFramePr>
          <p:nvPr>
            <p:extLst>
              <p:ext uri="{D42A27DB-BD31-4B8C-83A1-F6EECF244321}">
                <p14:modId xmlns:p14="http://schemas.microsoft.com/office/powerpoint/2010/main" val="3696311101"/>
              </p:ext>
            </p:extLst>
          </p:nvPr>
        </p:nvGraphicFramePr>
        <p:xfrm>
          <a:off x="1752600" y="2095500"/>
          <a:ext cx="7772400" cy="4036566"/>
        </p:xfrm>
        <a:graphic>
          <a:graphicData uri="http://schemas.openxmlformats.org/drawingml/2006/table">
            <a:tbl>
              <a:tblPr firstRow="1" bandRow="1">
                <a:tableStyleId>{2D5ABB26-0587-4C30-8999-92F81FD0307C}</a:tableStyleId>
              </a:tblPr>
              <a:tblGrid>
                <a:gridCol w="2514600">
                  <a:extLst>
                    <a:ext uri="{9D8B030D-6E8A-4147-A177-3AD203B41FA5}">
                      <a16:colId xmlns:a16="http://schemas.microsoft.com/office/drawing/2014/main" val="2474531545"/>
                    </a:ext>
                  </a:extLst>
                </a:gridCol>
                <a:gridCol w="2514600">
                  <a:extLst>
                    <a:ext uri="{9D8B030D-6E8A-4147-A177-3AD203B41FA5}">
                      <a16:colId xmlns:a16="http://schemas.microsoft.com/office/drawing/2014/main" val="3064054545"/>
                    </a:ext>
                  </a:extLst>
                </a:gridCol>
                <a:gridCol w="2743200">
                  <a:extLst>
                    <a:ext uri="{9D8B030D-6E8A-4147-A177-3AD203B41FA5}">
                      <a16:colId xmlns:a16="http://schemas.microsoft.com/office/drawing/2014/main" val="2164255191"/>
                    </a:ext>
                  </a:extLst>
                </a:gridCol>
              </a:tblGrid>
              <a:tr h="572165">
                <a:tc gridSpan="2">
                  <a:txBody>
                    <a:bodyPr/>
                    <a:lstStyle/>
                    <a:p>
                      <a:pPr algn="ctr"/>
                      <a:r>
                        <a:rPr lang="it-IT" altLang="zh-TW" sz="2800" b="1" dirty="0">
                          <a:latin typeface="Times New Roman" panose="02020603050405020304" pitchFamily="18" charset="0"/>
                          <a:cs typeface="Times New Roman" panose="02020603050405020304" pitchFamily="18" charset="0"/>
                        </a:rPr>
                        <a:t>Computing time</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hMerge="1">
                  <a:txBody>
                    <a:bodyPr/>
                    <a:lstStyle/>
                    <a:p>
                      <a:endParaRPr lang="zh-TW" altLang="en-US"/>
                    </a:p>
                  </a:txBody>
                  <a:tcPr/>
                </a:tc>
                <a:tc rowSpan="2">
                  <a:txBody>
                    <a:bodyPr/>
                    <a:lstStyle/>
                    <a:p>
                      <a:pPr algn="ctr"/>
                      <a:r>
                        <a:rPr lang="it-IT" altLang="zh-TW" sz="2800" b="1" dirty="0">
                          <a:latin typeface="Times New Roman" panose="02020603050405020304" pitchFamily="18" charset="0"/>
                          <a:cs typeface="Times New Roman" panose="02020603050405020304" pitchFamily="18" charset="0"/>
                        </a:rPr>
                        <a:t>Grade (10%)</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extLst>
                  <a:ext uri="{0D108BD9-81ED-4DB2-BD59-A6C34878D82A}">
                    <a16:rowId xmlns:a16="http://schemas.microsoft.com/office/drawing/2014/main" val="2957526936"/>
                  </a:ext>
                </a:extLst>
              </a:tr>
              <a:tr h="572165">
                <a:tc>
                  <a:txBody>
                    <a:bodyPr/>
                    <a:lstStyle/>
                    <a:p>
                      <a:pPr algn="ctr"/>
                      <a:r>
                        <a:rPr lang="en-US" altLang="zh-TW" sz="2800" b="1" dirty="0">
                          <a:latin typeface="Times New Roman" panose="02020603050405020304" pitchFamily="18" charset="0"/>
                          <a:cs typeface="Times New Roman" panose="02020603050405020304" pitchFamily="18" charset="0"/>
                        </a:rPr>
                        <a:t>CPLEX</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a:txBody>
                    <a:bodyPr/>
                    <a:lstStyle/>
                    <a:p>
                      <a:pPr algn="ctr"/>
                      <a:r>
                        <a:rPr lang="en-US" altLang="zh-TW" sz="2800" b="1" dirty="0" err="1">
                          <a:latin typeface="Times New Roman" panose="02020603050405020304" pitchFamily="18" charset="0"/>
                          <a:cs typeface="Times New Roman" panose="02020603050405020304" pitchFamily="18" charset="0"/>
                        </a:rPr>
                        <a:t>Gurobi</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vMerge="1">
                  <a:txBody>
                    <a:bodyPr/>
                    <a:lstStyle/>
                    <a:p>
                      <a:endParaRPr lang="zh-TW" altLang="en-US"/>
                    </a:p>
                  </a:txBody>
                  <a:tcPr/>
                </a:tc>
                <a:extLst>
                  <a:ext uri="{0D108BD9-81ED-4DB2-BD59-A6C34878D82A}">
                    <a16:rowId xmlns:a16="http://schemas.microsoft.com/office/drawing/2014/main" val="1146584660"/>
                  </a:ext>
                </a:extLst>
              </a:tr>
              <a:tr h="723059">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&lt; 12 min</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&lt; 2 min</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10%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487628"/>
                  </a:ext>
                </a:extLst>
              </a:tr>
              <a:tr h="723059">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12 ~ 18 min </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2 ~ 5 min</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8%</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57458"/>
                  </a:ext>
                </a:extLst>
              </a:tr>
              <a:tr h="723059">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18 ~ 25 min</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5 ~ 10 min</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7%</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979340"/>
                  </a:ext>
                </a:extLst>
              </a:tr>
              <a:tr h="723059">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&gt; 25 min</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&gt; 10 min</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5%</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876416"/>
                  </a:ext>
                </a:extLst>
              </a:tr>
            </a:tbl>
          </a:graphicData>
        </a:graphic>
      </p:graphicFrame>
      <p:sp>
        <p:nvSpPr>
          <p:cNvPr id="10" name="TextBox 8">
            <a:extLst>
              <a:ext uri="{FF2B5EF4-FFF2-40B4-BE49-F238E27FC236}">
                <a16:creationId xmlns:a16="http://schemas.microsoft.com/office/drawing/2014/main" id="{9C5F341E-FAE3-EB63-61E5-016F6C5808C4}"/>
              </a:ext>
            </a:extLst>
          </p:cNvPr>
          <p:cNvSpPr txBox="1"/>
          <p:nvPr/>
        </p:nvSpPr>
        <p:spPr>
          <a:xfrm>
            <a:off x="12268200" y="6649023"/>
            <a:ext cx="5791200" cy="2507866"/>
          </a:xfrm>
          <a:prstGeom prst="rect">
            <a:avLst/>
          </a:prstGeom>
        </p:spPr>
        <p:txBody>
          <a:bodyPr wrap="square" lIns="0" tIns="0" rIns="0" bIns="0" rtlCol="0" anchor="t">
            <a:spAutoFit/>
          </a:bodyPr>
          <a:lstStyle/>
          <a:p>
            <a:pPr lvl="0">
              <a:lnSpc>
                <a:spcPct val="150000"/>
              </a:lnSpc>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Your source code will be run at the following environment: Windows, </a:t>
            </a:r>
            <a:r>
              <a:rPr lang="zh-TW" altLang="en-US" sz="2800" dirty="0">
                <a:solidFill>
                  <a:srgbClr val="695C4A"/>
                </a:solidFill>
                <a:latin typeface="Times New Roman" panose="02020603050405020304" pitchFamily="18" charset="0"/>
                <a:ea typeface="Livvic"/>
                <a:cs typeface="Times New Roman" panose="02020603050405020304" pitchFamily="18" charset="0"/>
                <a:sym typeface="Livvic"/>
              </a:rPr>
              <a:t> </a:t>
            </a:r>
            <a:r>
              <a:rPr lang="en-US" sz="2800" dirty="0">
                <a:solidFill>
                  <a:srgbClr val="695C4A"/>
                </a:solidFill>
                <a:latin typeface="Times New Roman" panose="02020603050405020304" pitchFamily="18" charset="0"/>
                <a:ea typeface="Livvic"/>
                <a:cs typeface="Times New Roman" panose="02020603050405020304" pitchFamily="18" charset="0"/>
                <a:sym typeface="Livvic"/>
              </a:rPr>
              <a:t>AMD Ryzen 9 5950X</a:t>
            </a:r>
            <a:r>
              <a:rPr lang="zh-TW" altLang="en-US" sz="2800" dirty="0">
                <a:solidFill>
                  <a:srgbClr val="695C4A"/>
                </a:solidFill>
                <a:latin typeface="Times New Roman" panose="02020603050405020304" pitchFamily="18" charset="0"/>
                <a:ea typeface="Livvic"/>
                <a:cs typeface="Times New Roman" panose="02020603050405020304" pitchFamily="18" charset="0"/>
                <a:sym typeface="Livvic"/>
              </a:rPr>
              <a:t> </a:t>
            </a:r>
            <a:r>
              <a:rPr lang="pt-BR" sz="2800" dirty="0">
                <a:solidFill>
                  <a:srgbClr val="695C4A"/>
                </a:solidFill>
                <a:latin typeface="Times New Roman" panose="02020603050405020304" pitchFamily="18" charset="0"/>
                <a:ea typeface="Livvic"/>
                <a:cs typeface="Times New Roman" panose="02020603050405020304" pitchFamily="18" charset="0"/>
                <a:sym typeface="Livvic"/>
              </a:rPr>
              <a:t>CPU @ </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4.0</a:t>
            </a:r>
            <a:r>
              <a:rPr lang="pt-BR" sz="2800" dirty="0">
                <a:solidFill>
                  <a:srgbClr val="695C4A"/>
                </a:solidFill>
                <a:latin typeface="Times New Roman" panose="02020603050405020304" pitchFamily="18" charset="0"/>
                <a:ea typeface="Livvic"/>
                <a:cs typeface="Times New Roman" panose="02020603050405020304" pitchFamily="18" charset="0"/>
                <a:sym typeface="Livvic"/>
              </a:rPr>
              <a:t>0GHz  and </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64</a:t>
            </a:r>
            <a:r>
              <a:rPr lang="pt-BR" sz="2800" dirty="0">
                <a:solidFill>
                  <a:srgbClr val="695C4A"/>
                </a:solidFill>
                <a:latin typeface="Times New Roman" panose="02020603050405020304" pitchFamily="18" charset="0"/>
                <a:ea typeface="Livvic"/>
                <a:cs typeface="Times New Roman" panose="02020603050405020304" pitchFamily="18" charset="0"/>
                <a:sym typeface="Livvic"/>
              </a:rPr>
              <a:t> GB of memory</a:t>
            </a:r>
          </a:p>
        </p:txBody>
      </p:sp>
    </p:spTree>
    <p:extLst>
      <p:ext uri="{BB962C8B-B14F-4D97-AF65-F5344CB8AC3E}">
        <p14:creationId xmlns:p14="http://schemas.microsoft.com/office/powerpoint/2010/main" val="22364819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100000">
            <a:off x="10079440" y="3207230"/>
            <a:ext cx="14359719" cy="12767096"/>
          </a:xfrm>
          <a:custGeom>
            <a:avLst/>
            <a:gdLst/>
            <a:ahLst/>
            <a:cxnLst/>
            <a:rect l="l" t="t" r="r" b="b"/>
            <a:pathLst>
              <a:path w="14359719" h="12767096">
                <a:moveTo>
                  <a:pt x="0" y="0"/>
                </a:moveTo>
                <a:lnTo>
                  <a:pt x="14359720" y="0"/>
                </a:lnTo>
                <a:lnTo>
                  <a:pt x="14359720" y="12767096"/>
                </a:lnTo>
                <a:lnTo>
                  <a:pt x="0" y="12767096"/>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4" name="AutoShape 4"/>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7" name="TextBox 7"/>
          <p:cNvSpPr txBox="1"/>
          <p:nvPr/>
        </p:nvSpPr>
        <p:spPr>
          <a:xfrm>
            <a:off x="986877" y="104761"/>
            <a:ext cx="4905015" cy="1184940"/>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Grading (Input 3)</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11" name="AutoShape 11"/>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Freeform 12"/>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aphicFrame>
        <p:nvGraphicFramePr>
          <p:cNvPr id="6" name="表格 5">
            <a:extLst>
              <a:ext uri="{FF2B5EF4-FFF2-40B4-BE49-F238E27FC236}">
                <a16:creationId xmlns:a16="http://schemas.microsoft.com/office/drawing/2014/main" id="{A9C3EAD3-92C1-21F1-FC41-EAD38E6F1618}"/>
              </a:ext>
            </a:extLst>
          </p:cNvPr>
          <p:cNvGraphicFramePr>
            <a:graphicFrameLocks noGrp="1"/>
          </p:cNvGraphicFramePr>
          <p:nvPr/>
        </p:nvGraphicFramePr>
        <p:xfrm>
          <a:off x="1752600" y="6319012"/>
          <a:ext cx="7772400" cy="3167888"/>
        </p:xfrm>
        <a:graphic>
          <a:graphicData uri="http://schemas.openxmlformats.org/drawingml/2006/table">
            <a:tbl>
              <a:tblPr firstRow="1" bandRow="1">
                <a:tableStyleId>{2D5ABB26-0587-4C30-8999-92F81FD0307C}</a:tableStyleId>
              </a:tblPr>
              <a:tblGrid>
                <a:gridCol w="5029200">
                  <a:extLst>
                    <a:ext uri="{9D8B030D-6E8A-4147-A177-3AD203B41FA5}">
                      <a16:colId xmlns:a16="http://schemas.microsoft.com/office/drawing/2014/main" val="2474531545"/>
                    </a:ext>
                  </a:extLst>
                </a:gridCol>
                <a:gridCol w="2743200">
                  <a:extLst>
                    <a:ext uri="{9D8B030D-6E8A-4147-A177-3AD203B41FA5}">
                      <a16:colId xmlns:a16="http://schemas.microsoft.com/office/drawing/2014/main" val="2164255191"/>
                    </a:ext>
                  </a:extLst>
                </a:gridCol>
              </a:tblGrid>
              <a:tr h="548640">
                <a:tc>
                  <a:txBody>
                    <a:bodyPr/>
                    <a:lstStyle/>
                    <a:p>
                      <a:pPr algn="ctr"/>
                      <a:r>
                        <a:rPr lang="it-IT" altLang="zh-TW" sz="2800" b="1" dirty="0" err="1">
                          <a:latin typeface="Times New Roman" panose="02020603050405020304" pitchFamily="18" charset="0"/>
                          <a:cs typeface="Times New Roman" panose="02020603050405020304" pitchFamily="18" charset="0"/>
                        </a:rPr>
                        <a:t>Objective</a:t>
                      </a:r>
                      <a:r>
                        <a:rPr lang="it-IT" altLang="zh-TW" sz="2800" b="1" dirty="0">
                          <a:latin typeface="Times New Roman" panose="02020603050405020304" pitchFamily="18" charset="0"/>
                          <a:cs typeface="Times New Roman" panose="02020603050405020304" pitchFamily="18" charset="0"/>
                        </a:rPr>
                        <a:t> </a:t>
                      </a:r>
                      <a:r>
                        <a:rPr lang="it-IT" altLang="zh-TW" sz="2800" b="1" dirty="0" err="1">
                          <a:latin typeface="Times New Roman" panose="02020603050405020304" pitchFamily="18" charset="0"/>
                          <a:cs typeface="Times New Roman" panose="02020603050405020304" pitchFamily="18" charset="0"/>
                        </a:rPr>
                        <a:t>value</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a:txBody>
                    <a:bodyPr/>
                    <a:lstStyle/>
                    <a:p>
                      <a:pPr algn="ctr"/>
                      <a:r>
                        <a:rPr lang="it-IT" altLang="zh-TW" sz="2800" b="1" dirty="0">
                          <a:latin typeface="Times New Roman" panose="02020603050405020304" pitchFamily="18" charset="0"/>
                          <a:cs typeface="Times New Roman" panose="02020603050405020304" pitchFamily="18" charset="0"/>
                        </a:rPr>
                        <a:t>Grade (</a:t>
                      </a:r>
                      <a:r>
                        <a:rPr lang="en-US" altLang="zh-TW" sz="2800" b="1" dirty="0">
                          <a:latin typeface="Times New Roman" panose="02020603050405020304" pitchFamily="18" charset="0"/>
                          <a:cs typeface="Times New Roman" panose="02020603050405020304" pitchFamily="18" charset="0"/>
                        </a:rPr>
                        <a:t>1</a:t>
                      </a:r>
                      <a:r>
                        <a:rPr lang="it-IT" altLang="zh-TW" sz="2800" b="1" dirty="0">
                          <a:latin typeface="Times New Roman" panose="02020603050405020304" pitchFamily="18" charset="0"/>
                          <a:cs typeface="Times New Roman" panose="02020603050405020304" pitchFamily="18" charset="0"/>
                        </a:rPr>
                        <a:t>0%)</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extLst>
                  <a:ext uri="{0D108BD9-81ED-4DB2-BD59-A6C34878D82A}">
                    <a16:rowId xmlns:a16="http://schemas.microsoft.com/office/drawing/2014/main" val="2957526936"/>
                  </a:ext>
                </a:extLst>
              </a:tr>
              <a:tr h="548640">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Reach optimality</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10%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487628"/>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Top 25% if not optimality</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7%</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57458"/>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26% - 50% if not optimality</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6%</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979340"/>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51% - 100% if not optimality</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5%</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876416"/>
                  </a:ext>
                </a:extLst>
              </a:tr>
            </a:tbl>
          </a:graphicData>
        </a:graphic>
      </p:graphicFrame>
      <p:sp>
        <p:nvSpPr>
          <p:cNvPr id="18" name="TextBox 8">
            <a:extLst>
              <a:ext uri="{FF2B5EF4-FFF2-40B4-BE49-F238E27FC236}">
                <a16:creationId xmlns:a16="http://schemas.microsoft.com/office/drawing/2014/main" id="{F18F95EA-2691-7261-961C-C1885D2EE407}"/>
              </a:ext>
            </a:extLst>
          </p:cNvPr>
          <p:cNvSpPr txBox="1"/>
          <p:nvPr/>
        </p:nvSpPr>
        <p:spPr>
          <a:xfrm>
            <a:off x="10599654" y="3030884"/>
            <a:ext cx="5935746" cy="1215204"/>
          </a:xfrm>
          <a:prstGeom prst="rect">
            <a:avLst/>
          </a:prstGeom>
        </p:spPr>
        <p:txBody>
          <a:bodyPr wrap="square" lIns="0" tIns="0" rIns="0" bIns="0" rtlCol="0" anchor="t">
            <a:spAutoFit/>
          </a:bodyPr>
          <a:lstStyle/>
          <a:p>
            <a:pPr lvl="0">
              <a:lnSpc>
                <a:spcPct val="150000"/>
              </a:lnSpc>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We achieved the above solution by C#</a:t>
            </a:r>
          </a:p>
          <a:p>
            <a:pPr lvl="0">
              <a:lnSpc>
                <a:spcPct val="150000"/>
              </a:lnSpc>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Objective value:</a:t>
            </a:r>
            <a:r>
              <a:rPr lang="zh-TW" altLang="en-US" sz="2800" dirty="0">
                <a:solidFill>
                  <a:srgbClr val="695C4A"/>
                </a:solidFill>
                <a:latin typeface="Times New Roman" panose="02020603050405020304" pitchFamily="18" charset="0"/>
                <a:ea typeface="Livvic"/>
                <a:cs typeface="Times New Roman" panose="02020603050405020304" pitchFamily="18" charset="0"/>
                <a:sym typeface="Livvic"/>
              </a:rPr>
              <a:t> </a:t>
            </a:r>
            <a:r>
              <a:rPr lang="en-US" sz="2800" dirty="0">
                <a:solidFill>
                  <a:srgbClr val="695C4A"/>
                </a:solidFill>
                <a:latin typeface="Times New Roman" panose="02020603050405020304" pitchFamily="18" charset="0"/>
                <a:ea typeface="Livvic"/>
                <a:cs typeface="Times New Roman" panose="02020603050405020304" pitchFamily="18" charset="0"/>
                <a:sym typeface="Livvic"/>
              </a:rPr>
              <a:t> 24</a:t>
            </a:r>
            <a:r>
              <a:rPr lang="zh-TW" altLang="en-US" sz="2800" dirty="0">
                <a:solidFill>
                  <a:srgbClr val="695C4A"/>
                </a:solidFill>
                <a:latin typeface="Times New Roman" panose="02020603050405020304" pitchFamily="18" charset="0"/>
                <a:ea typeface="Livvic"/>
                <a:cs typeface="Times New Roman" panose="02020603050405020304" pitchFamily="18" charset="0"/>
                <a:sym typeface="Livvic"/>
              </a:rPr>
              <a:t> </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 24</a:t>
            </a:r>
            <a:endParaRPr lang="en-US" sz="2800" dirty="0">
              <a:solidFill>
                <a:srgbClr val="695C4A"/>
              </a:solidFill>
              <a:latin typeface="Times New Roman" panose="02020603050405020304" pitchFamily="18" charset="0"/>
              <a:ea typeface="Livvic"/>
              <a:cs typeface="Times New Roman" panose="02020603050405020304" pitchFamily="18" charset="0"/>
              <a:sym typeface="Livvic"/>
            </a:endParaRPr>
          </a:p>
        </p:txBody>
      </p:sp>
      <p:pic>
        <p:nvPicPr>
          <p:cNvPr id="3" name="圖片 2" descr="一張含有 黑色, 黑暗 的圖片&#10;&#10;AI 產生的內容可能不正確。">
            <a:extLst>
              <a:ext uri="{FF2B5EF4-FFF2-40B4-BE49-F238E27FC236}">
                <a16:creationId xmlns:a16="http://schemas.microsoft.com/office/drawing/2014/main" id="{F598B0EC-4ACF-EED2-B0AD-E10A838F6C55}"/>
              </a:ext>
            </a:extLst>
          </p:cNvPr>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9906000" y="6915010"/>
            <a:ext cx="1975892" cy="1975892"/>
          </a:xfrm>
          <a:prstGeom prst="rect">
            <a:avLst/>
          </a:prstGeom>
        </p:spPr>
      </p:pic>
      <p:graphicFrame>
        <p:nvGraphicFramePr>
          <p:cNvPr id="8" name="表格 7">
            <a:extLst>
              <a:ext uri="{FF2B5EF4-FFF2-40B4-BE49-F238E27FC236}">
                <a16:creationId xmlns:a16="http://schemas.microsoft.com/office/drawing/2014/main" id="{453BA71F-93E1-4B84-FDDF-D5B64EF7F4F6}"/>
              </a:ext>
            </a:extLst>
          </p:cNvPr>
          <p:cNvGraphicFramePr>
            <a:graphicFrameLocks noGrp="1"/>
          </p:cNvGraphicFramePr>
          <p:nvPr>
            <p:extLst>
              <p:ext uri="{D42A27DB-BD31-4B8C-83A1-F6EECF244321}">
                <p14:modId xmlns:p14="http://schemas.microsoft.com/office/powerpoint/2010/main" val="2203005937"/>
              </p:ext>
            </p:extLst>
          </p:nvPr>
        </p:nvGraphicFramePr>
        <p:xfrm>
          <a:off x="1752600" y="2095500"/>
          <a:ext cx="7772400" cy="4036566"/>
        </p:xfrm>
        <a:graphic>
          <a:graphicData uri="http://schemas.openxmlformats.org/drawingml/2006/table">
            <a:tbl>
              <a:tblPr firstRow="1" bandRow="1">
                <a:tableStyleId>{2D5ABB26-0587-4C30-8999-92F81FD0307C}</a:tableStyleId>
              </a:tblPr>
              <a:tblGrid>
                <a:gridCol w="2514600">
                  <a:extLst>
                    <a:ext uri="{9D8B030D-6E8A-4147-A177-3AD203B41FA5}">
                      <a16:colId xmlns:a16="http://schemas.microsoft.com/office/drawing/2014/main" val="2474531545"/>
                    </a:ext>
                  </a:extLst>
                </a:gridCol>
                <a:gridCol w="2514600">
                  <a:extLst>
                    <a:ext uri="{9D8B030D-6E8A-4147-A177-3AD203B41FA5}">
                      <a16:colId xmlns:a16="http://schemas.microsoft.com/office/drawing/2014/main" val="3064054545"/>
                    </a:ext>
                  </a:extLst>
                </a:gridCol>
                <a:gridCol w="2743200">
                  <a:extLst>
                    <a:ext uri="{9D8B030D-6E8A-4147-A177-3AD203B41FA5}">
                      <a16:colId xmlns:a16="http://schemas.microsoft.com/office/drawing/2014/main" val="2164255191"/>
                    </a:ext>
                  </a:extLst>
                </a:gridCol>
              </a:tblGrid>
              <a:tr h="572165">
                <a:tc gridSpan="2">
                  <a:txBody>
                    <a:bodyPr/>
                    <a:lstStyle/>
                    <a:p>
                      <a:pPr algn="ctr"/>
                      <a:r>
                        <a:rPr lang="it-IT" altLang="zh-TW" sz="2800" b="1" dirty="0">
                          <a:latin typeface="Times New Roman" panose="02020603050405020304" pitchFamily="18" charset="0"/>
                          <a:cs typeface="Times New Roman" panose="02020603050405020304" pitchFamily="18" charset="0"/>
                        </a:rPr>
                        <a:t>Computing time</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hMerge="1">
                  <a:txBody>
                    <a:bodyPr/>
                    <a:lstStyle/>
                    <a:p>
                      <a:endParaRPr lang="zh-TW" altLang="en-US"/>
                    </a:p>
                  </a:txBody>
                  <a:tcPr/>
                </a:tc>
                <a:tc rowSpan="2">
                  <a:txBody>
                    <a:bodyPr/>
                    <a:lstStyle/>
                    <a:p>
                      <a:pPr algn="ctr"/>
                      <a:r>
                        <a:rPr lang="it-IT" altLang="zh-TW" sz="2800" b="1" dirty="0">
                          <a:latin typeface="Times New Roman" panose="02020603050405020304" pitchFamily="18" charset="0"/>
                          <a:cs typeface="Times New Roman" panose="02020603050405020304" pitchFamily="18" charset="0"/>
                        </a:rPr>
                        <a:t>Grade (10%)</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extLst>
                  <a:ext uri="{0D108BD9-81ED-4DB2-BD59-A6C34878D82A}">
                    <a16:rowId xmlns:a16="http://schemas.microsoft.com/office/drawing/2014/main" val="2957526936"/>
                  </a:ext>
                </a:extLst>
              </a:tr>
              <a:tr h="572165">
                <a:tc>
                  <a:txBody>
                    <a:bodyPr/>
                    <a:lstStyle/>
                    <a:p>
                      <a:pPr algn="ctr"/>
                      <a:r>
                        <a:rPr lang="en-US" altLang="zh-TW" sz="2800" b="1" dirty="0">
                          <a:latin typeface="Times New Roman" panose="02020603050405020304" pitchFamily="18" charset="0"/>
                          <a:cs typeface="Times New Roman" panose="02020603050405020304" pitchFamily="18" charset="0"/>
                        </a:rPr>
                        <a:t>CPLEX</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a:txBody>
                    <a:bodyPr/>
                    <a:lstStyle/>
                    <a:p>
                      <a:pPr algn="ctr"/>
                      <a:r>
                        <a:rPr lang="en-US" altLang="zh-TW" sz="2800" b="1" dirty="0" err="1">
                          <a:latin typeface="Times New Roman" panose="02020603050405020304" pitchFamily="18" charset="0"/>
                          <a:cs typeface="Times New Roman" panose="02020603050405020304" pitchFamily="18" charset="0"/>
                        </a:rPr>
                        <a:t>Gurobi</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vMerge="1">
                  <a:txBody>
                    <a:bodyPr/>
                    <a:lstStyle/>
                    <a:p>
                      <a:endParaRPr lang="zh-TW" altLang="en-US"/>
                    </a:p>
                  </a:txBody>
                  <a:tcPr/>
                </a:tc>
                <a:extLst>
                  <a:ext uri="{0D108BD9-81ED-4DB2-BD59-A6C34878D82A}">
                    <a16:rowId xmlns:a16="http://schemas.microsoft.com/office/drawing/2014/main" val="1146584660"/>
                  </a:ext>
                </a:extLst>
              </a:tr>
              <a:tr h="723059">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&lt; 20 min</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&lt; 3 min</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10%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487628"/>
                  </a:ext>
                </a:extLst>
              </a:tr>
              <a:tr h="723059">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20 ~ 25 min </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3 ~ 8 min</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8%</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57458"/>
                  </a:ext>
                </a:extLst>
              </a:tr>
              <a:tr h="723059">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25 ~ 30 min</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8 ~ 15 min</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7%</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979340"/>
                  </a:ext>
                </a:extLst>
              </a:tr>
              <a:tr h="723059">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&gt; 30 min</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&gt; 15 min</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5%</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876416"/>
                  </a:ext>
                </a:extLst>
              </a:tr>
            </a:tbl>
          </a:graphicData>
        </a:graphic>
      </p:graphicFrame>
      <p:sp>
        <p:nvSpPr>
          <p:cNvPr id="10" name="TextBox 8">
            <a:extLst>
              <a:ext uri="{FF2B5EF4-FFF2-40B4-BE49-F238E27FC236}">
                <a16:creationId xmlns:a16="http://schemas.microsoft.com/office/drawing/2014/main" id="{2CA5380E-4033-1D7B-B8AD-F004E0008EA0}"/>
              </a:ext>
            </a:extLst>
          </p:cNvPr>
          <p:cNvSpPr txBox="1"/>
          <p:nvPr/>
        </p:nvSpPr>
        <p:spPr>
          <a:xfrm>
            <a:off x="12268200" y="6649023"/>
            <a:ext cx="5791200" cy="2507866"/>
          </a:xfrm>
          <a:prstGeom prst="rect">
            <a:avLst/>
          </a:prstGeom>
        </p:spPr>
        <p:txBody>
          <a:bodyPr wrap="square" lIns="0" tIns="0" rIns="0" bIns="0" rtlCol="0" anchor="t">
            <a:spAutoFit/>
          </a:bodyPr>
          <a:lstStyle/>
          <a:p>
            <a:pPr lvl="0">
              <a:lnSpc>
                <a:spcPct val="150000"/>
              </a:lnSpc>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Your source code will be run at the following environment: Windows, </a:t>
            </a:r>
            <a:r>
              <a:rPr lang="zh-TW" altLang="en-US" sz="2800" dirty="0">
                <a:solidFill>
                  <a:srgbClr val="695C4A"/>
                </a:solidFill>
                <a:latin typeface="Times New Roman" panose="02020603050405020304" pitchFamily="18" charset="0"/>
                <a:ea typeface="Livvic"/>
                <a:cs typeface="Times New Roman" panose="02020603050405020304" pitchFamily="18" charset="0"/>
                <a:sym typeface="Livvic"/>
              </a:rPr>
              <a:t> </a:t>
            </a:r>
            <a:r>
              <a:rPr lang="en-US" sz="2800" dirty="0">
                <a:solidFill>
                  <a:srgbClr val="695C4A"/>
                </a:solidFill>
                <a:latin typeface="Times New Roman" panose="02020603050405020304" pitchFamily="18" charset="0"/>
                <a:ea typeface="Livvic"/>
                <a:cs typeface="Times New Roman" panose="02020603050405020304" pitchFamily="18" charset="0"/>
                <a:sym typeface="Livvic"/>
              </a:rPr>
              <a:t>AMD Ryzen 9 5950X</a:t>
            </a:r>
            <a:r>
              <a:rPr lang="zh-TW" altLang="en-US" sz="2800" dirty="0">
                <a:solidFill>
                  <a:srgbClr val="695C4A"/>
                </a:solidFill>
                <a:latin typeface="Times New Roman" panose="02020603050405020304" pitchFamily="18" charset="0"/>
                <a:ea typeface="Livvic"/>
                <a:cs typeface="Times New Roman" panose="02020603050405020304" pitchFamily="18" charset="0"/>
                <a:sym typeface="Livvic"/>
              </a:rPr>
              <a:t> </a:t>
            </a:r>
            <a:r>
              <a:rPr lang="pt-BR" sz="2800" dirty="0">
                <a:solidFill>
                  <a:srgbClr val="695C4A"/>
                </a:solidFill>
                <a:latin typeface="Times New Roman" panose="02020603050405020304" pitchFamily="18" charset="0"/>
                <a:ea typeface="Livvic"/>
                <a:cs typeface="Times New Roman" panose="02020603050405020304" pitchFamily="18" charset="0"/>
                <a:sym typeface="Livvic"/>
              </a:rPr>
              <a:t>CPU @ </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4.0</a:t>
            </a:r>
            <a:r>
              <a:rPr lang="pt-BR" sz="2800" dirty="0">
                <a:solidFill>
                  <a:srgbClr val="695C4A"/>
                </a:solidFill>
                <a:latin typeface="Times New Roman" panose="02020603050405020304" pitchFamily="18" charset="0"/>
                <a:ea typeface="Livvic"/>
                <a:cs typeface="Times New Roman" panose="02020603050405020304" pitchFamily="18" charset="0"/>
                <a:sym typeface="Livvic"/>
              </a:rPr>
              <a:t>0GHz  and </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64</a:t>
            </a:r>
            <a:r>
              <a:rPr lang="pt-BR" sz="2800" dirty="0">
                <a:solidFill>
                  <a:srgbClr val="695C4A"/>
                </a:solidFill>
                <a:latin typeface="Times New Roman" panose="02020603050405020304" pitchFamily="18" charset="0"/>
                <a:ea typeface="Livvic"/>
                <a:cs typeface="Times New Roman" panose="02020603050405020304" pitchFamily="18" charset="0"/>
                <a:sym typeface="Livvic"/>
              </a:rPr>
              <a:t> GB of memory</a:t>
            </a:r>
          </a:p>
        </p:txBody>
      </p:sp>
    </p:spTree>
    <p:extLst>
      <p:ext uri="{BB962C8B-B14F-4D97-AF65-F5344CB8AC3E}">
        <p14:creationId xmlns:p14="http://schemas.microsoft.com/office/powerpoint/2010/main" val="245561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100000">
            <a:off x="10079440" y="3189974"/>
            <a:ext cx="14359719" cy="12767096"/>
          </a:xfrm>
          <a:custGeom>
            <a:avLst/>
            <a:gdLst/>
            <a:ahLst/>
            <a:cxnLst/>
            <a:rect l="l" t="t" r="r" b="b"/>
            <a:pathLst>
              <a:path w="14359719" h="12767096">
                <a:moveTo>
                  <a:pt x="0" y="0"/>
                </a:moveTo>
                <a:lnTo>
                  <a:pt x="14359720" y="0"/>
                </a:lnTo>
                <a:lnTo>
                  <a:pt x="14359720" y="12767096"/>
                </a:lnTo>
                <a:lnTo>
                  <a:pt x="0" y="12767096"/>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4" name="AutoShape 4"/>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7" name="TextBox 7"/>
          <p:cNvSpPr txBox="1"/>
          <p:nvPr/>
        </p:nvSpPr>
        <p:spPr>
          <a:xfrm>
            <a:off x="986877" y="104761"/>
            <a:ext cx="4905015" cy="1184940"/>
          </a:xfrm>
          <a:prstGeom prst="rect">
            <a:avLst/>
          </a:prstGeom>
        </p:spPr>
        <p:txBody>
          <a:bodyPr wrap="square" lIns="0" tIns="0" rIns="0" bIns="0" rtlCol="0" anchor="t">
            <a:spAutoFit/>
          </a:bodyPr>
          <a:lstStyle/>
          <a:p>
            <a:pPr algn="l">
              <a:lnSpc>
                <a:spcPts val="10358"/>
              </a:lnSpc>
            </a:pPr>
            <a:r>
              <a:rPr lang="en-US" sz="4800" b="1" dirty="0">
                <a:solidFill>
                  <a:srgbClr val="695C4A"/>
                </a:solidFill>
                <a:latin typeface="Times New Roman" panose="02020603050405020304" pitchFamily="18" charset="0"/>
                <a:ea typeface="Brasika"/>
                <a:cs typeface="Times New Roman" panose="02020603050405020304" pitchFamily="18" charset="0"/>
                <a:sym typeface="Brasika"/>
              </a:rPr>
              <a:t>Bonus </a:t>
            </a: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(Input 2)</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11" name="AutoShape 11"/>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Freeform 12"/>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graphicFrame>
        <p:nvGraphicFramePr>
          <p:cNvPr id="6" name="表格 5">
            <a:extLst>
              <a:ext uri="{FF2B5EF4-FFF2-40B4-BE49-F238E27FC236}">
                <a16:creationId xmlns:a16="http://schemas.microsoft.com/office/drawing/2014/main" id="{A9C3EAD3-92C1-21F1-FC41-EAD38E6F1618}"/>
              </a:ext>
            </a:extLst>
          </p:cNvPr>
          <p:cNvGraphicFramePr>
            <a:graphicFrameLocks noGrp="1"/>
          </p:cNvGraphicFramePr>
          <p:nvPr/>
        </p:nvGraphicFramePr>
        <p:xfrm>
          <a:off x="1752600" y="3052942"/>
          <a:ext cx="7772400" cy="3822700"/>
        </p:xfrm>
        <a:graphic>
          <a:graphicData uri="http://schemas.openxmlformats.org/drawingml/2006/table">
            <a:tbl>
              <a:tblPr firstRow="1" bandRow="1">
                <a:tableStyleId>{2D5ABB26-0587-4C30-8999-92F81FD0307C}</a:tableStyleId>
              </a:tblPr>
              <a:tblGrid>
                <a:gridCol w="5029200">
                  <a:extLst>
                    <a:ext uri="{9D8B030D-6E8A-4147-A177-3AD203B41FA5}">
                      <a16:colId xmlns:a16="http://schemas.microsoft.com/office/drawing/2014/main" val="2474531545"/>
                    </a:ext>
                  </a:extLst>
                </a:gridCol>
                <a:gridCol w="2743200">
                  <a:extLst>
                    <a:ext uri="{9D8B030D-6E8A-4147-A177-3AD203B41FA5}">
                      <a16:colId xmlns:a16="http://schemas.microsoft.com/office/drawing/2014/main" val="2164255191"/>
                    </a:ext>
                  </a:extLst>
                </a:gridCol>
              </a:tblGrid>
              <a:tr h="548640">
                <a:tc>
                  <a:txBody>
                    <a:bodyPr/>
                    <a:lstStyle/>
                    <a:p>
                      <a:pPr algn="ctr"/>
                      <a:r>
                        <a:rPr lang="it-IT" altLang="zh-TW" sz="2800" b="1" dirty="0" err="1">
                          <a:latin typeface="Times New Roman" panose="02020603050405020304" pitchFamily="18" charset="0"/>
                          <a:cs typeface="Times New Roman" panose="02020603050405020304" pitchFamily="18" charset="0"/>
                        </a:rPr>
                        <a:t>Objective</a:t>
                      </a:r>
                      <a:r>
                        <a:rPr lang="it-IT" altLang="zh-TW" sz="2800" b="1" dirty="0">
                          <a:latin typeface="Times New Roman" panose="02020603050405020304" pitchFamily="18" charset="0"/>
                          <a:cs typeface="Times New Roman" panose="02020603050405020304" pitchFamily="18" charset="0"/>
                        </a:rPr>
                        <a:t> </a:t>
                      </a:r>
                      <a:r>
                        <a:rPr lang="it-IT" altLang="zh-TW" sz="2800" b="1" dirty="0" err="1">
                          <a:latin typeface="Times New Roman" panose="02020603050405020304" pitchFamily="18" charset="0"/>
                          <a:cs typeface="Times New Roman" panose="02020603050405020304" pitchFamily="18" charset="0"/>
                        </a:rPr>
                        <a:t>value</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a:txBody>
                    <a:bodyPr/>
                    <a:lstStyle/>
                    <a:p>
                      <a:pPr algn="ctr"/>
                      <a:r>
                        <a:rPr lang="it-IT" altLang="zh-TW" sz="2800" b="1" dirty="0">
                          <a:latin typeface="Times New Roman" panose="02020603050405020304" pitchFamily="18" charset="0"/>
                          <a:cs typeface="Times New Roman" panose="02020603050405020304" pitchFamily="18" charset="0"/>
                        </a:rPr>
                        <a:t>Grade (</a:t>
                      </a:r>
                      <a:r>
                        <a:rPr lang="en-US" altLang="zh-TW" sz="2800" b="1" dirty="0">
                          <a:latin typeface="Times New Roman" panose="02020603050405020304" pitchFamily="18" charset="0"/>
                          <a:cs typeface="Times New Roman" panose="02020603050405020304" pitchFamily="18" charset="0"/>
                        </a:rPr>
                        <a:t>1</a:t>
                      </a:r>
                      <a:r>
                        <a:rPr lang="it-IT" altLang="zh-TW" sz="2800" b="1" dirty="0">
                          <a:latin typeface="Times New Roman" panose="02020603050405020304" pitchFamily="18" charset="0"/>
                          <a:cs typeface="Times New Roman" panose="02020603050405020304" pitchFamily="18" charset="0"/>
                        </a:rPr>
                        <a:t>0%)</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extLst>
                  <a:ext uri="{0D108BD9-81ED-4DB2-BD59-A6C34878D82A}">
                    <a16:rowId xmlns:a16="http://schemas.microsoft.com/office/drawing/2014/main" val="2957526936"/>
                  </a:ext>
                </a:extLst>
              </a:tr>
              <a:tr h="548640">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Top 20%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5%</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487628"/>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21%</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40%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4%</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57458"/>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41%</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60%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3%</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979340"/>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61%</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80%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2%</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876416"/>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81%</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100%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0771415"/>
                  </a:ext>
                </a:extLst>
              </a:tr>
            </a:tbl>
          </a:graphicData>
        </a:graphic>
      </p:graphicFrame>
      <p:sp>
        <p:nvSpPr>
          <p:cNvPr id="18" name="TextBox 8">
            <a:extLst>
              <a:ext uri="{FF2B5EF4-FFF2-40B4-BE49-F238E27FC236}">
                <a16:creationId xmlns:a16="http://schemas.microsoft.com/office/drawing/2014/main" id="{F18F95EA-2691-7261-961C-C1885D2EE407}"/>
              </a:ext>
            </a:extLst>
          </p:cNvPr>
          <p:cNvSpPr txBox="1"/>
          <p:nvPr/>
        </p:nvSpPr>
        <p:spPr>
          <a:xfrm>
            <a:off x="10599654" y="3030884"/>
            <a:ext cx="6850146" cy="3800528"/>
          </a:xfrm>
          <a:prstGeom prst="rect">
            <a:avLst/>
          </a:prstGeom>
        </p:spPr>
        <p:txBody>
          <a:bodyPr wrap="square" lIns="0" tIns="0" rIns="0" bIns="0" rtlCol="0" anchor="t">
            <a:spAutoFit/>
          </a:bodyPr>
          <a:lstStyle/>
          <a:p>
            <a:pPr marL="457200" lvl="0" indent="-457200">
              <a:lnSpc>
                <a:spcPct val="150000"/>
              </a:lnSpc>
              <a:buFont typeface="Wingdings" panose="05000000000000000000" pitchFamily="2" charset="2"/>
              <a:buChar char="n"/>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For Input 2 instance (5%):</a:t>
            </a:r>
          </a:p>
          <a:p>
            <a:pPr marL="914400" lvl="1" indent="-457200">
              <a:lnSpc>
                <a:spcPct val="150000"/>
              </a:lnSpc>
              <a:buFont typeface="Wingdings" panose="05000000000000000000" pitchFamily="2" charset="2"/>
              <a:buChar char="ü"/>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The limit of computing time is 2 minutes.</a:t>
            </a:r>
          </a:p>
          <a:p>
            <a:pPr marL="457200" lvl="0" indent="-457200">
              <a:lnSpc>
                <a:spcPct val="150000"/>
              </a:lnSpc>
              <a:buFont typeface="Wingdings" panose="05000000000000000000" pitchFamily="2" charset="2"/>
              <a:buChar char="n"/>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You should submit 1 output csv files, e.g.</a:t>
            </a:r>
          </a:p>
          <a:p>
            <a:pPr marL="914400" lvl="1" indent="-457200">
              <a:lnSpc>
                <a:spcPct val="150000"/>
              </a:lnSpc>
              <a:buFont typeface="Wingdings" panose="05000000000000000000" pitchFamily="2" charset="2"/>
              <a:buChar char="ü"/>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Team0_bonus_output_</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 Input2</a:t>
            </a:r>
            <a:r>
              <a:rPr lang="en-US" sz="2800" dirty="0">
                <a:solidFill>
                  <a:srgbClr val="695C4A"/>
                </a:solidFill>
                <a:latin typeface="Times New Roman" panose="02020603050405020304" pitchFamily="18" charset="0"/>
                <a:ea typeface="Livvic"/>
                <a:cs typeface="Times New Roman" panose="02020603050405020304" pitchFamily="18" charset="0"/>
                <a:sym typeface="Livvic"/>
              </a:rPr>
              <a:t>.csv</a:t>
            </a:r>
          </a:p>
          <a:p>
            <a:pPr lvl="0">
              <a:lnSpc>
                <a:spcPct val="150000"/>
              </a:lnSpc>
            </a:pPr>
            <a:endParaRPr lang="en-US" sz="2800" dirty="0">
              <a:solidFill>
                <a:srgbClr val="695C4A"/>
              </a:solidFill>
              <a:latin typeface="Times New Roman" panose="02020603050405020304" pitchFamily="18" charset="0"/>
              <a:ea typeface="Livvic"/>
              <a:cs typeface="Times New Roman" panose="02020603050405020304" pitchFamily="18" charset="0"/>
              <a:sym typeface="Livvic"/>
            </a:endParaRPr>
          </a:p>
          <a:p>
            <a:pPr lvl="0">
              <a:lnSpc>
                <a:spcPct val="150000"/>
              </a:lnSpc>
            </a:pPr>
            <a:endParaRPr lang="en-US" sz="2800" dirty="0">
              <a:solidFill>
                <a:srgbClr val="695C4A"/>
              </a:solidFill>
              <a:latin typeface="Times New Roman" panose="02020603050405020304" pitchFamily="18" charset="0"/>
              <a:ea typeface="Livvic"/>
              <a:cs typeface="Times New Roman" panose="02020603050405020304" pitchFamily="18" charset="0"/>
              <a:sym typeface="Livvic"/>
            </a:endParaRPr>
          </a:p>
        </p:txBody>
      </p:sp>
      <p:pic>
        <p:nvPicPr>
          <p:cNvPr id="3" name="圖片 2" descr="一張含有 黑色, 黑暗 的圖片&#10;&#10;AI 產生的內容可能不正確。">
            <a:extLst>
              <a:ext uri="{FF2B5EF4-FFF2-40B4-BE49-F238E27FC236}">
                <a16:creationId xmlns:a16="http://schemas.microsoft.com/office/drawing/2014/main" id="{042D58F7-8906-43E5-B371-5C338B273E5A}"/>
              </a:ext>
            </a:extLst>
          </p:cNvPr>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9906000" y="6915010"/>
            <a:ext cx="1975892" cy="1975892"/>
          </a:xfrm>
          <a:prstGeom prst="rect">
            <a:avLst/>
          </a:prstGeom>
        </p:spPr>
      </p:pic>
      <p:sp>
        <p:nvSpPr>
          <p:cNvPr id="5" name="TextBox 8">
            <a:extLst>
              <a:ext uri="{FF2B5EF4-FFF2-40B4-BE49-F238E27FC236}">
                <a16:creationId xmlns:a16="http://schemas.microsoft.com/office/drawing/2014/main" id="{67CF8009-4343-A76B-6A98-BCA9BEAFB314}"/>
              </a:ext>
            </a:extLst>
          </p:cNvPr>
          <p:cNvSpPr txBox="1"/>
          <p:nvPr/>
        </p:nvSpPr>
        <p:spPr>
          <a:xfrm>
            <a:off x="12268200" y="6649023"/>
            <a:ext cx="5791200" cy="2507866"/>
          </a:xfrm>
          <a:prstGeom prst="rect">
            <a:avLst/>
          </a:prstGeom>
        </p:spPr>
        <p:txBody>
          <a:bodyPr wrap="square" lIns="0" tIns="0" rIns="0" bIns="0" rtlCol="0" anchor="t">
            <a:spAutoFit/>
          </a:bodyPr>
          <a:lstStyle/>
          <a:p>
            <a:pPr lvl="0">
              <a:lnSpc>
                <a:spcPct val="150000"/>
              </a:lnSpc>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Your source code will be run at the following environment: Windows, </a:t>
            </a:r>
            <a:r>
              <a:rPr lang="zh-TW" altLang="en-US" sz="2800" dirty="0">
                <a:solidFill>
                  <a:srgbClr val="695C4A"/>
                </a:solidFill>
                <a:latin typeface="Times New Roman" panose="02020603050405020304" pitchFamily="18" charset="0"/>
                <a:ea typeface="Livvic"/>
                <a:cs typeface="Times New Roman" panose="02020603050405020304" pitchFamily="18" charset="0"/>
                <a:sym typeface="Livvic"/>
              </a:rPr>
              <a:t> </a:t>
            </a:r>
            <a:r>
              <a:rPr lang="en-US" sz="2800" dirty="0">
                <a:solidFill>
                  <a:srgbClr val="695C4A"/>
                </a:solidFill>
                <a:latin typeface="Times New Roman" panose="02020603050405020304" pitchFamily="18" charset="0"/>
                <a:ea typeface="Livvic"/>
                <a:cs typeface="Times New Roman" panose="02020603050405020304" pitchFamily="18" charset="0"/>
                <a:sym typeface="Livvic"/>
              </a:rPr>
              <a:t>AMD Ryzen 9 5950X</a:t>
            </a:r>
            <a:r>
              <a:rPr lang="zh-TW" altLang="en-US" sz="2800" dirty="0">
                <a:solidFill>
                  <a:srgbClr val="695C4A"/>
                </a:solidFill>
                <a:latin typeface="Times New Roman" panose="02020603050405020304" pitchFamily="18" charset="0"/>
                <a:ea typeface="Livvic"/>
                <a:cs typeface="Times New Roman" panose="02020603050405020304" pitchFamily="18" charset="0"/>
                <a:sym typeface="Livvic"/>
              </a:rPr>
              <a:t> </a:t>
            </a:r>
            <a:r>
              <a:rPr lang="pt-BR" sz="2800" dirty="0">
                <a:solidFill>
                  <a:srgbClr val="695C4A"/>
                </a:solidFill>
                <a:latin typeface="Times New Roman" panose="02020603050405020304" pitchFamily="18" charset="0"/>
                <a:ea typeface="Livvic"/>
                <a:cs typeface="Times New Roman" panose="02020603050405020304" pitchFamily="18" charset="0"/>
                <a:sym typeface="Livvic"/>
              </a:rPr>
              <a:t>CPU @ </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4.0</a:t>
            </a:r>
            <a:r>
              <a:rPr lang="pt-BR" sz="2800" dirty="0">
                <a:solidFill>
                  <a:srgbClr val="695C4A"/>
                </a:solidFill>
                <a:latin typeface="Times New Roman" panose="02020603050405020304" pitchFamily="18" charset="0"/>
                <a:ea typeface="Livvic"/>
                <a:cs typeface="Times New Roman" panose="02020603050405020304" pitchFamily="18" charset="0"/>
                <a:sym typeface="Livvic"/>
              </a:rPr>
              <a:t>0GHz  and </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64</a:t>
            </a:r>
            <a:r>
              <a:rPr lang="pt-BR" sz="2800" dirty="0">
                <a:solidFill>
                  <a:srgbClr val="695C4A"/>
                </a:solidFill>
                <a:latin typeface="Times New Roman" panose="02020603050405020304" pitchFamily="18" charset="0"/>
                <a:ea typeface="Livvic"/>
                <a:cs typeface="Times New Roman" panose="02020603050405020304" pitchFamily="18" charset="0"/>
                <a:sym typeface="Livvic"/>
              </a:rPr>
              <a:t> GB of memory</a:t>
            </a:r>
          </a:p>
        </p:txBody>
      </p:sp>
    </p:spTree>
    <p:extLst>
      <p:ext uri="{BB962C8B-B14F-4D97-AF65-F5344CB8AC3E}">
        <p14:creationId xmlns:p14="http://schemas.microsoft.com/office/powerpoint/2010/main" val="173000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100000">
            <a:off x="10079440" y="3207230"/>
            <a:ext cx="14359719" cy="12767096"/>
          </a:xfrm>
          <a:custGeom>
            <a:avLst/>
            <a:gdLst/>
            <a:ahLst/>
            <a:cxnLst/>
            <a:rect l="l" t="t" r="r" b="b"/>
            <a:pathLst>
              <a:path w="14359719" h="12767096">
                <a:moveTo>
                  <a:pt x="0" y="0"/>
                </a:moveTo>
                <a:lnTo>
                  <a:pt x="14359720" y="0"/>
                </a:lnTo>
                <a:lnTo>
                  <a:pt x="14359720" y="12767096"/>
                </a:lnTo>
                <a:lnTo>
                  <a:pt x="0" y="12767096"/>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4" name="AutoShape 4"/>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7" name="TextBox 7"/>
          <p:cNvSpPr txBox="1"/>
          <p:nvPr/>
        </p:nvSpPr>
        <p:spPr>
          <a:xfrm>
            <a:off x="986877" y="104761"/>
            <a:ext cx="4905015" cy="1144544"/>
          </a:xfrm>
          <a:prstGeom prst="rect">
            <a:avLst/>
          </a:prstGeom>
        </p:spPr>
        <p:txBody>
          <a:bodyPr wrap="square" lIns="0" tIns="0" rIns="0" bIns="0" rtlCol="0" anchor="t">
            <a:spAutoFit/>
          </a:bodyPr>
          <a:lstStyle/>
          <a:p>
            <a:pPr>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Bonus (Input 3)</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11" name="AutoShape 11"/>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2" name="Freeform 12"/>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4" name="TextBox 8">
            <a:extLst>
              <a:ext uri="{FF2B5EF4-FFF2-40B4-BE49-F238E27FC236}">
                <a16:creationId xmlns:a16="http://schemas.microsoft.com/office/drawing/2014/main" id="{C18260C9-8BDA-4E0E-A911-6A846237C7E1}"/>
              </a:ext>
            </a:extLst>
          </p:cNvPr>
          <p:cNvSpPr txBox="1"/>
          <p:nvPr/>
        </p:nvSpPr>
        <p:spPr>
          <a:xfrm>
            <a:off x="10599654" y="3030884"/>
            <a:ext cx="6926346" cy="3800528"/>
          </a:xfrm>
          <a:prstGeom prst="rect">
            <a:avLst/>
          </a:prstGeom>
        </p:spPr>
        <p:txBody>
          <a:bodyPr wrap="square" lIns="0" tIns="0" rIns="0" bIns="0" rtlCol="0" anchor="t">
            <a:spAutoFit/>
          </a:bodyPr>
          <a:lstStyle/>
          <a:p>
            <a:pPr marL="457200" lvl="0" indent="-457200">
              <a:lnSpc>
                <a:spcPct val="150000"/>
              </a:lnSpc>
              <a:buFont typeface="Wingdings" panose="05000000000000000000" pitchFamily="2" charset="2"/>
              <a:buChar char="n"/>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For Input 3 instance (5%):</a:t>
            </a:r>
          </a:p>
          <a:p>
            <a:pPr marL="914400" lvl="1" indent="-457200">
              <a:lnSpc>
                <a:spcPct val="150000"/>
              </a:lnSpc>
              <a:buFont typeface="Wingdings" panose="05000000000000000000" pitchFamily="2" charset="2"/>
              <a:buChar char="ü"/>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The limit of computing time is 2 minutes.</a:t>
            </a:r>
          </a:p>
          <a:p>
            <a:pPr marL="457200" lvl="0" indent="-457200">
              <a:lnSpc>
                <a:spcPct val="150000"/>
              </a:lnSpc>
              <a:buFont typeface="Wingdings" panose="05000000000000000000" pitchFamily="2" charset="2"/>
              <a:buChar char="n"/>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You should submit 1 output csv files, e.g.</a:t>
            </a:r>
          </a:p>
          <a:p>
            <a:pPr marL="914400" lvl="1" indent="-457200">
              <a:lnSpc>
                <a:spcPct val="150000"/>
              </a:lnSpc>
              <a:buFont typeface="Wingdings" panose="05000000000000000000" pitchFamily="2" charset="2"/>
              <a:buChar char="ü"/>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Team0_bonus_output_</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 Input3</a:t>
            </a:r>
            <a:r>
              <a:rPr lang="en-US" sz="2800" dirty="0">
                <a:solidFill>
                  <a:srgbClr val="695C4A"/>
                </a:solidFill>
                <a:latin typeface="Times New Roman" panose="02020603050405020304" pitchFamily="18" charset="0"/>
                <a:ea typeface="Livvic"/>
                <a:cs typeface="Times New Roman" panose="02020603050405020304" pitchFamily="18" charset="0"/>
                <a:sym typeface="Livvic"/>
              </a:rPr>
              <a:t>.csv</a:t>
            </a:r>
          </a:p>
          <a:p>
            <a:pPr lvl="0">
              <a:lnSpc>
                <a:spcPct val="150000"/>
              </a:lnSpc>
            </a:pPr>
            <a:endParaRPr lang="en-US" sz="2800" dirty="0">
              <a:solidFill>
                <a:srgbClr val="695C4A"/>
              </a:solidFill>
              <a:latin typeface="Times New Roman" panose="02020603050405020304" pitchFamily="18" charset="0"/>
              <a:ea typeface="Livvic"/>
              <a:cs typeface="Times New Roman" panose="02020603050405020304" pitchFamily="18" charset="0"/>
              <a:sym typeface="Livvic"/>
            </a:endParaRPr>
          </a:p>
          <a:p>
            <a:pPr lvl="0">
              <a:lnSpc>
                <a:spcPct val="150000"/>
              </a:lnSpc>
            </a:pPr>
            <a:endParaRPr lang="en-US" sz="2800" dirty="0">
              <a:solidFill>
                <a:srgbClr val="695C4A"/>
              </a:solidFill>
              <a:latin typeface="Times New Roman" panose="02020603050405020304" pitchFamily="18" charset="0"/>
              <a:ea typeface="Livvic"/>
              <a:cs typeface="Times New Roman" panose="02020603050405020304" pitchFamily="18" charset="0"/>
              <a:sym typeface="Livvic"/>
            </a:endParaRPr>
          </a:p>
        </p:txBody>
      </p:sp>
      <p:graphicFrame>
        <p:nvGraphicFramePr>
          <p:cNvPr id="15" name="表格 14">
            <a:extLst>
              <a:ext uri="{FF2B5EF4-FFF2-40B4-BE49-F238E27FC236}">
                <a16:creationId xmlns:a16="http://schemas.microsoft.com/office/drawing/2014/main" id="{ED92F97A-33DD-4833-8B86-7475521CB922}"/>
              </a:ext>
            </a:extLst>
          </p:cNvPr>
          <p:cNvGraphicFramePr>
            <a:graphicFrameLocks noGrp="1"/>
          </p:cNvGraphicFramePr>
          <p:nvPr/>
        </p:nvGraphicFramePr>
        <p:xfrm>
          <a:off x="1752600" y="3052942"/>
          <a:ext cx="7772400" cy="3822700"/>
        </p:xfrm>
        <a:graphic>
          <a:graphicData uri="http://schemas.openxmlformats.org/drawingml/2006/table">
            <a:tbl>
              <a:tblPr firstRow="1" bandRow="1">
                <a:tableStyleId>{2D5ABB26-0587-4C30-8999-92F81FD0307C}</a:tableStyleId>
              </a:tblPr>
              <a:tblGrid>
                <a:gridCol w="5029200">
                  <a:extLst>
                    <a:ext uri="{9D8B030D-6E8A-4147-A177-3AD203B41FA5}">
                      <a16:colId xmlns:a16="http://schemas.microsoft.com/office/drawing/2014/main" val="2474531545"/>
                    </a:ext>
                  </a:extLst>
                </a:gridCol>
                <a:gridCol w="2743200">
                  <a:extLst>
                    <a:ext uri="{9D8B030D-6E8A-4147-A177-3AD203B41FA5}">
                      <a16:colId xmlns:a16="http://schemas.microsoft.com/office/drawing/2014/main" val="2164255191"/>
                    </a:ext>
                  </a:extLst>
                </a:gridCol>
              </a:tblGrid>
              <a:tr h="548640">
                <a:tc>
                  <a:txBody>
                    <a:bodyPr/>
                    <a:lstStyle/>
                    <a:p>
                      <a:pPr algn="ctr"/>
                      <a:r>
                        <a:rPr lang="it-IT" altLang="zh-TW" sz="2800" b="1" dirty="0" err="1">
                          <a:latin typeface="Times New Roman" panose="02020603050405020304" pitchFamily="18" charset="0"/>
                          <a:cs typeface="Times New Roman" panose="02020603050405020304" pitchFamily="18" charset="0"/>
                        </a:rPr>
                        <a:t>Objective</a:t>
                      </a:r>
                      <a:r>
                        <a:rPr lang="it-IT" altLang="zh-TW" sz="2800" b="1" dirty="0">
                          <a:latin typeface="Times New Roman" panose="02020603050405020304" pitchFamily="18" charset="0"/>
                          <a:cs typeface="Times New Roman" panose="02020603050405020304" pitchFamily="18" charset="0"/>
                        </a:rPr>
                        <a:t> </a:t>
                      </a:r>
                      <a:r>
                        <a:rPr lang="it-IT" altLang="zh-TW" sz="2800" b="1" dirty="0" err="1">
                          <a:latin typeface="Times New Roman" panose="02020603050405020304" pitchFamily="18" charset="0"/>
                          <a:cs typeface="Times New Roman" panose="02020603050405020304" pitchFamily="18" charset="0"/>
                        </a:rPr>
                        <a:t>value</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tc>
                  <a:txBody>
                    <a:bodyPr/>
                    <a:lstStyle/>
                    <a:p>
                      <a:pPr algn="ctr"/>
                      <a:r>
                        <a:rPr lang="it-IT" altLang="zh-TW" sz="2800" b="1" dirty="0">
                          <a:latin typeface="Times New Roman" panose="02020603050405020304" pitchFamily="18" charset="0"/>
                          <a:cs typeface="Times New Roman" panose="02020603050405020304" pitchFamily="18" charset="0"/>
                        </a:rPr>
                        <a:t>Grade (</a:t>
                      </a:r>
                      <a:r>
                        <a:rPr lang="en-US" altLang="zh-TW" sz="2800" b="1" dirty="0">
                          <a:latin typeface="Times New Roman" panose="02020603050405020304" pitchFamily="18" charset="0"/>
                          <a:cs typeface="Times New Roman" panose="02020603050405020304" pitchFamily="18" charset="0"/>
                        </a:rPr>
                        <a:t>1</a:t>
                      </a:r>
                      <a:r>
                        <a:rPr lang="it-IT" altLang="zh-TW" sz="2800" b="1" dirty="0">
                          <a:latin typeface="Times New Roman" panose="02020603050405020304" pitchFamily="18" charset="0"/>
                          <a:cs typeface="Times New Roman" panose="02020603050405020304" pitchFamily="18" charset="0"/>
                        </a:rPr>
                        <a:t>0%)</a:t>
                      </a:r>
                      <a:endParaRPr lang="zh-TW" altLang="en-US" sz="2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89F8E"/>
                    </a:solidFill>
                  </a:tcPr>
                </a:tc>
                <a:extLst>
                  <a:ext uri="{0D108BD9-81ED-4DB2-BD59-A6C34878D82A}">
                    <a16:rowId xmlns:a16="http://schemas.microsoft.com/office/drawing/2014/main" val="2957526936"/>
                  </a:ext>
                </a:extLst>
              </a:tr>
              <a:tr h="548640">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Top 20%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5%</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487628"/>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21%</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40%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4%</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57458"/>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41%</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60%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altLang="zh-TW" sz="2800" dirty="0">
                          <a:latin typeface="Times New Roman" panose="02020603050405020304" pitchFamily="18" charset="0"/>
                          <a:cs typeface="Times New Roman" panose="02020603050405020304" pitchFamily="18" charset="0"/>
                        </a:rPr>
                        <a:t>3%</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979340"/>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61%</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80%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2%</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876416"/>
                  </a:ext>
                </a:extLst>
              </a:tr>
              <a:tr h="5486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81%</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100%</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50000"/>
                        </a:lnSpc>
                        <a:buFont typeface="+mj-lt"/>
                        <a:buNone/>
                      </a:pPr>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0771415"/>
                  </a:ext>
                </a:extLst>
              </a:tr>
            </a:tbl>
          </a:graphicData>
        </a:graphic>
      </p:graphicFrame>
      <p:pic>
        <p:nvPicPr>
          <p:cNvPr id="3" name="圖片 2" descr="一張含有 黑色, 黑暗 的圖片&#10;&#10;AI 產生的內容可能不正確。">
            <a:extLst>
              <a:ext uri="{FF2B5EF4-FFF2-40B4-BE49-F238E27FC236}">
                <a16:creationId xmlns:a16="http://schemas.microsoft.com/office/drawing/2014/main" id="{CA0353EC-463B-9A92-8B90-46FE02F47228}"/>
              </a:ext>
            </a:extLst>
          </p:cNvPr>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9906000" y="6915010"/>
            <a:ext cx="1975892" cy="1975892"/>
          </a:xfrm>
          <a:prstGeom prst="rect">
            <a:avLst/>
          </a:prstGeom>
        </p:spPr>
      </p:pic>
      <p:sp>
        <p:nvSpPr>
          <p:cNvPr id="5" name="TextBox 8">
            <a:extLst>
              <a:ext uri="{FF2B5EF4-FFF2-40B4-BE49-F238E27FC236}">
                <a16:creationId xmlns:a16="http://schemas.microsoft.com/office/drawing/2014/main" id="{0E28953F-0571-AD4B-0309-46BB66568DE1}"/>
              </a:ext>
            </a:extLst>
          </p:cNvPr>
          <p:cNvSpPr txBox="1"/>
          <p:nvPr/>
        </p:nvSpPr>
        <p:spPr>
          <a:xfrm>
            <a:off x="12268200" y="6649023"/>
            <a:ext cx="5791200" cy="2507866"/>
          </a:xfrm>
          <a:prstGeom prst="rect">
            <a:avLst/>
          </a:prstGeom>
        </p:spPr>
        <p:txBody>
          <a:bodyPr wrap="square" lIns="0" tIns="0" rIns="0" bIns="0" rtlCol="0" anchor="t">
            <a:spAutoFit/>
          </a:bodyPr>
          <a:lstStyle/>
          <a:p>
            <a:pPr lvl="0">
              <a:lnSpc>
                <a:spcPct val="150000"/>
              </a:lnSpc>
            </a:pPr>
            <a:r>
              <a:rPr lang="en-US" sz="2800" dirty="0">
                <a:solidFill>
                  <a:srgbClr val="695C4A"/>
                </a:solidFill>
                <a:latin typeface="Times New Roman" panose="02020603050405020304" pitchFamily="18" charset="0"/>
                <a:ea typeface="Livvic"/>
                <a:cs typeface="Times New Roman" panose="02020603050405020304" pitchFamily="18" charset="0"/>
                <a:sym typeface="Livvic"/>
              </a:rPr>
              <a:t>Your source code will be run at the following environment: Windows, </a:t>
            </a:r>
            <a:r>
              <a:rPr lang="zh-TW" altLang="en-US" sz="2800" dirty="0">
                <a:solidFill>
                  <a:srgbClr val="695C4A"/>
                </a:solidFill>
                <a:latin typeface="Times New Roman" panose="02020603050405020304" pitchFamily="18" charset="0"/>
                <a:ea typeface="Livvic"/>
                <a:cs typeface="Times New Roman" panose="02020603050405020304" pitchFamily="18" charset="0"/>
                <a:sym typeface="Livvic"/>
              </a:rPr>
              <a:t> </a:t>
            </a:r>
            <a:r>
              <a:rPr lang="en-US" sz="2800" dirty="0">
                <a:solidFill>
                  <a:srgbClr val="695C4A"/>
                </a:solidFill>
                <a:latin typeface="Times New Roman" panose="02020603050405020304" pitchFamily="18" charset="0"/>
                <a:ea typeface="Livvic"/>
                <a:cs typeface="Times New Roman" panose="02020603050405020304" pitchFamily="18" charset="0"/>
                <a:sym typeface="Livvic"/>
              </a:rPr>
              <a:t>AMD Ryzen 9 5950X</a:t>
            </a:r>
            <a:r>
              <a:rPr lang="zh-TW" altLang="en-US" sz="2800" dirty="0">
                <a:solidFill>
                  <a:srgbClr val="695C4A"/>
                </a:solidFill>
                <a:latin typeface="Times New Roman" panose="02020603050405020304" pitchFamily="18" charset="0"/>
                <a:ea typeface="Livvic"/>
                <a:cs typeface="Times New Roman" panose="02020603050405020304" pitchFamily="18" charset="0"/>
                <a:sym typeface="Livvic"/>
              </a:rPr>
              <a:t> </a:t>
            </a:r>
            <a:r>
              <a:rPr lang="pt-BR" sz="2800" dirty="0">
                <a:solidFill>
                  <a:srgbClr val="695C4A"/>
                </a:solidFill>
                <a:latin typeface="Times New Roman" panose="02020603050405020304" pitchFamily="18" charset="0"/>
                <a:ea typeface="Livvic"/>
                <a:cs typeface="Times New Roman" panose="02020603050405020304" pitchFamily="18" charset="0"/>
                <a:sym typeface="Livvic"/>
              </a:rPr>
              <a:t>CPU @ </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4.0</a:t>
            </a:r>
            <a:r>
              <a:rPr lang="pt-BR" sz="2800" dirty="0">
                <a:solidFill>
                  <a:srgbClr val="695C4A"/>
                </a:solidFill>
                <a:latin typeface="Times New Roman" panose="02020603050405020304" pitchFamily="18" charset="0"/>
                <a:ea typeface="Livvic"/>
                <a:cs typeface="Times New Roman" panose="02020603050405020304" pitchFamily="18" charset="0"/>
                <a:sym typeface="Livvic"/>
              </a:rPr>
              <a:t>0GHz  and </a:t>
            </a:r>
            <a:r>
              <a:rPr lang="en-US" altLang="zh-TW" sz="2800" dirty="0">
                <a:solidFill>
                  <a:srgbClr val="695C4A"/>
                </a:solidFill>
                <a:latin typeface="Times New Roman" panose="02020603050405020304" pitchFamily="18" charset="0"/>
                <a:ea typeface="Livvic"/>
                <a:cs typeface="Times New Roman" panose="02020603050405020304" pitchFamily="18" charset="0"/>
                <a:sym typeface="Livvic"/>
              </a:rPr>
              <a:t>64</a:t>
            </a:r>
            <a:r>
              <a:rPr lang="pt-BR" sz="2800" dirty="0">
                <a:solidFill>
                  <a:srgbClr val="695C4A"/>
                </a:solidFill>
                <a:latin typeface="Times New Roman" panose="02020603050405020304" pitchFamily="18" charset="0"/>
                <a:ea typeface="Livvic"/>
                <a:cs typeface="Times New Roman" panose="02020603050405020304" pitchFamily="18" charset="0"/>
                <a:sym typeface="Livvic"/>
              </a:rPr>
              <a:t> GB of memory</a:t>
            </a:r>
          </a:p>
        </p:txBody>
      </p:sp>
    </p:spTree>
    <p:extLst>
      <p:ext uri="{BB962C8B-B14F-4D97-AF65-F5344CB8AC3E}">
        <p14:creationId xmlns:p14="http://schemas.microsoft.com/office/powerpoint/2010/main" val="19913653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noGrp="1" noRot="1" noMove="1" noResize="1" noEditPoints="1" noAdjustHandles="1" noChangeArrowheads="1" noChangeShapeType="1"/>
          </p:cNvSpPr>
          <p:nvPr/>
        </p:nvSpPr>
        <p:spPr>
          <a:xfrm rot="2852131">
            <a:off x="-9228058" y="477126"/>
            <a:ext cx="18930865" cy="18758766"/>
          </a:xfrm>
          <a:custGeom>
            <a:avLst/>
            <a:gdLst/>
            <a:ahLst/>
            <a:cxnLst/>
            <a:rect l="l" t="t" r="r" b="b"/>
            <a:pathLst>
              <a:path w="18930865" h="18758766">
                <a:moveTo>
                  <a:pt x="0" y="0"/>
                </a:moveTo>
                <a:lnTo>
                  <a:pt x="18930865" y="0"/>
                </a:lnTo>
                <a:lnTo>
                  <a:pt x="18930865" y="18758767"/>
                </a:lnTo>
                <a:lnTo>
                  <a:pt x="0" y="18758767"/>
                </a:lnTo>
                <a:lnTo>
                  <a:pt x="0" y="0"/>
                </a:lnTo>
                <a:close/>
              </a:path>
            </a:pathLst>
          </a:custGeom>
          <a:blipFill>
            <a:blip>
              <a:alphaModFix amt="7999"/>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8" name="TextBox 7">
            <a:extLst>
              <a:ext uri="{FF2B5EF4-FFF2-40B4-BE49-F238E27FC236}">
                <a16:creationId xmlns:a16="http://schemas.microsoft.com/office/drawing/2014/main" id="{EA0FBDF6-BA51-C1E3-BE0B-D50B8340A3F8}"/>
              </a:ext>
            </a:extLst>
          </p:cNvPr>
          <p:cNvSpPr txBox="1"/>
          <p:nvPr/>
        </p:nvSpPr>
        <p:spPr>
          <a:xfrm>
            <a:off x="986877" y="104761"/>
            <a:ext cx="4905015" cy="1184940"/>
          </a:xfrm>
          <a:prstGeom prst="rect">
            <a:avLst/>
          </a:prstGeom>
        </p:spPr>
        <p:txBody>
          <a:bodyPr wrap="square" lIns="0" tIns="0" rIns="0" bIns="0" rtlCol="0" anchor="t">
            <a:spAutoFit/>
          </a:bodyPr>
          <a:lstStyle/>
          <a:p>
            <a:pPr algn="l">
              <a:lnSpc>
                <a:spcPts val="10358"/>
              </a:lnSpc>
            </a:pPr>
            <a:r>
              <a:rPr lang="en-US" altLang="zh-TW" sz="4800" b="1" dirty="0">
                <a:solidFill>
                  <a:srgbClr val="695C4A"/>
                </a:solidFill>
                <a:latin typeface="Times New Roman" panose="02020603050405020304" pitchFamily="18" charset="0"/>
                <a:ea typeface="Brasika"/>
                <a:cs typeface="Times New Roman" panose="02020603050405020304" pitchFamily="18" charset="0"/>
                <a:sym typeface="Brasika"/>
              </a:rPr>
              <a:t>TA’s contact info</a:t>
            </a:r>
            <a:endParaRPr lang="en-US" sz="4800" b="1" dirty="0">
              <a:solidFill>
                <a:srgbClr val="695C4A"/>
              </a:solidFill>
              <a:latin typeface="Times New Roman" panose="02020603050405020304" pitchFamily="18" charset="0"/>
              <a:ea typeface="Brasika"/>
              <a:cs typeface="Times New Roman" panose="02020603050405020304" pitchFamily="18" charset="0"/>
              <a:sym typeface="Brasika"/>
            </a:endParaRPr>
          </a:p>
        </p:txBody>
      </p:sp>
      <p:sp>
        <p:nvSpPr>
          <p:cNvPr id="9" name="AutoShape 4">
            <a:extLst>
              <a:ext uri="{FF2B5EF4-FFF2-40B4-BE49-F238E27FC236}">
                <a16:creationId xmlns:a16="http://schemas.microsoft.com/office/drawing/2014/main" id="{7F898C3E-2F19-66AC-D9C5-CEBE2A88482F}"/>
              </a:ext>
            </a:extLst>
          </p:cNvPr>
          <p:cNvSpPr/>
          <p:nvPr/>
        </p:nvSpPr>
        <p:spPr>
          <a:xfrm flipH="1">
            <a:off x="-8244" y="1394462"/>
            <a:ext cx="116887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0" name="AutoShape 11">
            <a:extLst>
              <a:ext uri="{FF2B5EF4-FFF2-40B4-BE49-F238E27FC236}">
                <a16:creationId xmlns:a16="http://schemas.microsoft.com/office/drawing/2014/main" id="{40B1DC51-D2A5-A06B-05D6-CAB59536E3CB}"/>
              </a:ext>
            </a:extLst>
          </p:cNvPr>
          <p:cNvSpPr/>
          <p:nvPr/>
        </p:nvSpPr>
        <p:spPr>
          <a:xfrm flipH="1" flipV="1">
            <a:off x="639180" y="0"/>
            <a:ext cx="4260" cy="240456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11" name="Freeform 12">
            <a:extLst>
              <a:ext uri="{FF2B5EF4-FFF2-40B4-BE49-F238E27FC236}">
                <a16:creationId xmlns:a16="http://schemas.microsoft.com/office/drawing/2014/main" id="{1A4EC29C-273E-E730-5D1A-B2E3E4D6FEEA}"/>
              </a:ext>
            </a:extLst>
          </p:cNvPr>
          <p:cNvSpPr/>
          <p:nvPr/>
        </p:nvSpPr>
        <p:spPr>
          <a:xfrm>
            <a:off x="372480" y="1123502"/>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3" name="文字方塊 12">
            <a:extLst>
              <a:ext uri="{FF2B5EF4-FFF2-40B4-BE49-F238E27FC236}">
                <a16:creationId xmlns:a16="http://schemas.microsoft.com/office/drawing/2014/main" id="{57928681-69EF-BB06-4C4F-8FEB6A617D65}"/>
              </a:ext>
            </a:extLst>
          </p:cNvPr>
          <p:cNvSpPr txBox="1"/>
          <p:nvPr/>
        </p:nvSpPr>
        <p:spPr>
          <a:xfrm>
            <a:off x="1676400" y="2543301"/>
            <a:ext cx="13258800" cy="2600199"/>
          </a:xfrm>
          <a:prstGeom prst="rect">
            <a:avLst/>
          </a:prstGeom>
          <a:noFill/>
        </p:spPr>
        <p:txBody>
          <a:bodyPr wrap="square">
            <a:spAutoFit/>
          </a:bodyPr>
          <a:lstStyle/>
          <a:p>
            <a:pPr>
              <a:lnSpc>
                <a:spcPct val="150000"/>
              </a:lnSpc>
            </a:pPr>
            <a:r>
              <a:rPr lang="en-US" altLang="zh-TW" sz="2800" dirty="0">
                <a:solidFill>
                  <a:srgbClr val="695C4A"/>
                </a:solidFill>
                <a:latin typeface="Times New Roman" panose="02020603050405020304" pitchFamily="18" charset="0"/>
                <a:cs typeface="Times New Roman" panose="02020603050405020304" pitchFamily="18" charset="0"/>
              </a:rPr>
              <a:t>If you have any problem concerning about the term project, feel free to discuss with TAs.</a:t>
            </a:r>
          </a:p>
          <a:p>
            <a:pPr marL="457200" indent="-457200">
              <a:lnSpc>
                <a:spcPct val="150000"/>
              </a:lnSpc>
              <a:buFont typeface="Wingdings" panose="05000000000000000000" pitchFamily="2" charset="2"/>
              <a:buChar char="u"/>
            </a:pPr>
            <a:r>
              <a:rPr lang="en-US" altLang="zh-TW" sz="2800" dirty="0">
                <a:solidFill>
                  <a:srgbClr val="695C4A"/>
                </a:solidFill>
                <a:latin typeface="Times New Roman" panose="02020603050405020304" pitchFamily="18" charset="0"/>
                <a:cs typeface="Times New Roman" panose="02020603050405020304" pitchFamily="18" charset="0"/>
              </a:rPr>
              <a:t>Email one of us in advance.</a:t>
            </a:r>
          </a:p>
          <a:p>
            <a:pPr marL="1828800" lvl="3" indent="-457200">
              <a:lnSpc>
                <a:spcPct val="150000"/>
              </a:lnSpc>
              <a:buFont typeface="Arial" panose="020B0604020202020204" pitchFamily="34" charset="0"/>
              <a:buChar char="•"/>
            </a:pPr>
            <a:r>
              <a:rPr lang="zh-TW" altLang="en-US" sz="2800" dirty="0">
                <a:solidFill>
                  <a:srgbClr val="695C4A"/>
                </a:solidFill>
                <a:latin typeface="標楷體" panose="03000509000000000000" pitchFamily="65" charset="-120"/>
                <a:ea typeface="標楷體" panose="03000509000000000000" pitchFamily="65" charset="-120"/>
                <a:cs typeface="Times New Roman" panose="02020603050405020304" pitchFamily="18" charset="0"/>
              </a:rPr>
              <a:t>鄭巧昀</a:t>
            </a:r>
            <a:r>
              <a:rPr lang="zh-TW" altLang="en-US" sz="2800" dirty="0">
                <a:solidFill>
                  <a:srgbClr val="695C4A"/>
                </a:solidFill>
                <a:latin typeface="Times New Roman" panose="02020603050405020304" pitchFamily="18" charset="0"/>
                <a:cs typeface="Times New Roman" panose="02020603050405020304" pitchFamily="18" charset="0"/>
              </a:rPr>
              <a:t>：</a:t>
            </a:r>
            <a:r>
              <a:rPr lang="en-US" altLang="zh-TW" sz="2800" dirty="0">
                <a:solidFill>
                  <a:srgbClr val="695C4A"/>
                </a:solidFill>
                <a:latin typeface="Times New Roman" panose="02020603050405020304" pitchFamily="18" charset="0"/>
                <a:cs typeface="Times New Roman" panose="02020603050405020304" pitchFamily="18" charset="0"/>
              </a:rPr>
              <a:t>shinee910319@gmail.com</a:t>
            </a:r>
          </a:p>
          <a:p>
            <a:pPr marL="1828800" lvl="3" indent="-457200">
              <a:lnSpc>
                <a:spcPct val="150000"/>
              </a:lnSpc>
              <a:buFont typeface="Arial" panose="020B0604020202020204" pitchFamily="34" charset="0"/>
              <a:buChar char="•"/>
            </a:pPr>
            <a:r>
              <a:rPr lang="zh-TW" altLang="en-US" sz="2800" dirty="0">
                <a:solidFill>
                  <a:srgbClr val="695C4A"/>
                </a:solidFill>
                <a:latin typeface="標楷體" panose="03000509000000000000" pitchFamily="65" charset="-120"/>
                <a:ea typeface="標楷體" panose="03000509000000000000" pitchFamily="65" charset="-120"/>
                <a:cs typeface="Times New Roman" panose="02020603050405020304" pitchFamily="18" charset="0"/>
              </a:rPr>
              <a:t>江松儒</a:t>
            </a:r>
            <a:r>
              <a:rPr lang="zh-TW" altLang="en-US" sz="2800" dirty="0">
                <a:solidFill>
                  <a:srgbClr val="695C4A"/>
                </a:solidFill>
                <a:latin typeface="Times New Roman" panose="02020603050405020304" pitchFamily="18" charset="0"/>
                <a:cs typeface="Times New Roman" panose="02020603050405020304" pitchFamily="18" charset="0"/>
              </a:rPr>
              <a:t>：</a:t>
            </a:r>
            <a:r>
              <a:rPr lang="en-US" altLang="zh-TW" sz="2800" dirty="0">
                <a:solidFill>
                  <a:srgbClr val="695C4A"/>
                </a:solidFill>
                <a:latin typeface="Times New Roman" panose="02020603050405020304" pitchFamily="18" charset="0"/>
                <a:cs typeface="Times New Roman" panose="02020603050405020304" pitchFamily="18" charset="0"/>
              </a:rPr>
              <a:t>stephjustin56@gmail.com</a:t>
            </a:r>
            <a:endParaRPr lang="zh-TW" altLang="en-US" sz="2800" dirty="0">
              <a:solidFill>
                <a:srgbClr val="695C4A"/>
              </a:solidFill>
              <a:latin typeface="Times New Roman" panose="02020603050405020304" pitchFamily="18" charset="0"/>
              <a:cs typeface="Times New Roman" panose="02020603050405020304" pitchFamily="18" charset="0"/>
            </a:endParaRPr>
          </a:p>
        </p:txBody>
      </p:sp>
      <p:pic>
        <p:nvPicPr>
          <p:cNvPr id="3" name="圖形 2" descr="機器人手部 外框">
            <a:extLst>
              <a:ext uri="{FF2B5EF4-FFF2-40B4-BE49-F238E27FC236}">
                <a16:creationId xmlns:a16="http://schemas.microsoft.com/office/drawing/2014/main" id="{C62AD84A-6836-305F-9AD8-98A103D13802}"/>
              </a:ext>
            </a:extLst>
          </p:cNvPr>
          <p:cNvPicPr>
            <a:picLocks noChangeAspect="1"/>
          </p:cNvPicPr>
          <p:nvPr/>
        </p:nvPicPr>
        <p:blipFill>
          <a:blip>
            <a:duotone>
              <a:schemeClr val="bg2">
                <a:shade val="45000"/>
                <a:satMod val="135000"/>
              </a:schemeClr>
              <a:prstClr val="white"/>
            </a:duotone>
            <a:extLst>
              <a:ext uri="{96DAC541-7B7A-43D3-8B79-37D633B846F1}">
                <asvg:svgBlip xmlns:asvg="http://schemas.microsoft.com/office/drawing/2016/SVG/main" r:embed="rId5"/>
              </a:ext>
            </a:extLst>
          </a:blip>
          <a:stretch>
            <a:fillRect/>
          </a:stretch>
        </p:blipFill>
        <p:spPr>
          <a:xfrm>
            <a:off x="15775495" y="62307"/>
            <a:ext cx="2172682" cy="2172682"/>
          </a:xfrm>
          <a:prstGeom prst="rect">
            <a:avLst/>
          </a:prstGeom>
        </p:spPr>
      </p:pic>
    </p:spTree>
    <p:extLst>
      <p:ext uri="{BB962C8B-B14F-4D97-AF65-F5344CB8AC3E}">
        <p14:creationId xmlns:p14="http://schemas.microsoft.com/office/powerpoint/2010/main" val="53576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H="1">
            <a:off x="0" y="9118283"/>
            <a:ext cx="12334424"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3" name="AutoShape 3"/>
          <p:cNvSpPr/>
          <p:nvPr/>
        </p:nvSpPr>
        <p:spPr>
          <a:xfrm flipH="1">
            <a:off x="6074299" y="1187768"/>
            <a:ext cx="12213701" cy="0"/>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4" name="AutoShape 4"/>
          <p:cNvSpPr/>
          <p:nvPr/>
        </p:nvSpPr>
        <p:spPr>
          <a:xfrm>
            <a:off x="1260422" y="5588875"/>
            <a:ext cx="0" cy="4698125"/>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5" name="AutoShape 5"/>
          <p:cNvSpPr/>
          <p:nvPr/>
        </p:nvSpPr>
        <p:spPr>
          <a:xfrm>
            <a:off x="17027578" y="0"/>
            <a:ext cx="0" cy="4698125"/>
          </a:xfrm>
          <a:prstGeom prst="line">
            <a:avLst/>
          </a:prstGeom>
          <a:ln w="38100" cap="flat">
            <a:solidFill>
              <a:srgbClr val="827564"/>
            </a:solidFill>
            <a:prstDash val="solid"/>
            <a:headEnd type="none" w="sm" len="sm"/>
            <a:tailEnd type="none" w="sm" len="sm"/>
          </a:ln>
        </p:spPr>
        <p:txBody>
          <a:bodyPr/>
          <a:lstStyle/>
          <a:p>
            <a:endParaRPr lang="zh-TW" altLang="en-US"/>
          </a:p>
        </p:txBody>
      </p:sp>
      <p:sp>
        <p:nvSpPr>
          <p:cNvPr id="9" name="Freeform 9"/>
          <p:cNvSpPr/>
          <p:nvPr/>
        </p:nvSpPr>
        <p:spPr>
          <a:xfrm rot="-8100000">
            <a:off x="13331211" y="6211875"/>
            <a:ext cx="14359719" cy="12767096"/>
          </a:xfrm>
          <a:custGeom>
            <a:avLst/>
            <a:gdLst/>
            <a:ahLst/>
            <a:cxnLst/>
            <a:rect l="l" t="t" r="r" b="b"/>
            <a:pathLst>
              <a:path w="14359719" h="12767096">
                <a:moveTo>
                  <a:pt x="0" y="0"/>
                </a:moveTo>
                <a:lnTo>
                  <a:pt x="14359719" y="0"/>
                </a:lnTo>
                <a:lnTo>
                  <a:pt x="14359719" y="12767096"/>
                </a:lnTo>
                <a:lnTo>
                  <a:pt x="0" y="12767096"/>
                </a:lnTo>
                <a:lnTo>
                  <a:pt x="0" y="0"/>
                </a:lnTo>
                <a:close/>
              </a:path>
            </a:pathLst>
          </a:custGeom>
          <a:blipFill>
            <a:blip>
              <a:alphaModFix amt="6999"/>
              <a:extLst>
                <a:ext uri="{96DAC541-7B7A-43D3-8B79-37D633B846F1}">
                  <asvg:svgBlip xmlns:asvg="http://schemas.microsoft.com/office/drawing/2016/SVG/main" r:embed="rId2"/>
                </a:ext>
              </a:extLst>
            </a:blip>
            <a:stretch>
              <a:fillRect/>
            </a:stretch>
          </a:blipFill>
        </p:spPr>
        <p:txBody>
          <a:bodyPr/>
          <a:lstStyle/>
          <a:p>
            <a:endParaRPr lang="zh-TW" altLang="en-US"/>
          </a:p>
        </p:txBody>
      </p:sp>
      <p:sp>
        <p:nvSpPr>
          <p:cNvPr id="10" name="Freeform 10"/>
          <p:cNvSpPr/>
          <p:nvPr/>
        </p:nvSpPr>
        <p:spPr>
          <a:xfrm rot="-8100000" flipH="1" flipV="1">
            <a:off x="-9402930" y="-8691971"/>
            <a:ext cx="14359719" cy="12767096"/>
          </a:xfrm>
          <a:custGeom>
            <a:avLst/>
            <a:gdLst/>
            <a:ahLst/>
            <a:cxnLst/>
            <a:rect l="l" t="t" r="r" b="b"/>
            <a:pathLst>
              <a:path w="14359719" h="12767096">
                <a:moveTo>
                  <a:pt x="14359719" y="12767096"/>
                </a:moveTo>
                <a:lnTo>
                  <a:pt x="0" y="12767096"/>
                </a:lnTo>
                <a:lnTo>
                  <a:pt x="0" y="0"/>
                </a:lnTo>
                <a:lnTo>
                  <a:pt x="14359719" y="0"/>
                </a:lnTo>
                <a:lnTo>
                  <a:pt x="14359719" y="12767096"/>
                </a:lnTo>
                <a:close/>
              </a:path>
            </a:pathLst>
          </a:custGeom>
          <a:blipFill>
            <a:blip>
              <a:alphaModFix amt="6999"/>
              <a:extLst>
                <a:ext uri="{96DAC541-7B7A-43D3-8B79-37D633B846F1}">
                  <asvg:svgBlip xmlns:asvg="http://schemas.microsoft.com/office/drawing/2016/SVG/main" r:embed="rId2"/>
                </a:ext>
              </a:extLst>
            </a:blip>
            <a:stretch>
              <a:fillRect/>
            </a:stretch>
          </a:blipFill>
        </p:spPr>
        <p:txBody>
          <a:bodyPr/>
          <a:lstStyle/>
          <a:p>
            <a:endParaRPr lang="zh-TW" altLang="en-US"/>
          </a:p>
        </p:txBody>
      </p:sp>
      <p:sp>
        <p:nvSpPr>
          <p:cNvPr id="11" name="Freeform 11"/>
          <p:cNvSpPr/>
          <p:nvPr/>
        </p:nvSpPr>
        <p:spPr>
          <a:xfrm>
            <a:off x="989462" y="8847323"/>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2" name="Freeform 12"/>
          <p:cNvSpPr/>
          <p:nvPr/>
        </p:nvSpPr>
        <p:spPr>
          <a:xfrm>
            <a:off x="16756618" y="916808"/>
            <a:ext cx="541920" cy="541920"/>
          </a:xfrm>
          <a:custGeom>
            <a:avLst/>
            <a:gdLst/>
            <a:ahLst/>
            <a:cxnLst/>
            <a:rect l="l" t="t" r="r" b="b"/>
            <a:pathLst>
              <a:path w="541920" h="541920">
                <a:moveTo>
                  <a:pt x="0" y="0"/>
                </a:moveTo>
                <a:lnTo>
                  <a:pt x="541920" y="0"/>
                </a:lnTo>
                <a:lnTo>
                  <a:pt x="541920" y="541919"/>
                </a:lnTo>
                <a:lnTo>
                  <a:pt x="0" y="54191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6" name="TextBox 11">
            <a:extLst>
              <a:ext uri="{FF2B5EF4-FFF2-40B4-BE49-F238E27FC236}">
                <a16:creationId xmlns:a16="http://schemas.microsoft.com/office/drawing/2014/main" id="{D746E71F-B352-BCBE-0011-CEFB8366A719}"/>
              </a:ext>
            </a:extLst>
          </p:cNvPr>
          <p:cNvSpPr txBox="1"/>
          <p:nvPr/>
        </p:nvSpPr>
        <p:spPr>
          <a:xfrm>
            <a:off x="2407083" y="4232790"/>
            <a:ext cx="13473834" cy="1219116"/>
          </a:xfrm>
          <a:prstGeom prst="rect">
            <a:avLst/>
          </a:prstGeom>
        </p:spPr>
        <p:txBody>
          <a:bodyPr lIns="0" tIns="0" rIns="0" bIns="0" rtlCol="0" anchor="t">
            <a:spAutoFit/>
          </a:bodyPr>
          <a:lstStyle/>
          <a:p>
            <a:pPr algn="ctr">
              <a:lnSpc>
                <a:spcPct val="150000"/>
              </a:lnSpc>
            </a:pPr>
            <a:r>
              <a:rPr lang="en-US" altLang="zh-TW" sz="6000" dirty="0">
                <a:solidFill>
                  <a:srgbClr val="695C4A"/>
                </a:solidFill>
                <a:latin typeface="Times New Roman" panose="02020603050405020304" pitchFamily="18" charset="0"/>
                <a:ea typeface="Brasika"/>
                <a:cs typeface="Times New Roman" panose="02020603050405020304" pitchFamily="18" charset="0"/>
                <a:sym typeface="Brasika"/>
              </a:rPr>
              <a:t>Thanks for listening</a:t>
            </a:r>
            <a:endParaRPr lang="en-US" sz="6000" dirty="0">
              <a:solidFill>
                <a:srgbClr val="695C4A"/>
              </a:solidFill>
              <a:latin typeface="Times New Roman" panose="02020603050405020304" pitchFamily="18" charset="0"/>
              <a:ea typeface="Brasika"/>
              <a:cs typeface="Times New Roman" panose="02020603050405020304" pitchFamily="18" charset="0"/>
              <a:sym typeface="Brasika"/>
            </a:endParaRPr>
          </a:p>
        </p:txBody>
      </p:sp>
    </p:spTree>
    <p:extLst>
      <p:ext uri="{BB962C8B-B14F-4D97-AF65-F5344CB8AC3E}">
        <p14:creationId xmlns:p14="http://schemas.microsoft.com/office/powerpoint/2010/main" val="7946987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8938</TotalTime>
  <Words>2026</Words>
  <Application>Microsoft Office PowerPoint</Application>
  <PresentationFormat>自訂</PresentationFormat>
  <Paragraphs>305</Paragraphs>
  <Slides>28</Slides>
  <Notes>26</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28</vt:i4>
      </vt:variant>
    </vt:vector>
  </HeadingPairs>
  <TitlesOfParts>
    <vt:vector size="37" baseType="lpstr">
      <vt:lpstr>Times New Roman</vt:lpstr>
      <vt:lpstr>Open Sauce</vt:lpstr>
      <vt:lpstr>Wingdings</vt:lpstr>
      <vt:lpstr>Calibri</vt:lpstr>
      <vt:lpstr>標楷體</vt:lpstr>
      <vt:lpstr>Cambria Math</vt:lpstr>
      <vt:lpstr>Arial</vt:lpstr>
      <vt:lpstr>Aptos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鄭巧昀</dc:creator>
  <cp:lastModifiedBy>江松儒</cp:lastModifiedBy>
  <cp:revision>106</cp:revision>
  <dcterms:created xsi:type="dcterms:W3CDTF">2006-08-16T00:00:00Z</dcterms:created>
  <dcterms:modified xsi:type="dcterms:W3CDTF">2026-05-13T04:55:28Z</dcterms:modified>
  <dc:identifier>DAGksJJxbU0</dc:identifier>
</cp:coreProperties>
</file>